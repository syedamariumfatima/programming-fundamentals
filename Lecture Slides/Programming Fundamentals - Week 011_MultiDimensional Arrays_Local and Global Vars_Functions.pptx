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27"/>
  </p:notesMasterIdLst>
  <p:handoutMasterIdLst>
    <p:handoutMasterId r:id="rId28"/>
  </p:handoutMasterIdLst>
  <p:sldIdLst>
    <p:sldId id="256" r:id="rId2"/>
    <p:sldId id="265" r:id="rId3"/>
    <p:sldId id="266" r:id="rId4"/>
    <p:sldId id="267" r:id="rId5"/>
    <p:sldId id="268" r:id="rId6"/>
    <p:sldId id="269" r:id="rId7"/>
    <p:sldId id="271" r:id="rId8"/>
    <p:sldId id="270" r:id="rId9"/>
    <p:sldId id="277" r:id="rId10"/>
    <p:sldId id="272" r:id="rId11"/>
    <p:sldId id="273" r:id="rId12"/>
    <p:sldId id="274" r:id="rId13"/>
    <p:sldId id="278" r:id="rId14"/>
    <p:sldId id="275" r:id="rId15"/>
    <p:sldId id="279" r:id="rId16"/>
    <p:sldId id="276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64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6" d="100"/>
          <a:sy n="76" d="100"/>
        </p:scale>
        <p:origin x="1680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D2DDA-69D8-473F-A583-B6774B31A77B}" type="datetimeFigureOut">
              <a:rPr lang="en-US"/>
              <a:t>10/30/2025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92CCB-FF08-4D29-8DA3-E1FD86044808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21533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1F6DFB-6833-46E4-B515-70E0D9178056}" type="datetimeFigureOut">
              <a:rPr lang="en-US"/>
              <a:t>10/30/2025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8706C7-F2C3-48B6-8A22-C484D800B5D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9506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-2" y="295863"/>
            <a:ext cx="12188827" cy="6323264"/>
            <a:chOff x="-2" y="295863"/>
            <a:chExt cx="12188827" cy="6323264"/>
          </a:xfrm>
        </p:grpSpPr>
        <p:sp>
          <p:nvSpPr>
            <p:cNvPr id="33" name="Rectangle 32"/>
            <p:cNvSpPr/>
            <p:nvPr/>
          </p:nvSpPr>
          <p:spPr>
            <a:xfrm>
              <a:off x="-1" y="1905000"/>
              <a:ext cx="12188826" cy="3200400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50000"/>
                  </a:schemeClr>
                </a:gs>
                <a:gs pos="0">
                  <a:schemeClr val="accent1">
                    <a:lumMod val="60000"/>
                    <a:lumOff val="4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-2" y="1795132"/>
              <a:ext cx="12188826" cy="73152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80000"/>
                  </a:schemeClr>
                </a:gs>
                <a:gs pos="0">
                  <a:schemeClr val="accent1">
                    <a:lumMod val="60000"/>
                    <a:lumOff val="40000"/>
                    <a:alpha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-2" y="5142116"/>
              <a:ext cx="12188826" cy="73152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80000"/>
                  </a:schemeClr>
                </a:gs>
                <a:gs pos="0">
                  <a:schemeClr val="accent1">
                    <a:lumMod val="60000"/>
                    <a:lumOff val="40000"/>
                    <a:alpha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36" name="Oval 2"/>
            <p:cNvSpPr>
              <a:spLocks noChangeArrowheads="1"/>
            </p:cNvSpPr>
            <p:nvPr/>
          </p:nvSpPr>
          <p:spPr bwMode="grayWhite">
            <a:xfrm>
              <a:off x="534293" y="5791419"/>
              <a:ext cx="716336" cy="739723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Oval 3"/>
            <p:cNvSpPr>
              <a:spLocks noChangeArrowheads="1"/>
            </p:cNvSpPr>
            <p:nvPr/>
          </p:nvSpPr>
          <p:spPr bwMode="grayWhite">
            <a:xfrm>
              <a:off x="696482" y="5958903"/>
              <a:ext cx="106437" cy="10991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Oval 5"/>
            <p:cNvSpPr>
              <a:spLocks noChangeArrowheads="1"/>
            </p:cNvSpPr>
            <p:nvPr/>
          </p:nvSpPr>
          <p:spPr bwMode="grayWhite">
            <a:xfrm>
              <a:off x="213400" y="5778215"/>
              <a:ext cx="310863" cy="321012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" name="Oval 6"/>
            <p:cNvSpPr>
              <a:spLocks noChangeArrowheads="1"/>
            </p:cNvSpPr>
            <p:nvPr/>
          </p:nvSpPr>
          <p:spPr bwMode="grayWhite">
            <a:xfrm>
              <a:off x="284358" y="5851489"/>
              <a:ext cx="40547" cy="4187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Oval 8"/>
            <p:cNvSpPr>
              <a:spLocks noChangeArrowheads="1"/>
            </p:cNvSpPr>
            <p:nvPr/>
          </p:nvSpPr>
          <p:spPr bwMode="grayWhite">
            <a:xfrm>
              <a:off x="10486137" y="5404864"/>
              <a:ext cx="473052" cy="488496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" name="Oval 9"/>
            <p:cNvSpPr>
              <a:spLocks noChangeArrowheads="1"/>
            </p:cNvSpPr>
            <p:nvPr/>
          </p:nvSpPr>
          <p:spPr bwMode="grayWhite">
            <a:xfrm>
              <a:off x="10594263" y="5516520"/>
              <a:ext cx="65889" cy="6804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Oval 11"/>
            <p:cNvSpPr>
              <a:spLocks noChangeArrowheads="1"/>
            </p:cNvSpPr>
            <p:nvPr/>
          </p:nvSpPr>
          <p:spPr bwMode="grayWhite">
            <a:xfrm>
              <a:off x="6575012" y="6214373"/>
              <a:ext cx="391957" cy="404754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Oval 12"/>
            <p:cNvSpPr>
              <a:spLocks noChangeArrowheads="1"/>
            </p:cNvSpPr>
            <p:nvPr/>
          </p:nvSpPr>
          <p:spPr bwMode="grayWhite">
            <a:xfrm>
              <a:off x="6664554" y="6306838"/>
              <a:ext cx="54063" cy="5582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" name="Oval 14"/>
            <p:cNvSpPr>
              <a:spLocks noChangeArrowheads="1"/>
            </p:cNvSpPr>
            <p:nvPr/>
          </p:nvSpPr>
          <p:spPr bwMode="grayWhite">
            <a:xfrm>
              <a:off x="3520863" y="5733822"/>
              <a:ext cx="391957" cy="404754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" name="Oval 15"/>
            <p:cNvSpPr>
              <a:spLocks noChangeArrowheads="1"/>
            </p:cNvSpPr>
            <p:nvPr/>
          </p:nvSpPr>
          <p:spPr bwMode="grayWhite">
            <a:xfrm>
              <a:off x="3610405" y="5826287"/>
              <a:ext cx="54063" cy="5582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" name="Oval 17"/>
            <p:cNvSpPr>
              <a:spLocks noChangeArrowheads="1"/>
            </p:cNvSpPr>
            <p:nvPr/>
          </p:nvSpPr>
          <p:spPr bwMode="grayWhite">
            <a:xfrm>
              <a:off x="5845161" y="295863"/>
              <a:ext cx="716336" cy="739723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Oval 18"/>
            <p:cNvSpPr>
              <a:spLocks noChangeArrowheads="1"/>
            </p:cNvSpPr>
            <p:nvPr/>
          </p:nvSpPr>
          <p:spPr bwMode="grayWhite">
            <a:xfrm>
              <a:off x="6007350" y="463347"/>
              <a:ext cx="106437" cy="10991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8" name="Oval 20"/>
            <p:cNvSpPr>
              <a:spLocks noChangeArrowheads="1"/>
            </p:cNvSpPr>
            <p:nvPr/>
          </p:nvSpPr>
          <p:spPr bwMode="grayWhite">
            <a:xfrm>
              <a:off x="5439688" y="630832"/>
              <a:ext cx="391957" cy="404754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Oval 21"/>
            <p:cNvSpPr>
              <a:spLocks noChangeArrowheads="1"/>
            </p:cNvSpPr>
            <p:nvPr/>
          </p:nvSpPr>
          <p:spPr bwMode="grayWhite">
            <a:xfrm>
              <a:off x="5529230" y="723297"/>
              <a:ext cx="54063" cy="5582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Oval 23"/>
            <p:cNvSpPr>
              <a:spLocks noChangeArrowheads="1"/>
            </p:cNvSpPr>
            <p:nvPr/>
          </p:nvSpPr>
          <p:spPr bwMode="grayWhite">
            <a:xfrm>
              <a:off x="6575012" y="295863"/>
              <a:ext cx="391957" cy="404754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Oval 24"/>
            <p:cNvSpPr>
              <a:spLocks noChangeArrowheads="1"/>
            </p:cNvSpPr>
            <p:nvPr/>
          </p:nvSpPr>
          <p:spPr bwMode="grayWhite">
            <a:xfrm>
              <a:off x="6664554" y="388328"/>
              <a:ext cx="54063" cy="5582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Oval 26"/>
            <p:cNvSpPr>
              <a:spLocks noChangeArrowheads="1"/>
            </p:cNvSpPr>
            <p:nvPr/>
          </p:nvSpPr>
          <p:spPr bwMode="grayWhite">
            <a:xfrm>
              <a:off x="11218217" y="589639"/>
              <a:ext cx="554146" cy="572239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Oval 27"/>
            <p:cNvSpPr>
              <a:spLocks noChangeArrowheads="1"/>
            </p:cNvSpPr>
            <p:nvPr/>
          </p:nvSpPr>
          <p:spPr bwMode="grayWhite">
            <a:xfrm>
              <a:off x="11344927" y="720486"/>
              <a:ext cx="79405" cy="8199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Oval 29"/>
            <p:cNvSpPr>
              <a:spLocks noChangeArrowheads="1"/>
            </p:cNvSpPr>
            <p:nvPr/>
          </p:nvSpPr>
          <p:spPr bwMode="grayWhite">
            <a:xfrm>
              <a:off x="11312827" y="1372978"/>
              <a:ext cx="229768" cy="237270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Oval 30"/>
            <p:cNvSpPr>
              <a:spLocks noChangeArrowheads="1"/>
            </p:cNvSpPr>
            <p:nvPr/>
          </p:nvSpPr>
          <p:spPr bwMode="grayWhite">
            <a:xfrm>
              <a:off x="11366890" y="1428806"/>
              <a:ext cx="27032" cy="27914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Oval 32"/>
            <p:cNvSpPr>
              <a:spLocks noChangeArrowheads="1"/>
            </p:cNvSpPr>
            <p:nvPr/>
          </p:nvSpPr>
          <p:spPr bwMode="grayWhite">
            <a:xfrm>
              <a:off x="1303864" y="669938"/>
              <a:ext cx="554146" cy="572239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Oval 33"/>
            <p:cNvSpPr>
              <a:spLocks noChangeArrowheads="1"/>
            </p:cNvSpPr>
            <p:nvPr/>
          </p:nvSpPr>
          <p:spPr bwMode="grayWhite">
            <a:xfrm>
              <a:off x="1428885" y="799041"/>
              <a:ext cx="81095" cy="8374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Oval 35"/>
            <p:cNvSpPr>
              <a:spLocks noChangeArrowheads="1"/>
            </p:cNvSpPr>
            <p:nvPr/>
          </p:nvSpPr>
          <p:spPr bwMode="grayWhite">
            <a:xfrm>
              <a:off x="1871526" y="837422"/>
              <a:ext cx="391957" cy="404754"/>
            </a:xfrm>
            <a:prstGeom prst="ellipse">
              <a:avLst/>
            </a:prstGeom>
            <a:noFill/>
            <a:ln w="12700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" name="Oval 36"/>
            <p:cNvSpPr>
              <a:spLocks noChangeArrowheads="1"/>
            </p:cNvSpPr>
            <p:nvPr/>
          </p:nvSpPr>
          <p:spPr bwMode="grayWhite">
            <a:xfrm>
              <a:off x="1961068" y="929887"/>
              <a:ext cx="54063" cy="55828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5400" y="2079812"/>
            <a:ext cx="9601200" cy="1724092"/>
          </a:xfrm>
        </p:spPr>
        <p:txBody>
          <a:bodyPr anchor="b"/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5400" y="3959352"/>
            <a:ext cx="9601200" cy="9144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223D7-2A27-4B34-A31C-02090805ABAC}" type="datetime1">
              <a:rPr lang="en-US" smtClean="0"/>
              <a:t>10/30/2025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14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C7548-FD58-4384-A951-C87160C229EB}" type="datetime1">
              <a:rPr lang="en-US" smtClean="0"/>
              <a:t>10/30/2025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96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130552"/>
            <a:ext cx="9601200" cy="2359152"/>
          </a:xfrm>
        </p:spPr>
        <p:txBody>
          <a:bodyPr anchor="b">
            <a:normAutofit/>
          </a:bodyPr>
          <a:lstStyle>
            <a:lvl1pPr algn="ctr">
              <a:defRPr sz="54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572000"/>
            <a:ext cx="9601200" cy="841248"/>
          </a:xfrm>
        </p:spPr>
        <p:txBody>
          <a:bodyPr anchor="t"/>
          <a:lstStyle>
            <a:lvl1pPr marL="0" indent="0" algn="ctr">
              <a:spcBef>
                <a:spcPts val="0"/>
              </a:spcBef>
              <a:buNone/>
              <a:defRPr sz="20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13194-3577-4D3C-A927-FE879CBA54D5}" type="datetime1">
              <a:rPr lang="en-US" smtClean="0"/>
              <a:t>10/30/2025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80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341120" y="1901952"/>
            <a:ext cx="4572000" cy="41239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/>
            </a:lvl5pPr>
            <a:lvl6pPr>
              <a:defRPr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we</a:t>
            </a:r>
          </a:p>
          <a:p>
            <a:pPr lvl="5"/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901952"/>
            <a:ext cx="4572000" cy="412394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DC53B-D6DF-4D88-8598-DAA646F1ABC6}" type="datetime1">
              <a:rPr lang="en-US" smtClean="0"/>
              <a:t>10/30/2025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10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1120" y="466344"/>
            <a:ext cx="9509760" cy="12344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4112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4112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78880" y="1837464"/>
            <a:ext cx="4572000" cy="766588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78880" y="2740732"/>
            <a:ext cx="4572000" cy="3288847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13985-7297-49C2-8AF7-445853E5DC92}" type="datetime1">
              <a:rPr lang="en-US" smtClean="0"/>
              <a:t>10/30/2025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009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7CB2E-E929-49CA-BA6D-3C562126F566}" type="datetime1">
              <a:rPr lang="en-US" smtClean="0"/>
              <a:t>10/30/2025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836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 flipV="1">
            <a:off x="1585" y="0"/>
            <a:ext cx="12188827" cy="377952"/>
            <a:chOff x="-1" y="6480048"/>
            <a:chExt cx="12188827" cy="377952"/>
          </a:xfrm>
        </p:grpSpPr>
        <p:sp>
          <p:nvSpPr>
            <p:cNvPr id="6" name="Rectangle 5"/>
            <p:cNvSpPr/>
            <p:nvPr/>
          </p:nvSpPr>
          <p:spPr>
            <a:xfrm>
              <a:off x="0" y="6583680"/>
              <a:ext cx="12188826" cy="274320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50000"/>
                  </a:schemeClr>
                </a:gs>
                <a:gs pos="0">
                  <a:schemeClr val="accent1">
                    <a:lumMod val="60000"/>
                    <a:lumOff val="4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-1" y="6480048"/>
              <a:ext cx="12188826" cy="73152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80000"/>
                  </a:schemeClr>
                </a:gs>
                <a:gs pos="0">
                  <a:schemeClr val="accent1">
                    <a:lumMod val="60000"/>
                    <a:lumOff val="40000"/>
                    <a:alpha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7CFE0-ED18-4B5C-AA30-B675E1042721}" type="datetime1">
              <a:rPr lang="en-US" smtClean="0"/>
              <a:t>10/30/2025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49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 flipV="1">
            <a:off x="1585" y="0"/>
            <a:ext cx="12188827" cy="377952"/>
            <a:chOff x="-1" y="6480048"/>
            <a:chExt cx="12188827" cy="377952"/>
          </a:xfrm>
        </p:grpSpPr>
        <p:sp>
          <p:nvSpPr>
            <p:cNvPr id="9" name="Rectangle 8"/>
            <p:cNvSpPr/>
            <p:nvPr/>
          </p:nvSpPr>
          <p:spPr>
            <a:xfrm>
              <a:off x="0" y="6583680"/>
              <a:ext cx="12188826" cy="274320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50000"/>
                  </a:schemeClr>
                </a:gs>
                <a:gs pos="0">
                  <a:schemeClr val="accent1">
                    <a:lumMod val="60000"/>
                    <a:lumOff val="4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Rectangle 9"/>
            <p:cNvSpPr/>
            <p:nvPr/>
          </p:nvSpPr>
          <p:spPr>
            <a:xfrm>
              <a:off x="-1" y="6480048"/>
              <a:ext cx="12188826" cy="73152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80000"/>
                  </a:schemeClr>
                </a:gs>
                <a:gs pos="0">
                  <a:schemeClr val="accent1">
                    <a:lumMod val="60000"/>
                    <a:lumOff val="40000"/>
                    <a:alpha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70648" y="2350008"/>
            <a:ext cx="4206240" cy="1993392"/>
          </a:xfrm>
        </p:spPr>
        <p:txBody>
          <a:bodyPr anchor="b">
            <a:normAutofit/>
          </a:bodyPr>
          <a:lstStyle>
            <a:lvl1pPr>
              <a:defRPr sz="34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58952"/>
            <a:ext cx="6629400" cy="533095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70648" y="4361688"/>
            <a:ext cx="4206240" cy="1728216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3BAAB-3A39-450E-9B38-6FB42E71A3AF}" type="datetime1">
              <a:rPr lang="en-US" smtClean="0"/>
              <a:t>10/30/2025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6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 flipV="1">
            <a:off x="1585" y="0"/>
            <a:ext cx="12188827" cy="377952"/>
            <a:chOff x="-1" y="6480048"/>
            <a:chExt cx="12188827" cy="377952"/>
          </a:xfrm>
        </p:grpSpPr>
        <p:sp>
          <p:nvSpPr>
            <p:cNvPr id="9" name="Rectangle 8"/>
            <p:cNvSpPr/>
            <p:nvPr/>
          </p:nvSpPr>
          <p:spPr>
            <a:xfrm>
              <a:off x="0" y="6583680"/>
              <a:ext cx="12188826" cy="274320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50000"/>
                  </a:schemeClr>
                </a:gs>
                <a:gs pos="0">
                  <a:schemeClr val="accent1">
                    <a:lumMod val="60000"/>
                    <a:lumOff val="4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Rectangle 9"/>
            <p:cNvSpPr/>
            <p:nvPr/>
          </p:nvSpPr>
          <p:spPr>
            <a:xfrm>
              <a:off x="-1" y="6480048"/>
              <a:ext cx="12188826" cy="73152"/>
            </a:xfrm>
            <a:prstGeom prst="rect">
              <a:avLst/>
            </a:prstGeom>
            <a:gradFill flip="none" rotWithShape="1">
              <a:gsLst>
                <a:gs pos="100000">
                  <a:schemeClr val="accent1">
                    <a:alpha val="80000"/>
                  </a:schemeClr>
                </a:gs>
                <a:gs pos="0">
                  <a:schemeClr val="accent1">
                    <a:lumMod val="60000"/>
                    <a:lumOff val="40000"/>
                    <a:alpha val="8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70648" y="2350008"/>
            <a:ext cx="4206240" cy="1993392"/>
          </a:xfrm>
        </p:spPr>
        <p:txBody>
          <a:bodyPr anchor="b">
            <a:normAutofit/>
          </a:bodyPr>
          <a:lstStyle>
            <a:lvl1pPr>
              <a:defRPr sz="3400" b="1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150811" y="506104"/>
            <a:ext cx="6858002" cy="5843016"/>
          </a:xfrm>
          <a:solidFill>
            <a:schemeClr val="accent1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70648" y="4361688"/>
            <a:ext cx="4206240" cy="1728216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0331-03F7-4310-9C27-C65B2378D791}" type="datetime1">
              <a:rPr lang="en-US" smtClean="0"/>
              <a:t>10/30/2025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572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2F1F3-2254-4E04-B960-C1DB42B67330}" type="datetime1">
              <a:rPr lang="en-US" smtClean="0"/>
              <a:t>10/30/2025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0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74638"/>
            <a:ext cx="26289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74638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D0DE7-A14C-48CB-AB8E-D3357522F5F2}" type="datetime1">
              <a:rPr lang="en-US" smtClean="0"/>
              <a:t>10/30/2025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49032-2A07-4AE8-BA90-74324CAE0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2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/>
          <p:cNvGrpSpPr/>
          <p:nvPr/>
        </p:nvGrpSpPr>
        <p:grpSpPr>
          <a:xfrm>
            <a:off x="7873" y="-19258"/>
            <a:ext cx="12188953" cy="6869723"/>
            <a:chOff x="7873" y="-19258"/>
            <a:chExt cx="12188953" cy="6869723"/>
          </a:xfrm>
        </p:grpSpPr>
        <p:sp>
          <p:nvSpPr>
            <p:cNvPr id="10" name="Rectangle 9"/>
            <p:cNvSpPr/>
            <p:nvPr/>
          </p:nvSpPr>
          <p:spPr>
            <a:xfrm>
              <a:off x="7873" y="-19258"/>
              <a:ext cx="12188952" cy="6858000"/>
            </a:xfrm>
            <a:prstGeom prst="rect">
              <a:avLst/>
            </a:prstGeom>
            <a:gradFill>
              <a:gsLst>
                <a:gs pos="0">
                  <a:schemeClr val="accent1">
                    <a:lumMod val="20000"/>
                    <a:lumOff val="80000"/>
                  </a:schemeClr>
                </a:gs>
                <a:gs pos="74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7999" y="6472513"/>
              <a:ext cx="12188827" cy="377952"/>
              <a:chOff x="-1" y="6480048"/>
              <a:chExt cx="12188827" cy="377952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0" y="6583680"/>
                <a:ext cx="12188826" cy="274320"/>
              </a:xfrm>
              <a:prstGeom prst="rect">
                <a:avLst/>
              </a:prstGeom>
              <a:gradFill flip="none" rotWithShape="1">
                <a:gsLst>
                  <a:gs pos="100000">
                    <a:schemeClr val="accent1">
                      <a:alpha val="50000"/>
                    </a:schemeClr>
                  </a:gs>
                  <a:gs pos="0">
                    <a:schemeClr val="accent1">
                      <a:lumMod val="60000"/>
                      <a:lumOff val="40000"/>
                      <a:alpha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-1" y="6480048"/>
                <a:ext cx="12188826" cy="73152"/>
              </a:xfrm>
              <a:prstGeom prst="rect">
                <a:avLst/>
              </a:prstGeom>
              <a:gradFill flip="none" rotWithShape="1">
                <a:gsLst>
                  <a:gs pos="100000">
                    <a:schemeClr val="accent1">
                      <a:alpha val="80000"/>
                    </a:schemeClr>
                  </a:gs>
                  <a:gs pos="0">
                    <a:schemeClr val="accent1">
                      <a:lumMod val="60000"/>
                      <a:lumOff val="40000"/>
                      <a:alpha val="8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/>
              </a:p>
            </p:txBody>
          </p:sp>
        </p:grpSp>
        <p:grpSp>
          <p:nvGrpSpPr>
            <p:cNvPr id="48" name="Group 47" hidden="1"/>
            <p:cNvGrpSpPr/>
            <p:nvPr/>
          </p:nvGrpSpPr>
          <p:grpSpPr>
            <a:xfrm>
              <a:off x="14350" y="-7605"/>
              <a:ext cx="11722100" cy="6536383"/>
              <a:chOff x="6350" y="6350"/>
              <a:chExt cx="11722100" cy="6536383"/>
            </a:xfrm>
          </p:grpSpPr>
          <p:grpSp>
            <p:nvGrpSpPr>
              <p:cNvPr id="11" name="Group 9"/>
              <p:cNvGrpSpPr>
                <a:grpSpLocks/>
              </p:cNvGrpSpPr>
              <p:nvPr/>
            </p:nvGrpSpPr>
            <p:grpSpPr bwMode="auto">
              <a:xfrm>
                <a:off x="6350" y="5340350"/>
                <a:ext cx="673100" cy="673100"/>
                <a:chOff x="4" y="3364"/>
                <a:chExt cx="424" cy="424"/>
              </a:xfrm>
            </p:grpSpPr>
            <p:sp>
              <p:nvSpPr>
                <p:cNvPr id="45" name="Oval 7"/>
                <p:cNvSpPr>
                  <a:spLocks noChangeArrowheads="1"/>
                </p:cNvSpPr>
                <p:nvPr/>
              </p:nvSpPr>
              <p:spPr bwMode="grayWhite">
                <a:xfrm>
                  <a:off x="4" y="3364"/>
                  <a:ext cx="424" cy="424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6" name="Oval 8"/>
                <p:cNvSpPr>
                  <a:spLocks noChangeArrowheads="1"/>
                </p:cNvSpPr>
                <p:nvPr/>
              </p:nvSpPr>
              <p:spPr bwMode="grayWhite">
                <a:xfrm>
                  <a:off x="100" y="3460"/>
                  <a:ext cx="63" cy="63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2" name="Group 12"/>
              <p:cNvGrpSpPr>
                <a:grpSpLocks/>
              </p:cNvGrpSpPr>
              <p:nvPr/>
            </p:nvGrpSpPr>
            <p:grpSpPr bwMode="auto">
              <a:xfrm>
                <a:off x="539750" y="5873750"/>
                <a:ext cx="292100" cy="292100"/>
                <a:chOff x="340" y="3700"/>
                <a:chExt cx="184" cy="184"/>
              </a:xfrm>
            </p:grpSpPr>
            <p:sp>
              <p:nvSpPr>
                <p:cNvPr id="43" name="Oval 10"/>
                <p:cNvSpPr>
                  <a:spLocks noChangeArrowheads="1"/>
                </p:cNvSpPr>
                <p:nvPr/>
              </p:nvSpPr>
              <p:spPr bwMode="grayWhite">
                <a:xfrm>
                  <a:off x="340" y="3700"/>
                  <a:ext cx="184" cy="184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" name="Oval 11"/>
                <p:cNvSpPr>
                  <a:spLocks noChangeArrowheads="1"/>
                </p:cNvSpPr>
                <p:nvPr/>
              </p:nvSpPr>
              <p:spPr bwMode="grayWhite">
                <a:xfrm>
                  <a:off x="382" y="3742"/>
                  <a:ext cx="24" cy="24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3" name="Group 15"/>
              <p:cNvGrpSpPr>
                <a:grpSpLocks/>
              </p:cNvGrpSpPr>
              <p:nvPr/>
            </p:nvGrpSpPr>
            <p:grpSpPr bwMode="auto">
              <a:xfrm>
                <a:off x="131763" y="6038850"/>
                <a:ext cx="444500" cy="444500"/>
                <a:chOff x="83" y="3804"/>
                <a:chExt cx="280" cy="280"/>
              </a:xfrm>
            </p:grpSpPr>
            <p:sp>
              <p:nvSpPr>
                <p:cNvPr id="41" name="Oval 13"/>
                <p:cNvSpPr>
                  <a:spLocks noChangeArrowheads="1"/>
                </p:cNvSpPr>
                <p:nvPr/>
              </p:nvSpPr>
              <p:spPr bwMode="grayWhite">
                <a:xfrm>
                  <a:off x="83" y="3804"/>
                  <a:ext cx="280" cy="28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2" name="Oval 14"/>
                <p:cNvSpPr>
                  <a:spLocks noChangeArrowheads="1"/>
                </p:cNvSpPr>
                <p:nvPr/>
              </p:nvSpPr>
              <p:spPr bwMode="grayWhite">
                <a:xfrm>
                  <a:off x="147" y="3868"/>
                  <a:ext cx="39" cy="39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18"/>
              <p:cNvGrpSpPr>
                <a:grpSpLocks/>
              </p:cNvGrpSpPr>
              <p:nvPr/>
            </p:nvGrpSpPr>
            <p:grpSpPr bwMode="auto">
              <a:xfrm>
                <a:off x="2476500" y="6174433"/>
                <a:ext cx="368300" cy="368300"/>
                <a:chOff x="1560" y="4076"/>
                <a:chExt cx="232" cy="232"/>
              </a:xfrm>
            </p:grpSpPr>
            <p:sp>
              <p:nvSpPr>
                <p:cNvPr id="39" name="Oval 16"/>
                <p:cNvSpPr>
                  <a:spLocks noChangeArrowheads="1"/>
                </p:cNvSpPr>
                <p:nvPr/>
              </p:nvSpPr>
              <p:spPr bwMode="grayWhite">
                <a:xfrm>
                  <a:off x="1560" y="4076"/>
                  <a:ext cx="232" cy="232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0" name="Oval 17"/>
                <p:cNvSpPr>
                  <a:spLocks noChangeArrowheads="1"/>
                </p:cNvSpPr>
                <p:nvPr/>
              </p:nvSpPr>
              <p:spPr bwMode="grayWhite">
                <a:xfrm>
                  <a:off x="1613" y="4129"/>
                  <a:ext cx="32" cy="32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21"/>
              <p:cNvGrpSpPr>
                <a:grpSpLocks/>
              </p:cNvGrpSpPr>
              <p:nvPr/>
            </p:nvGrpSpPr>
            <p:grpSpPr bwMode="auto">
              <a:xfrm>
                <a:off x="6350" y="4425950"/>
                <a:ext cx="368300" cy="368300"/>
                <a:chOff x="4" y="2788"/>
                <a:chExt cx="232" cy="232"/>
              </a:xfrm>
            </p:grpSpPr>
            <p:sp>
              <p:nvSpPr>
                <p:cNvPr id="37" name="Oval 19"/>
                <p:cNvSpPr>
                  <a:spLocks noChangeArrowheads="1"/>
                </p:cNvSpPr>
                <p:nvPr/>
              </p:nvSpPr>
              <p:spPr bwMode="grayWhite">
                <a:xfrm>
                  <a:off x="4" y="2788"/>
                  <a:ext cx="232" cy="232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" name="Oval 20"/>
                <p:cNvSpPr>
                  <a:spLocks noChangeArrowheads="1"/>
                </p:cNvSpPr>
                <p:nvPr/>
              </p:nvSpPr>
              <p:spPr bwMode="grayWhite">
                <a:xfrm>
                  <a:off x="57" y="2841"/>
                  <a:ext cx="32" cy="32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24"/>
              <p:cNvGrpSpPr>
                <a:grpSpLocks/>
              </p:cNvGrpSpPr>
              <p:nvPr/>
            </p:nvGrpSpPr>
            <p:grpSpPr bwMode="auto">
              <a:xfrm>
                <a:off x="10674350" y="5808663"/>
                <a:ext cx="673100" cy="673100"/>
                <a:chOff x="4132" y="3844"/>
                <a:chExt cx="424" cy="424"/>
              </a:xfrm>
            </p:grpSpPr>
            <p:sp>
              <p:nvSpPr>
                <p:cNvPr id="35" name="Oval 22"/>
                <p:cNvSpPr>
                  <a:spLocks noChangeArrowheads="1"/>
                </p:cNvSpPr>
                <p:nvPr/>
              </p:nvSpPr>
              <p:spPr bwMode="grayWhite">
                <a:xfrm>
                  <a:off x="4132" y="3844"/>
                  <a:ext cx="424" cy="424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6" name="Oval 23"/>
                <p:cNvSpPr>
                  <a:spLocks noChangeArrowheads="1"/>
                </p:cNvSpPr>
                <p:nvPr/>
              </p:nvSpPr>
              <p:spPr bwMode="grayWhite">
                <a:xfrm>
                  <a:off x="4228" y="3940"/>
                  <a:ext cx="63" cy="63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27"/>
              <p:cNvGrpSpPr>
                <a:grpSpLocks/>
              </p:cNvGrpSpPr>
              <p:nvPr/>
            </p:nvGrpSpPr>
            <p:grpSpPr bwMode="auto">
              <a:xfrm>
                <a:off x="10293350" y="6113463"/>
                <a:ext cx="368300" cy="368300"/>
                <a:chOff x="3892" y="4036"/>
                <a:chExt cx="232" cy="232"/>
              </a:xfrm>
            </p:grpSpPr>
            <p:sp>
              <p:nvSpPr>
                <p:cNvPr id="33" name="Oval 25"/>
                <p:cNvSpPr>
                  <a:spLocks noChangeArrowheads="1"/>
                </p:cNvSpPr>
                <p:nvPr/>
              </p:nvSpPr>
              <p:spPr bwMode="grayWhite">
                <a:xfrm>
                  <a:off x="3892" y="4036"/>
                  <a:ext cx="232" cy="232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" name="Oval 26"/>
                <p:cNvSpPr>
                  <a:spLocks noChangeArrowheads="1"/>
                </p:cNvSpPr>
                <p:nvPr/>
              </p:nvSpPr>
              <p:spPr bwMode="grayWhite">
                <a:xfrm>
                  <a:off x="3945" y="4089"/>
                  <a:ext cx="32" cy="32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30"/>
              <p:cNvGrpSpPr>
                <a:grpSpLocks/>
              </p:cNvGrpSpPr>
              <p:nvPr/>
            </p:nvGrpSpPr>
            <p:grpSpPr bwMode="auto">
              <a:xfrm>
                <a:off x="11360150" y="5808663"/>
                <a:ext cx="368300" cy="368300"/>
                <a:chOff x="4564" y="3844"/>
                <a:chExt cx="232" cy="232"/>
              </a:xfrm>
            </p:grpSpPr>
            <p:sp>
              <p:nvSpPr>
                <p:cNvPr id="31" name="Oval 28"/>
                <p:cNvSpPr>
                  <a:spLocks noChangeArrowheads="1"/>
                </p:cNvSpPr>
                <p:nvPr/>
              </p:nvSpPr>
              <p:spPr bwMode="grayWhite">
                <a:xfrm>
                  <a:off x="4564" y="3844"/>
                  <a:ext cx="232" cy="232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2" name="Oval 29"/>
                <p:cNvSpPr>
                  <a:spLocks noChangeArrowheads="1"/>
                </p:cNvSpPr>
                <p:nvPr/>
              </p:nvSpPr>
              <p:spPr bwMode="grayWhite">
                <a:xfrm>
                  <a:off x="4617" y="3897"/>
                  <a:ext cx="32" cy="32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33"/>
              <p:cNvGrpSpPr>
                <a:grpSpLocks/>
              </p:cNvGrpSpPr>
              <p:nvPr/>
            </p:nvGrpSpPr>
            <p:grpSpPr bwMode="auto">
              <a:xfrm>
                <a:off x="11087100" y="1901952"/>
                <a:ext cx="520700" cy="520700"/>
                <a:chOff x="5420" y="1139"/>
                <a:chExt cx="328" cy="328"/>
              </a:xfrm>
            </p:grpSpPr>
            <p:sp>
              <p:nvSpPr>
                <p:cNvPr id="29" name="Oval 31"/>
                <p:cNvSpPr>
                  <a:spLocks noChangeArrowheads="1"/>
                </p:cNvSpPr>
                <p:nvPr/>
              </p:nvSpPr>
              <p:spPr bwMode="grayWhite">
                <a:xfrm>
                  <a:off x="5420" y="1139"/>
                  <a:ext cx="328" cy="328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0" name="Oval 32"/>
                <p:cNvSpPr>
                  <a:spLocks noChangeArrowheads="1"/>
                </p:cNvSpPr>
                <p:nvPr/>
              </p:nvSpPr>
              <p:spPr bwMode="grayWhite">
                <a:xfrm>
                  <a:off x="5495" y="1214"/>
                  <a:ext cx="47" cy="47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36"/>
              <p:cNvGrpSpPr>
                <a:grpSpLocks/>
              </p:cNvGrpSpPr>
              <p:nvPr/>
            </p:nvGrpSpPr>
            <p:grpSpPr bwMode="auto">
              <a:xfrm>
                <a:off x="11176000" y="2614739"/>
                <a:ext cx="215900" cy="215900"/>
                <a:chOff x="5476" y="1588"/>
                <a:chExt cx="136" cy="136"/>
              </a:xfrm>
            </p:grpSpPr>
            <p:sp>
              <p:nvSpPr>
                <p:cNvPr id="27" name="Oval 34"/>
                <p:cNvSpPr>
                  <a:spLocks noChangeArrowheads="1"/>
                </p:cNvSpPr>
                <p:nvPr/>
              </p:nvSpPr>
              <p:spPr bwMode="grayWhite">
                <a:xfrm>
                  <a:off x="5476" y="1588"/>
                  <a:ext cx="136" cy="136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28" name="Oval 35"/>
                <p:cNvSpPr>
                  <a:spLocks noChangeArrowheads="1"/>
                </p:cNvSpPr>
                <p:nvPr/>
              </p:nvSpPr>
              <p:spPr bwMode="grayWhite">
                <a:xfrm>
                  <a:off x="5508" y="1620"/>
                  <a:ext cx="16" cy="16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1" name="Group 39"/>
              <p:cNvGrpSpPr>
                <a:grpSpLocks/>
              </p:cNvGrpSpPr>
              <p:nvPr/>
            </p:nvGrpSpPr>
            <p:grpSpPr bwMode="auto">
              <a:xfrm>
                <a:off x="1377950" y="6350"/>
                <a:ext cx="520700" cy="520700"/>
                <a:chOff x="868" y="4"/>
                <a:chExt cx="328" cy="328"/>
              </a:xfrm>
            </p:grpSpPr>
            <p:sp>
              <p:nvSpPr>
                <p:cNvPr id="25" name="Oval 37"/>
                <p:cNvSpPr>
                  <a:spLocks noChangeArrowheads="1"/>
                </p:cNvSpPr>
                <p:nvPr/>
              </p:nvSpPr>
              <p:spPr bwMode="grayWhite">
                <a:xfrm>
                  <a:off x="868" y="4"/>
                  <a:ext cx="328" cy="328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26" name="Oval 38"/>
                <p:cNvSpPr>
                  <a:spLocks noChangeArrowheads="1"/>
                </p:cNvSpPr>
                <p:nvPr/>
              </p:nvSpPr>
              <p:spPr bwMode="grayWhite">
                <a:xfrm>
                  <a:off x="942" y="78"/>
                  <a:ext cx="48" cy="48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22" name="Group 42"/>
              <p:cNvGrpSpPr>
                <a:grpSpLocks/>
              </p:cNvGrpSpPr>
              <p:nvPr/>
            </p:nvGrpSpPr>
            <p:grpSpPr bwMode="auto">
              <a:xfrm>
                <a:off x="1911350" y="158750"/>
                <a:ext cx="368300" cy="368300"/>
                <a:chOff x="1204" y="100"/>
                <a:chExt cx="232" cy="232"/>
              </a:xfrm>
            </p:grpSpPr>
            <p:sp>
              <p:nvSpPr>
                <p:cNvPr id="23" name="Oval 40"/>
                <p:cNvSpPr>
                  <a:spLocks noChangeArrowheads="1"/>
                </p:cNvSpPr>
                <p:nvPr/>
              </p:nvSpPr>
              <p:spPr bwMode="grayWhite">
                <a:xfrm>
                  <a:off x="1204" y="100"/>
                  <a:ext cx="232" cy="232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24" name="Oval 41"/>
                <p:cNvSpPr>
                  <a:spLocks noChangeArrowheads="1"/>
                </p:cNvSpPr>
                <p:nvPr/>
              </p:nvSpPr>
              <p:spPr bwMode="grayWhite">
                <a:xfrm>
                  <a:off x="1257" y="153"/>
                  <a:ext cx="32" cy="32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162" name="Group 161"/>
            <p:cNvGrpSpPr/>
            <p:nvPr/>
          </p:nvGrpSpPr>
          <p:grpSpPr>
            <a:xfrm>
              <a:off x="14350" y="-7605"/>
              <a:ext cx="11722100" cy="6536383"/>
              <a:chOff x="14350" y="-7605"/>
              <a:chExt cx="11722100" cy="6536383"/>
            </a:xfrm>
          </p:grpSpPr>
          <p:grpSp>
            <p:nvGrpSpPr>
              <p:cNvPr id="86" name="Group 85"/>
              <p:cNvGrpSpPr/>
              <p:nvPr/>
            </p:nvGrpSpPr>
            <p:grpSpPr>
              <a:xfrm>
                <a:off x="14350" y="5326395"/>
                <a:ext cx="673100" cy="673100"/>
                <a:chOff x="14350" y="5326395"/>
                <a:chExt cx="673100" cy="673100"/>
              </a:xfrm>
            </p:grpSpPr>
            <p:sp>
              <p:nvSpPr>
                <p:cNvPr id="83" name="Oval 7"/>
                <p:cNvSpPr>
                  <a:spLocks noChangeArrowheads="1"/>
                </p:cNvSpPr>
                <p:nvPr/>
              </p:nvSpPr>
              <p:spPr bwMode="grayWhite">
                <a:xfrm>
                  <a:off x="14350" y="5326395"/>
                  <a:ext cx="673100" cy="6731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84" name="Oval 8"/>
                <p:cNvSpPr>
                  <a:spLocks noChangeArrowheads="1"/>
                </p:cNvSpPr>
                <p:nvPr/>
              </p:nvSpPr>
              <p:spPr bwMode="grayWhite">
                <a:xfrm>
                  <a:off x="166750" y="5478795"/>
                  <a:ext cx="100013" cy="100013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7" name="Group 86"/>
              <p:cNvGrpSpPr/>
              <p:nvPr/>
            </p:nvGrpSpPr>
            <p:grpSpPr>
              <a:xfrm>
                <a:off x="547750" y="5859795"/>
                <a:ext cx="292100" cy="292100"/>
                <a:chOff x="547750" y="5859795"/>
                <a:chExt cx="292100" cy="292100"/>
              </a:xfrm>
            </p:grpSpPr>
            <p:sp>
              <p:nvSpPr>
                <p:cNvPr id="81" name="Oval 10"/>
                <p:cNvSpPr>
                  <a:spLocks noChangeArrowheads="1"/>
                </p:cNvSpPr>
                <p:nvPr/>
              </p:nvSpPr>
              <p:spPr bwMode="grayWhite">
                <a:xfrm>
                  <a:off x="547750" y="5859795"/>
                  <a:ext cx="292100" cy="2921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82" name="Oval 11"/>
                <p:cNvSpPr>
                  <a:spLocks noChangeArrowheads="1"/>
                </p:cNvSpPr>
                <p:nvPr/>
              </p:nvSpPr>
              <p:spPr bwMode="grayWhite">
                <a:xfrm>
                  <a:off x="614425" y="5926470"/>
                  <a:ext cx="38100" cy="381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8" name="Group 87"/>
              <p:cNvGrpSpPr/>
              <p:nvPr/>
            </p:nvGrpSpPr>
            <p:grpSpPr>
              <a:xfrm>
                <a:off x="139763" y="6024895"/>
                <a:ext cx="444500" cy="444500"/>
                <a:chOff x="139763" y="6024895"/>
                <a:chExt cx="444500" cy="444500"/>
              </a:xfrm>
            </p:grpSpPr>
            <p:sp>
              <p:nvSpPr>
                <p:cNvPr id="79" name="Oval 13"/>
                <p:cNvSpPr>
                  <a:spLocks noChangeArrowheads="1"/>
                </p:cNvSpPr>
                <p:nvPr/>
              </p:nvSpPr>
              <p:spPr bwMode="grayWhite">
                <a:xfrm>
                  <a:off x="139763" y="6024895"/>
                  <a:ext cx="444500" cy="4445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80" name="Oval 14"/>
                <p:cNvSpPr>
                  <a:spLocks noChangeArrowheads="1"/>
                </p:cNvSpPr>
                <p:nvPr/>
              </p:nvSpPr>
              <p:spPr bwMode="grayWhite">
                <a:xfrm>
                  <a:off x="241363" y="6126495"/>
                  <a:ext cx="61913" cy="61913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9" name="Group 88"/>
              <p:cNvGrpSpPr/>
              <p:nvPr/>
            </p:nvGrpSpPr>
            <p:grpSpPr>
              <a:xfrm>
                <a:off x="2484500" y="6160478"/>
                <a:ext cx="368300" cy="368300"/>
                <a:chOff x="2484500" y="6160478"/>
                <a:chExt cx="368300" cy="368300"/>
              </a:xfrm>
            </p:grpSpPr>
            <p:sp>
              <p:nvSpPr>
                <p:cNvPr id="77" name="Oval 16"/>
                <p:cNvSpPr>
                  <a:spLocks noChangeArrowheads="1"/>
                </p:cNvSpPr>
                <p:nvPr/>
              </p:nvSpPr>
              <p:spPr bwMode="grayWhite">
                <a:xfrm>
                  <a:off x="2484500" y="6160478"/>
                  <a:ext cx="368300" cy="3683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78" name="Oval 17"/>
                <p:cNvSpPr>
                  <a:spLocks noChangeArrowheads="1"/>
                </p:cNvSpPr>
                <p:nvPr/>
              </p:nvSpPr>
              <p:spPr bwMode="grayWhite">
                <a:xfrm>
                  <a:off x="2568638" y="6244616"/>
                  <a:ext cx="50800" cy="508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>
                <a:off x="14350" y="4411995"/>
                <a:ext cx="368300" cy="368300"/>
                <a:chOff x="14350" y="4411995"/>
                <a:chExt cx="368300" cy="368300"/>
              </a:xfrm>
            </p:grpSpPr>
            <p:sp>
              <p:nvSpPr>
                <p:cNvPr id="75" name="Oval 19"/>
                <p:cNvSpPr>
                  <a:spLocks noChangeArrowheads="1"/>
                </p:cNvSpPr>
                <p:nvPr/>
              </p:nvSpPr>
              <p:spPr bwMode="grayWhite">
                <a:xfrm>
                  <a:off x="14350" y="4411995"/>
                  <a:ext cx="368300" cy="3683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76" name="Oval 20"/>
                <p:cNvSpPr>
                  <a:spLocks noChangeArrowheads="1"/>
                </p:cNvSpPr>
                <p:nvPr/>
              </p:nvSpPr>
              <p:spPr bwMode="grayWhite">
                <a:xfrm>
                  <a:off x="98488" y="4496133"/>
                  <a:ext cx="50800" cy="508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1" name="Group 90"/>
              <p:cNvGrpSpPr/>
              <p:nvPr/>
            </p:nvGrpSpPr>
            <p:grpSpPr>
              <a:xfrm>
                <a:off x="10682350" y="5794708"/>
                <a:ext cx="673100" cy="673100"/>
                <a:chOff x="10682350" y="5794708"/>
                <a:chExt cx="673100" cy="673100"/>
              </a:xfrm>
            </p:grpSpPr>
            <p:sp>
              <p:nvSpPr>
                <p:cNvPr id="73" name="Oval 22"/>
                <p:cNvSpPr>
                  <a:spLocks noChangeArrowheads="1"/>
                </p:cNvSpPr>
                <p:nvPr/>
              </p:nvSpPr>
              <p:spPr bwMode="grayWhite">
                <a:xfrm>
                  <a:off x="10682350" y="5794708"/>
                  <a:ext cx="673100" cy="6731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74" name="Oval 23"/>
                <p:cNvSpPr>
                  <a:spLocks noChangeArrowheads="1"/>
                </p:cNvSpPr>
                <p:nvPr/>
              </p:nvSpPr>
              <p:spPr bwMode="grayWhite">
                <a:xfrm>
                  <a:off x="10834750" y="5947108"/>
                  <a:ext cx="100013" cy="100013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2" name="Group 91"/>
              <p:cNvGrpSpPr/>
              <p:nvPr/>
            </p:nvGrpSpPr>
            <p:grpSpPr>
              <a:xfrm>
                <a:off x="10301350" y="6099508"/>
                <a:ext cx="368300" cy="368300"/>
                <a:chOff x="10301350" y="6099508"/>
                <a:chExt cx="368300" cy="368300"/>
              </a:xfrm>
            </p:grpSpPr>
            <p:sp>
              <p:nvSpPr>
                <p:cNvPr id="71" name="Oval 25"/>
                <p:cNvSpPr>
                  <a:spLocks noChangeArrowheads="1"/>
                </p:cNvSpPr>
                <p:nvPr/>
              </p:nvSpPr>
              <p:spPr bwMode="grayWhite">
                <a:xfrm>
                  <a:off x="10301350" y="6099508"/>
                  <a:ext cx="368300" cy="3683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72" name="Oval 26"/>
                <p:cNvSpPr>
                  <a:spLocks noChangeArrowheads="1"/>
                </p:cNvSpPr>
                <p:nvPr/>
              </p:nvSpPr>
              <p:spPr bwMode="grayWhite">
                <a:xfrm>
                  <a:off x="10385488" y="6183646"/>
                  <a:ext cx="50800" cy="508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3" name="Group 92"/>
              <p:cNvGrpSpPr/>
              <p:nvPr/>
            </p:nvGrpSpPr>
            <p:grpSpPr>
              <a:xfrm>
                <a:off x="11368150" y="5794708"/>
                <a:ext cx="368300" cy="368300"/>
                <a:chOff x="11368150" y="5794708"/>
                <a:chExt cx="368300" cy="368300"/>
              </a:xfrm>
            </p:grpSpPr>
            <p:sp>
              <p:nvSpPr>
                <p:cNvPr id="69" name="Oval 28"/>
                <p:cNvSpPr>
                  <a:spLocks noChangeArrowheads="1"/>
                </p:cNvSpPr>
                <p:nvPr/>
              </p:nvSpPr>
              <p:spPr bwMode="grayWhite">
                <a:xfrm>
                  <a:off x="11368150" y="5794708"/>
                  <a:ext cx="368300" cy="3683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70" name="Oval 29"/>
                <p:cNvSpPr>
                  <a:spLocks noChangeArrowheads="1"/>
                </p:cNvSpPr>
                <p:nvPr/>
              </p:nvSpPr>
              <p:spPr bwMode="grayWhite">
                <a:xfrm>
                  <a:off x="11452288" y="5878846"/>
                  <a:ext cx="50800" cy="508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4" name="Group 93"/>
              <p:cNvGrpSpPr/>
              <p:nvPr/>
            </p:nvGrpSpPr>
            <p:grpSpPr>
              <a:xfrm>
                <a:off x="11095100" y="1887997"/>
                <a:ext cx="520700" cy="520700"/>
                <a:chOff x="11095100" y="1887997"/>
                <a:chExt cx="520700" cy="520700"/>
              </a:xfrm>
            </p:grpSpPr>
            <p:sp>
              <p:nvSpPr>
                <p:cNvPr id="67" name="Oval 31"/>
                <p:cNvSpPr>
                  <a:spLocks noChangeArrowheads="1"/>
                </p:cNvSpPr>
                <p:nvPr/>
              </p:nvSpPr>
              <p:spPr bwMode="grayWhite">
                <a:xfrm>
                  <a:off x="11095100" y="1887997"/>
                  <a:ext cx="520700" cy="5207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8" name="Oval 32"/>
                <p:cNvSpPr>
                  <a:spLocks noChangeArrowheads="1"/>
                </p:cNvSpPr>
                <p:nvPr/>
              </p:nvSpPr>
              <p:spPr bwMode="grayWhite">
                <a:xfrm>
                  <a:off x="11214163" y="2007060"/>
                  <a:ext cx="74613" cy="74613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5" name="Group 94"/>
              <p:cNvGrpSpPr/>
              <p:nvPr/>
            </p:nvGrpSpPr>
            <p:grpSpPr>
              <a:xfrm>
                <a:off x="11184000" y="2600784"/>
                <a:ext cx="215900" cy="215900"/>
                <a:chOff x="11184000" y="2600784"/>
                <a:chExt cx="215900" cy="215900"/>
              </a:xfrm>
            </p:grpSpPr>
            <p:sp>
              <p:nvSpPr>
                <p:cNvPr id="65" name="Oval 34"/>
                <p:cNvSpPr>
                  <a:spLocks noChangeArrowheads="1"/>
                </p:cNvSpPr>
                <p:nvPr/>
              </p:nvSpPr>
              <p:spPr bwMode="grayWhite">
                <a:xfrm>
                  <a:off x="11184000" y="2600784"/>
                  <a:ext cx="215900" cy="2159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6" name="Oval 35"/>
                <p:cNvSpPr>
                  <a:spLocks noChangeArrowheads="1"/>
                </p:cNvSpPr>
                <p:nvPr/>
              </p:nvSpPr>
              <p:spPr bwMode="grayWhite">
                <a:xfrm>
                  <a:off x="11234800" y="2651584"/>
                  <a:ext cx="25400" cy="254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/>
              <p:cNvGrpSpPr/>
              <p:nvPr/>
            </p:nvGrpSpPr>
            <p:grpSpPr>
              <a:xfrm>
                <a:off x="1385950" y="-7605"/>
                <a:ext cx="520700" cy="520700"/>
                <a:chOff x="1385950" y="-7605"/>
                <a:chExt cx="520700" cy="520700"/>
              </a:xfrm>
            </p:grpSpPr>
            <p:sp>
              <p:nvSpPr>
                <p:cNvPr id="63" name="Oval 37"/>
                <p:cNvSpPr>
                  <a:spLocks noChangeArrowheads="1"/>
                </p:cNvSpPr>
                <p:nvPr/>
              </p:nvSpPr>
              <p:spPr bwMode="grayWhite">
                <a:xfrm>
                  <a:off x="1385950" y="-7605"/>
                  <a:ext cx="520700" cy="5207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" name="Oval 38"/>
                <p:cNvSpPr>
                  <a:spLocks noChangeArrowheads="1"/>
                </p:cNvSpPr>
                <p:nvPr/>
              </p:nvSpPr>
              <p:spPr bwMode="grayWhite">
                <a:xfrm>
                  <a:off x="1503425" y="109870"/>
                  <a:ext cx="76200" cy="762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61" name="Group 160"/>
              <p:cNvGrpSpPr/>
              <p:nvPr/>
            </p:nvGrpSpPr>
            <p:grpSpPr>
              <a:xfrm>
                <a:off x="1919350" y="144795"/>
                <a:ext cx="368300" cy="368300"/>
                <a:chOff x="1919350" y="144795"/>
                <a:chExt cx="368300" cy="368300"/>
              </a:xfrm>
            </p:grpSpPr>
            <p:sp>
              <p:nvSpPr>
                <p:cNvPr id="61" name="Oval 40"/>
                <p:cNvSpPr>
                  <a:spLocks noChangeArrowheads="1"/>
                </p:cNvSpPr>
                <p:nvPr/>
              </p:nvSpPr>
              <p:spPr bwMode="grayWhite">
                <a:xfrm>
                  <a:off x="1919350" y="144795"/>
                  <a:ext cx="368300" cy="368300"/>
                </a:xfrm>
                <a:prstGeom prst="ellipse">
                  <a:avLst/>
                </a:prstGeom>
                <a:noFill/>
                <a:ln w="12700">
                  <a:solidFill>
                    <a:schemeClr val="accent1">
                      <a:lumMod val="50000"/>
                    </a:schemeClr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" name="Oval 41"/>
                <p:cNvSpPr>
                  <a:spLocks noChangeArrowheads="1"/>
                </p:cNvSpPr>
                <p:nvPr/>
              </p:nvSpPr>
              <p:spPr bwMode="grayWhite">
                <a:xfrm>
                  <a:off x="2003488" y="228933"/>
                  <a:ext cx="50800" cy="50800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>
                  <a:noFill/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41120" y="467360"/>
            <a:ext cx="9509760" cy="12334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41120" y="1901952"/>
            <a:ext cx="9509760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41120" y="6598763"/>
            <a:ext cx="7159752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75776" y="6598763"/>
            <a:ext cx="96012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513C09FF-A05A-44B7-B7F9-9715502B619B}" type="datetime1">
              <a:rPr lang="en-US" smtClean="0"/>
              <a:pPr/>
              <a:t>10/30/2025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10800" y="6598763"/>
            <a:ext cx="640080" cy="2377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FC749032-2A07-4AE8-BA90-74324CAE0C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658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18745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945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5146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Char char="o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606040" indent="0" algn="l" defTabSz="914400" rtl="0" eaLnBrk="1" latinLnBrk="0" hangingPunct="1">
        <a:lnSpc>
          <a:spcPct val="90000"/>
        </a:lnSpc>
        <a:spcBef>
          <a:spcPts val="800"/>
        </a:spcBef>
        <a:buClr>
          <a:schemeClr val="accent2">
            <a:lumMod val="75000"/>
          </a:schemeClr>
        </a:buClr>
        <a:buSzPct val="80000"/>
        <a:buFont typeface="Courier New" panose="02070309020205020404" pitchFamily="49" charset="0"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kevinsguides.com/guides/code/java/javaintro/ch11-2d-3d-array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Programming Fundamentals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– 01</a:t>
            </a:r>
          </a:p>
          <a:p>
            <a:endParaRPr lang="en-US" dirty="0"/>
          </a:p>
          <a:p>
            <a:r>
              <a:rPr lang="en-US" sz="1400" dirty="0"/>
              <a:t>by Abeeha Sattar</a:t>
            </a:r>
          </a:p>
        </p:txBody>
      </p:sp>
    </p:spTree>
    <p:extLst>
      <p:ext uri="{BB962C8B-B14F-4D97-AF65-F5344CB8AC3E}">
        <p14:creationId xmlns:p14="http://schemas.microsoft.com/office/powerpoint/2010/main" val="399801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7ABB4F-BD11-E58E-FA8D-0334E3109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Arrays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D59002-001F-EE5A-4B17-3BB31B633B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We’ve done 1-D and 2-D arrays so far.</a:t>
            </a:r>
          </a:p>
          <a:p>
            <a:r>
              <a:rPr lang="en-US" dirty="0"/>
              <a:t>By adding another [] to our array declaration, we can add more dimensions to our array.</a:t>
            </a:r>
          </a:p>
          <a:p>
            <a:r>
              <a:rPr lang="en-US" dirty="0"/>
              <a:t>int array[3][3][3]; //will make a 3-D integer array</a:t>
            </a:r>
          </a:p>
          <a:p>
            <a:r>
              <a:rPr lang="en-US" dirty="0"/>
              <a:t>char </a:t>
            </a:r>
            <a:r>
              <a:rPr lang="en-US" dirty="0" err="1"/>
              <a:t>myStrs</a:t>
            </a:r>
            <a:r>
              <a:rPr lang="en-US" dirty="0"/>
              <a:t>[3][3][3][3]; //will make a 4-D character array.</a:t>
            </a:r>
          </a:p>
        </p:txBody>
      </p:sp>
    </p:spTree>
    <p:extLst>
      <p:ext uri="{BB962C8B-B14F-4D97-AF65-F5344CB8AC3E}">
        <p14:creationId xmlns:p14="http://schemas.microsoft.com/office/powerpoint/2010/main" val="3370671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27-72B1-9884-EAD2-7EA01135B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0D8687-E5FD-1614-53E4-3AE5012EC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1860" y="87208"/>
            <a:ext cx="5288279" cy="666848"/>
          </a:xfrm>
        </p:spPr>
        <p:txBody>
          <a:bodyPr/>
          <a:lstStyle/>
          <a:p>
            <a:r>
              <a:rPr lang="en-US" dirty="0"/>
              <a:t>Visualizing 3D - Arrays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BFE2589-8185-4739-4F35-EC00788946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35976" y="1755249"/>
            <a:ext cx="8720048" cy="51027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FD84E5-D5C4-2D52-A25F-B26D1EE6EB5D}"/>
              </a:ext>
            </a:extLst>
          </p:cNvPr>
          <p:cNvSpPr txBox="1"/>
          <p:nvPr/>
        </p:nvSpPr>
        <p:spPr>
          <a:xfrm>
            <a:off x="1735976" y="754056"/>
            <a:ext cx="8720048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https://kevinsguides.com/guides/code/java/javaintro/ch11-2d-3d-arrays/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2E2CD-90E5-3574-6CAC-EA6223033955}"/>
              </a:ext>
            </a:extLst>
          </p:cNvPr>
          <p:cNvSpPr txBox="1"/>
          <p:nvPr/>
        </p:nvSpPr>
        <p:spPr>
          <a:xfrm>
            <a:off x="1735976" y="1143905"/>
            <a:ext cx="8720048" cy="646331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You can read the guide if you want. The code is in java however, you can ask ChatGPT or any other tool to convert it into C code.</a:t>
            </a:r>
          </a:p>
        </p:txBody>
      </p:sp>
    </p:spTree>
    <p:extLst>
      <p:ext uri="{BB962C8B-B14F-4D97-AF65-F5344CB8AC3E}">
        <p14:creationId xmlns:p14="http://schemas.microsoft.com/office/powerpoint/2010/main" val="2551580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38D09-D65B-58F9-2138-D39F1748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F43417-022A-D4A9-2C92-9EB01807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467360"/>
            <a:ext cx="9509760" cy="895448"/>
          </a:xfrm>
        </p:spPr>
        <p:txBody>
          <a:bodyPr/>
          <a:lstStyle/>
          <a:p>
            <a:r>
              <a:rPr lang="en-US" dirty="0"/>
              <a:t>Scope of a Variable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99B752-8F6B-BCDB-0E19-AC0E4A33D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120" y="1479922"/>
            <a:ext cx="9509760" cy="5043970"/>
          </a:xfrm>
        </p:spPr>
        <p:txBody>
          <a:bodyPr>
            <a:normAutofit/>
          </a:bodyPr>
          <a:lstStyle/>
          <a:p>
            <a:r>
              <a:rPr lang="en-US" dirty="0"/>
              <a:t>A variable can be:</a:t>
            </a:r>
          </a:p>
          <a:p>
            <a:pPr lvl="1"/>
            <a:r>
              <a:rPr lang="en-US" sz="2000" dirty="0"/>
              <a:t>Global </a:t>
            </a:r>
          </a:p>
          <a:p>
            <a:pPr lvl="2"/>
            <a:r>
              <a:rPr lang="en-US" sz="1800" dirty="0"/>
              <a:t>If a variable exists outside of a function, then it is a global variable.</a:t>
            </a:r>
          </a:p>
          <a:p>
            <a:pPr lvl="2"/>
            <a:r>
              <a:rPr lang="en-US" sz="1800" dirty="0"/>
              <a:t>This means that you can access it anywhere.</a:t>
            </a:r>
          </a:p>
          <a:p>
            <a:pPr lvl="1"/>
            <a:r>
              <a:rPr lang="en-US" sz="2000" dirty="0"/>
              <a:t>Local</a:t>
            </a:r>
          </a:p>
          <a:p>
            <a:pPr lvl="2"/>
            <a:r>
              <a:rPr lang="en-US" sz="1800" dirty="0"/>
              <a:t>If a variable exists within a code block, then the variable is local to that code block.</a:t>
            </a:r>
          </a:p>
          <a:p>
            <a:pPr lvl="2"/>
            <a:r>
              <a:rPr lang="en-US" sz="1800" dirty="0"/>
              <a:t>You cannot access that variable outside that code block.</a:t>
            </a:r>
          </a:p>
          <a:p>
            <a:pPr lvl="2"/>
            <a:r>
              <a:rPr lang="en-US" sz="1800" dirty="0"/>
              <a:t>Code Blocks:</a:t>
            </a:r>
          </a:p>
          <a:p>
            <a:pPr lvl="3"/>
            <a:r>
              <a:rPr lang="en-US" sz="1600" dirty="0"/>
              <a:t>For loop is a code block. </a:t>
            </a:r>
          </a:p>
          <a:p>
            <a:pPr lvl="3"/>
            <a:r>
              <a:rPr lang="en-US" sz="1600" dirty="0"/>
              <a:t>The if-block is a code block. </a:t>
            </a:r>
          </a:p>
          <a:p>
            <a:pPr lvl="3"/>
            <a:r>
              <a:rPr lang="en-US" sz="1600" dirty="0"/>
              <a:t>The else-block is a code block. </a:t>
            </a:r>
          </a:p>
          <a:p>
            <a:pPr lvl="3"/>
            <a:r>
              <a:rPr lang="en-US" sz="1600" dirty="0"/>
              <a:t>A function is a code block. </a:t>
            </a:r>
          </a:p>
          <a:p>
            <a:pPr lvl="3"/>
            <a:r>
              <a:rPr lang="en-US" sz="1600" dirty="0"/>
              <a:t>Anything within curly brackets is a code block.</a:t>
            </a:r>
          </a:p>
        </p:txBody>
      </p:sp>
    </p:spTree>
    <p:extLst>
      <p:ext uri="{BB962C8B-B14F-4D97-AF65-F5344CB8AC3E}">
        <p14:creationId xmlns:p14="http://schemas.microsoft.com/office/powerpoint/2010/main" val="4082149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508B4-7EAE-1620-CE3C-2C0CAE92A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605D81-3F99-431A-F4A5-E33940318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8422"/>
            <a:ext cx="11878408" cy="772355"/>
          </a:xfrm>
        </p:spPr>
        <p:txBody>
          <a:bodyPr>
            <a:normAutofit fontScale="90000"/>
          </a:bodyPr>
          <a:lstStyle/>
          <a:p>
            <a:r>
              <a:rPr lang="en-US" dirty="0"/>
              <a:t>An Example (see the .c on GitHub for a commented version)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83A3F8-A69F-5F7D-1250-7F6E546EC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46285"/>
            <a:ext cx="12191999" cy="5811715"/>
          </a:xfrm>
          <a:solidFill>
            <a:schemeClr val="accent1">
              <a:lumMod val="20000"/>
              <a:lumOff val="80000"/>
            </a:schemeClr>
          </a:solidFill>
        </p:spPr>
        <p:txBody>
          <a:bodyPr numCol="3">
            <a:normAutofit/>
          </a:bodyPr>
          <a:lstStyle/>
          <a:p>
            <a:pPr marL="45720" indent="0">
              <a:buNone/>
            </a:pPr>
            <a:r>
              <a:rPr lang="en-US" sz="1400" dirty="0"/>
              <a:t>int </a:t>
            </a:r>
            <a:r>
              <a:rPr lang="en-US" sz="1400" dirty="0" err="1"/>
              <a:t>globalInt</a:t>
            </a:r>
            <a:r>
              <a:rPr lang="en-US" sz="1400" dirty="0"/>
              <a:t> = 0;</a:t>
            </a:r>
          </a:p>
          <a:p>
            <a:pPr marL="45720" indent="0">
              <a:buNone/>
            </a:pPr>
            <a:r>
              <a:rPr lang="en-US" sz="1400" dirty="0"/>
              <a:t>char </a:t>
            </a:r>
            <a:r>
              <a:rPr lang="en-US" sz="1400" dirty="0" err="1"/>
              <a:t>globalChar</a:t>
            </a:r>
            <a:r>
              <a:rPr lang="en-US" sz="1400" dirty="0"/>
              <a:t> = 'c';</a:t>
            </a:r>
          </a:p>
          <a:p>
            <a:pPr marL="45720" indent="0">
              <a:buNone/>
            </a:pPr>
            <a:r>
              <a:rPr lang="en-US" sz="1400" dirty="0"/>
              <a:t>int main() {</a:t>
            </a:r>
          </a:p>
          <a:p>
            <a:pPr marL="45720" indent="0">
              <a:buNone/>
            </a:pPr>
            <a:r>
              <a:rPr lang="en-US" sz="1400" dirty="0"/>
              <a:t>    int </a:t>
            </a:r>
            <a:r>
              <a:rPr lang="en-US" sz="1400" dirty="0" err="1"/>
              <a:t>localInt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    char </a:t>
            </a:r>
            <a:r>
              <a:rPr lang="en-US" sz="1400" dirty="0" err="1"/>
              <a:t>localChar</a:t>
            </a:r>
            <a:r>
              <a:rPr lang="en-US" sz="1400" dirty="0"/>
              <a:t> = 'e';</a:t>
            </a:r>
          </a:p>
          <a:p>
            <a:pPr marL="45720" indent="0">
              <a:buNone/>
            </a:pPr>
            <a:r>
              <a:rPr lang="en-US" sz="1400" dirty="0"/>
              <a:t>    if(</a:t>
            </a:r>
            <a:r>
              <a:rPr lang="en-US" sz="1400" dirty="0" err="1"/>
              <a:t>localInt</a:t>
            </a:r>
            <a:r>
              <a:rPr lang="en-US" sz="1400" dirty="0"/>
              <a:t> == 10) {</a:t>
            </a:r>
          </a:p>
          <a:p>
            <a:pPr marL="45720" indent="0">
              <a:buNone/>
            </a:pPr>
            <a:r>
              <a:rPr lang="en-US" sz="1400" dirty="0"/>
              <a:t>        int </a:t>
            </a:r>
            <a:r>
              <a:rPr lang="en-US" sz="1400" dirty="0" err="1"/>
              <a:t>localToIf</a:t>
            </a:r>
            <a:r>
              <a:rPr lang="en-US" sz="1400" dirty="0"/>
              <a:t> = 20;</a:t>
            </a:r>
          </a:p>
          <a:p>
            <a:pPr marL="45720" indent="0">
              <a:buNone/>
            </a:pPr>
            <a:r>
              <a:rPr lang="en-US" sz="1400" dirty="0"/>
              <a:t>        </a:t>
            </a:r>
            <a:r>
              <a:rPr lang="en-US" sz="1400" dirty="0" err="1"/>
              <a:t>localToIf</a:t>
            </a:r>
            <a:r>
              <a:rPr lang="en-US" sz="1400" dirty="0"/>
              <a:t> = </a:t>
            </a:r>
            <a:r>
              <a:rPr lang="en-US" sz="1400" dirty="0" err="1"/>
              <a:t>localInt</a:t>
            </a:r>
            <a:r>
              <a:rPr lang="en-US" sz="1400" dirty="0"/>
              <a:t>; </a:t>
            </a:r>
          </a:p>
          <a:p>
            <a:pPr marL="45720" indent="0">
              <a:buNone/>
            </a:pPr>
            <a:r>
              <a:rPr lang="en-US" sz="1400" dirty="0"/>
              <a:t>    } else {</a:t>
            </a:r>
          </a:p>
          <a:p>
            <a:pPr marL="45720" indent="0">
              <a:buNone/>
            </a:pPr>
            <a:r>
              <a:rPr lang="en-US" sz="1400" dirty="0"/>
              <a:t>        int </a:t>
            </a:r>
            <a:r>
              <a:rPr lang="en-US" sz="1400" dirty="0" err="1"/>
              <a:t>localToElse</a:t>
            </a:r>
            <a:r>
              <a:rPr lang="en-US" sz="1400" dirty="0"/>
              <a:t> = 30;</a:t>
            </a:r>
          </a:p>
          <a:p>
            <a:pPr marL="45720" indent="0">
              <a:buNone/>
            </a:pPr>
            <a:r>
              <a:rPr lang="en-US" sz="1400" dirty="0"/>
              <a:t>        </a:t>
            </a:r>
            <a:r>
              <a:rPr lang="en-US" sz="1400" dirty="0" err="1"/>
              <a:t>localToElse</a:t>
            </a:r>
            <a:r>
              <a:rPr lang="en-US" sz="1400" dirty="0"/>
              <a:t> = </a:t>
            </a:r>
            <a:r>
              <a:rPr lang="en-US" sz="1400" dirty="0" err="1"/>
              <a:t>localInt</a:t>
            </a:r>
            <a:r>
              <a:rPr lang="en-US" sz="1400" dirty="0"/>
              <a:t>; </a:t>
            </a:r>
          </a:p>
          <a:p>
            <a:pPr marL="45720" indent="0">
              <a:buNone/>
            </a:pPr>
            <a:r>
              <a:rPr lang="en-US" sz="1400" dirty="0"/>
              <a:t>        </a:t>
            </a:r>
            <a:r>
              <a:rPr lang="en-US" sz="1400" dirty="0" err="1"/>
              <a:t>localToElse</a:t>
            </a:r>
            <a:r>
              <a:rPr lang="en-US" sz="1400" dirty="0"/>
              <a:t> = </a:t>
            </a:r>
            <a:r>
              <a:rPr lang="en-US" sz="1400" dirty="0" err="1"/>
              <a:t>globalInt</a:t>
            </a:r>
            <a:r>
              <a:rPr lang="en-US" sz="1400" dirty="0"/>
              <a:t>;</a:t>
            </a:r>
          </a:p>
          <a:p>
            <a:pPr marL="45720" indent="0">
              <a:buNone/>
            </a:pPr>
            <a:r>
              <a:rPr lang="en-US" sz="1400" dirty="0"/>
              <a:t>        </a:t>
            </a:r>
            <a:r>
              <a:rPr lang="en-US" sz="1400" dirty="0" err="1"/>
              <a:t>localToElse</a:t>
            </a:r>
            <a:r>
              <a:rPr lang="en-US" sz="1400" dirty="0"/>
              <a:t> = </a:t>
            </a:r>
            <a:r>
              <a:rPr lang="en-US" sz="1400" dirty="0" err="1"/>
              <a:t>localToIf</a:t>
            </a:r>
            <a:r>
              <a:rPr lang="en-US" sz="1400" dirty="0"/>
              <a:t>;</a:t>
            </a:r>
          </a:p>
          <a:p>
            <a:pPr marL="45720" indent="0">
              <a:buNone/>
            </a:pPr>
            <a:r>
              <a:rPr lang="en-US" sz="1400" dirty="0"/>
              <a:t>    }</a:t>
            </a:r>
          </a:p>
          <a:p>
            <a:pPr marL="45720" indent="0">
              <a:buNone/>
            </a:pPr>
            <a:r>
              <a:rPr lang="en-US" sz="1400" dirty="0"/>
              <a:t>    for (int </a:t>
            </a:r>
            <a:r>
              <a:rPr lang="en-US" sz="1400" dirty="0" err="1"/>
              <a:t>forVar</a:t>
            </a:r>
            <a:r>
              <a:rPr lang="en-US" sz="1400" dirty="0"/>
              <a:t> = 0; </a:t>
            </a:r>
            <a:r>
              <a:rPr lang="en-US" sz="1400" dirty="0" err="1"/>
              <a:t>forVar</a:t>
            </a:r>
            <a:r>
              <a:rPr lang="en-US" sz="1400" dirty="0"/>
              <a:t> &lt; 5; </a:t>
            </a:r>
            <a:r>
              <a:rPr lang="en-US" sz="1400" dirty="0" err="1"/>
              <a:t>forVar</a:t>
            </a:r>
            <a:r>
              <a:rPr lang="en-US" sz="1400" dirty="0"/>
              <a:t>++){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forVar</a:t>
            </a:r>
            <a:r>
              <a:rPr lang="en-US" sz="1400" dirty="0"/>
              <a:t> = </a:t>
            </a:r>
            <a:r>
              <a:rPr lang="en-US" sz="1400" dirty="0" err="1"/>
              <a:t>localInt</a:t>
            </a:r>
            <a:r>
              <a:rPr lang="en-US" sz="1400" dirty="0"/>
              <a:t>;</a:t>
            </a:r>
          </a:p>
          <a:p>
            <a:pPr marL="45720" indent="0">
              <a:buNone/>
            </a:pPr>
            <a:r>
              <a:rPr lang="en-US" sz="1400" dirty="0"/>
              <a:t>	}</a:t>
            </a:r>
          </a:p>
          <a:p>
            <a:pPr marL="45720" indent="0">
              <a:buNone/>
            </a:pPr>
            <a:r>
              <a:rPr lang="en-US" sz="1400" dirty="0"/>
              <a:t>	while (</a:t>
            </a:r>
            <a:r>
              <a:rPr lang="en-US" sz="1400" dirty="0" err="1"/>
              <a:t>globalInt</a:t>
            </a:r>
            <a:r>
              <a:rPr lang="en-US" sz="1400" dirty="0"/>
              <a:t>) {</a:t>
            </a:r>
          </a:p>
          <a:p>
            <a:pPr marL="45720" indent="0">
              <a:buNone/>
            </a:pPr>
            <a:r>
              <a:rPr lang="en-US" sz="1400" dirty="0"/>
              <a:t>	                  int </a:t>
            </a:r>
            <a:r>
              <a:rPr lang="en-US" sz="1400" dirty="0" err="1"/>
              <a:t>whileVar</a:t>
            </a:r>
            <a:r>
              <a:rPr lang="en-US" sz="1400" dirty="0"/>
              <a:t> = </a:t>
            </a:r>
            <a:r>
              <a:rPr lang="en-US" sz="1400" dirty="0" err="1"/>
              <a:t>globalInt</a:t>
            </a:r>
            <a:r>
              <a:rPr lang="en-US" sz="1400" dirty="0"/>
              <a:t>; 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whileVar</a:t>
            </a:r>
            <a:r>
              <a:rPr lang="en-US" sz="1400" dirty="0"/>
              <a:t> = </a:t>
            </a:r>
            <a:r>
              <a:rPr lang="en-US" sz="1400" dirty="0" err="1"/>
              <a:t>localInt</a:t>
            </a:r>
            <a:r>
              <a:rPr lang="en-US" sz="1400" dirty="0"/>
              <a:t>; 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localToIf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localToElse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forVar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break;</a:t>
            </a:r>
          </a:p>
          <a:p>
            <a:pPr marL="45720" indent="0">
              <a:buNone/>
            </a:pPr>
            <a:r>
              <a:rPr lang="en-US" sz="1400" dirty="0"/>
              <a:t>	}</a:t>
            </a:r>
          </a:p>
          <a:p>
            <a:pPr marL="45720" indent="0">
              <a:buNone/>
            </a:pPr>
            <a:r>
              <a:rPr lang="en-US" sz="1400" dirty="0"/>
              <a:t>	</a:t>
            </a:r>
          </a:p>
          <a:p>
            <a:pPr marL="45720" indent="0">
              <a:buNone/>
            </a:pPr>
            <a:endParaRPr lang="en-US" sz="1400" dirty="0"/>
          </a:p>
          <a:p>
            <a:pPr marL="45720" indent="0">
              <a:buNone/>
            </a:pPr>
            <a:endParaRPr lang="en-US" sz="1400" dirty="0"/>
          </a:p>
          <a:p>
            <a:pPr marL="45720" indent="0">
              <a:buNone/>
            </a:pPr>
            <a:r>
              <a:rPr lang="en-US" sz="1400" dirty="0"/>
              <a:t>	do {</a:t>
            </a:r>
          </a:p>
          <a:p>
            <a:pPr marL="45720" indent="0">
              <a:buNone/>
            </a:pPr>
            <a:r>
              <a:rPr lang="en-US" sz="1400" dirty="0"/>
              <a:t>	                   int </a:t>
            </a:r>
            <a:r>
              <a:rPr lang="en-US" sz="1400" dirty="0" err="1"/>
              <a:t>doVar</a:t>
            </a:r>
            <a:r>
              <a:rPr lang="en-US" sz="1400" dirty="0"/>
              <a:t> = </a:t>
            </a:r>
            <a:r>
              <a:rPr lang="en-US" sz="1400" dirty="0" err="1"/>
              <a:t>globalInt</a:t>
            </a:r>
            <a:r>
              <a:rPr lang="en-US" sz="1400" dirty="0"/>
              <a:t>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doVar</a:t>
            </a:r>
            <a:r>
              <a:rPr lang="en-US" sz="1400" dirty="0"/>
              <a:t> = </a:t>
            </a:r>
            <a:r>
              <a:rPr lang="en-US" sz="1400" dirty="0" err="1"/>
              <a:t>localInt</a:t>
            </a:r>
            <a:r>
              <a:rPr lang="en-US" sz="1400" dirty="0"/>
              <a:t>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localToIf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localToElse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forVar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</a:t>
            </a:r>
            <a:r>
              <a:rPr lang="en-US" sz="1400" dirty="0" err="1"/>
              <a:t>whileVar</a:t>
            </a:r>
            <a:r>
              <a:rPr lang="en-US" sz="1400" dirty="0"/>
              <a:t> = 10;</a:t>
            </a:r>
          </a:p>
          <a:p>
            <a:pPr marL="45720" indent="0">
              <a:buNone/>
            </a:pPr>
            <a:r>
              <a:rPr lang="en-US" sz="1400" dirty="0"/>
              <a:t>		break;</a:t>
            </a:r>
          </a:p>
          <a:p>
            <a:pPr marL="45720" indent="0">
              <a:buNone/>
            </a:pPr>
            <a:r>
              <a:rPr lang="en-US" sz="1400" dirty="0"/>
              <a:t>	} while(</a:t>
            </a:r>
            <a:r>
              <a:rPr lang="en-US" sz="1400" dirty="0" err="1"/>
              <a:t>globalVar</a:t>
            </a:r>
            <a:r>
              <a:rPr lang="en-US" sz="1400" dirty="0"/>
              <a:t>);</a:t>
            </a:r>
          </a:p>
          <a:p>
            <a:pPr marL="45720" indent="0">
              <a:buNone/>
            </a:pPr>
            <a:r>
              <a:rPr lang="en-US" sz="1400" dirty="0"/>
              <a:t>    return 0;</a:t>
            </a:r>
          </a:p>
          <a:p>
            <a:pPr marL="45720" indent="0">
              <a:buNone/>
            </a:pPr>
            <a:r>
              <a:rPr lang="en-US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25400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439EA-0BAC-2582-9DAD-027064A3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E9B3A3-28E4-3188-8436-FA04B507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DD6DF6-B195-C2A4-E1F0-3E306B0C3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It is a block of code, which contains a set of instructions to perform a specific task. </a:t>
            </a:r>
          </a:p>
          <a:p>
            <a:r>
              <a:rPr lang="en-US" dirty="0"/>
              <a:t>A function may accept inputs/arguments/parameters.</a:t>
            </a:r>
          </a:p>
          <a:p>
            <a:r>
              <a:rPr lang="en-US" dirty="0"/>
              <a:t>A function may return an output/return values.</a:t>
            </a:r>
          </a:p>
          <a:p>
            <a:endParaRPr lang="en-US" dirty="0"/>
          </a:p>
          <a:p>
            <a:r>
              <a:rPr lang="en-US" dirty="0"/>
              <a:t>Syntax to define a function:</a:t>
            </a:r>
          </a:p>
          <a:p>
            <a:pPr marL="45720" indent="0">
              <a:buNone/>
            </a:pPr>
            <a:r>
              <a:rPr lang="en-US" dirty="0"/>
              <a:t>	</a:t>
            </a:r>
            <a:r>
              <a:rPr lang="en-US" b="1" dirty="0" err="1"/>
              <a:t>returnType</a:t>
            </a:r>
            <a:r>
              <a:rPr lang="en-US" dirty="0"/>
              <a:t> 		</a:t>
            </a:r>
            <a:r>
              <a:rPr lang="en-US" b="1" dirty="0" err="1"/>
              <a:t>functionName</a:t>
            </a:r>
            <a:r>
              <a:rPr lang="en-US" dirty="0"/>
              <a:t> 		(  </a:t>
            </a:r>
            <a:r>
              <a:rPr lang="en-US" b="1" dirty="0"/>
              <a:t>arguments</a:t>
            </a:r>
            <a:r>
              <a:rPr lang="en-US" dirty="0"/>
              <a:t> </a:t>
            </a:r>
            <a:r>
              <a:rPr lang="en-US" b="1" dirty="0"/>
              <a:t>list</a:t>
            </a:r>
            <a:r>
              <a:rPr lang="en-US" dirty="0"/>
              <a:t>  ) {</a:t>
            </a:r>
          </a:p>
          <a:p>
            <a:pPr marL="45720" indent="0">
              <a:buNone/>
            </a:pPr>
            <a:r>
              <a:rPr lang="en-US" dirty="0"/>
              <a:t>		// function body</a:t>
            </a:r>
          </a:p>
          <a:p>
            <a:pPr marL="45720" indent="0">
              <a:buNone/>
            </a:pPr>
            <a:r>
              <a:rPr lang="en-US" dirty="0"/>
              <a:t>	}</a:t>
            </a:r>
          </a:p>
        </p:txBody>
      </p:sp>
    </p:spTree>
    <p:extLst>
      <p:ext uri="{BB962C8B-B14F-4D97-AF65-F5344CB8AC3E}">
        <p14:creationId xmlns:p14="http://schemas.microsoft.com/office/powerpoint/2010/main" val="2110438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DE731-73DD-AF76-2AA3-2F14569E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C1EB40-1CB4-943B-1E5C-3C45A515C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have a look at the main function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EE5FCD-614D-02E9-A5BD-080953D4B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857" y="2927838"/>
            <a:ext cx="2570286" cy="3163287"/>
          </a:xfrm>
        </p:spPr>
        <p:txBody>
          <a:bodyPr/>
          <a:lstStyle/>
          <a:p>
            <a:pPr marL="45720" indent="0">
              <a:buNone/>
            </a:pPr>
            <a:r>
              <a:rPr lang="en-US" b="1" dirty="0"/>
              <a:t>int</a:t>
            </a:r>
            <a:r>
              <a:rPr lang="en-US" dirty="0"/>
              <a:t> main (</a:t>
            </a:r>
            <a:r>
              <a:rPr lang="en-US" b="1" dirty="0"/>
              <a:t>void</a:t>
            </a:r>
            <a:r>
              <a:rPr lang="en-US" dirty="0"/>
              <a:t>) {</a:t>
            </a:r>
          </a:p>
          <a:p>
            <a:pPr marL="45720" indent="0">
              <a:buNone/>
            </a:pPr>
            <a:r>
              <a:rPr lang="en-US" dirty="0"/>
              <a:t>	return 0;</a:t>
            </a:r>
          </a:p>
          <a:p>
            <a:pPr marL="45720" indent="0">
              <a:buNone/>
            </a:pPr>
            <a:r>
              <a:rPr lang="en-US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915610-EEE2-FCCD-98BF-BD7065C3A4D9}"/>
              </a:ext>
            </a:extLst>
          </p:cNvPr>
          <p:cNvSpPr txBox="1"/>
          <p:nvPr/>
        </p:nvSpPr>
        <p:spPr>
          <a:xfrm>
            <a:off x="1749669" y="2378291"/>
            <a:ext cx="1987061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The return type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E9C2F99-80F0-5E9D-9F18-14C9D0E57BCA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3736730" y="2562957"/>
            <a:ext cx="1213339" cy="523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AD7D4A4-2058-E87F-B27C-9C375E9B0D97}"/>
              </a:ext>
            </a:extLst>
          </p:cNvPr>
          <p:cNvSpPr txBox="1"/>
          <p:nvPr/>
        </p:nvSpPr>
        <p:spPr>
          <a:xfrm>
            <a:off x="4422532" y="1760313"/>
            <a:ext cx="226988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The function name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5E9FF6-BD89-D8CF-710B-96F815595B9D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5557472" y="2129645"/>
            <a:ext cx="0" cy="90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CF1DFB-29D9-36F0-C2E7-99D0B3EDEFA0}"/>
              </a:ext>
            </a:extLst>
          </p:cNvPr>
          <p:cNvSpPr txBox="1"/>
          <p:nvPr/>
        </p:nvSpPr>
        <p:spPr>
          <a:xfrm>
            <a:off x="7827352" y="2008959"/>
            <a:ext cx="226988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The argument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284505A-1506-7109-D317-572A75B7D3FD}"/>
              </a:ext>
            </a:extLst>
          </p:cNvPr>
          <p:cNvCxnSpPr>
            <a:cxnSpLocks/>
          </p:cNvCxnSpPr>
          <p:nvPr/>
        </p:nvCxnSpPr>
        <p:spPr>
          <a:xfrm flipH="1">
            <a:off x="6692412" y="2277208"/>
            <a:ext cx="1370134" cy="757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ight Brace 22">
            <a:extLst>
              <a:ext uri="{FF2B5EF4-FFF2-40B4-BE49-F238E27FC236}">
                <a16:creationId xmlns:a16="http://schemas.microsoft.com/office/drawing/2014/main" id="{ACBCEDF5-ED0E-6180-1374-83EAA35D844F}"/>
              </a:ext>
            </a:extLst>
          </p:cNvPr>
          <p:cNvSpPr/>
          <p:nvPr/>
        </p:nvSpPr>
        <p:spPr>
          <a:xfrm>
            <a:off x="7381143" y="3086100"/>
            <a:ext cx="681403" cy="1035031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2B0767-F4A2-16F3-FBC8-C2289AE3F34D}"/>
              </a:ext>
            </a:extLst>
          </p:cNvPr>
          <p:cNvSpPr txBox="1"/>
          <p:nvPr/>
        </p:nvSpPr>
        <p:spPr>
          <a:xfrm>
            <a:off x="8062546" y="3128938"/>
            <a:ext cx="2269880" cy="92333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The function body </a:t>
            </a:r>
          </a:p>
          <a:p>
            <a:r>
              <a:rPr lang="en-US" dirty="0">
                <a:solidFill>
                  <a:schemeClr val="tx2"/>
                </a:solidFill>
              </a:rPr>
              <a:t>Goes within the curly brackets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81358E0-27B7-EF35-4F43-F6CC39AA2C41}"/>
              </a:ext>
            </a:extLst>
          </p:cNvPr>
          <p:cNvCxnSpPr>
            <a:cxnSpLocks/>
          </p:cNvCxnSpPr>
          <p:nvPr/>
        </p:nvCxnSpPr>
        <p:spPr>
          <a:xfrm flipH="1" flipV="1">
            <a:off x="6692412" y="3823654"/>
            <a:ext cx="1195754" cy="1095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4BE8CCF-8A34-E728-C465-6A5A1D9EE42A}"/>
              </a:ext>
            </a:extLst>
          </p:cNvPr>
          <p:cNvSpPr txBox="1"/>
          <p:nvPr/>
        </p:nvSpPr>
        <p:spPr>
          <a:xfrm>
            <a:off x="7888166" y="4771489"/>
            <a:ext cx="3154972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The value being returned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15C925E-69AB-6420-96D0-6279C6C040F6}"/>
              </a:ext>
            </a:extLst>
          </p:cNvPr>
          <p:cNvSpPr/>
          <p:nvPr/>
        </p:nvSpPr>
        <p:spPr>
          <a:xfrm>
            <a:off x="4888523" y="2927838"/>
            <a:ext cx="1881550" cy="364881"/>
          </a:xfrm>
          <a:prstGeom prst="roundRect">
            <a:avLst/>
          </a:prstGeom>
          <a:noFill/>
          <a:ln w="12700">
            <a:solidFill>
              <a:schemeClr val="accent3">
                <a:lumMod val="50000"/>
              </a:schemeClr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DA1869D-A98F-C068-3DAB-4EED787B646B}"/>
              </a:ext>
            </a:extLst>
          </p:cNvPr>
          <p:cNvCxnSpPr>
            <a:cxnSpLocks/>
          </p:cNvCxnSpPr>
          <p:nvPr/>
        </p:nvCxnSpPr>
        <p:spPr>
          <a:xfrm flipH="1">
            <a:off x="2839915" y="3292719"/>
            <a:ext cx="2048608" cy="12441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355A7F5-A6E1-CE3C-9A1F-A5AE5C918FCF}"/>
              </a:ext>
            </a:extLst>
          </p:cNvPr>
          <p:cNvSpPr txBox="1"/>
          <p:nvPr/>
        </p:nvSpPr>
        <p:spPr>
          <a:xfrm>
            <a:off x="949569" y="4708213"/>
            <a:ext cx="3472963" cy="92333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Everything inside this box is also known as the </a:t>
            </a:r>
            <a:r>
              <a:rPr lang="en-US" b="1" dirty="0">
                <a:solidFill>
                  <a:schemeClr val="tx2"/>
                </a:solidFill>
              </a:rPr>
              <a:t>“signature” </a:t>
            </a:r>
            <a:r>
              <a:rPr lang="en-US" dirty="0">
                <a:solidFill>
                  <a:schemeClr val="tx2"/>
                </a:solidFill>
              </a:rPr>
              <a:t>of that function. </a:t>
            </a:r>
          </a:p>
        </p:txBody>
      </p:sp>
    </p:spTree>
    <p:extLst>
      <p:ext uri="{BB962C8B-B14F-4D97-AF65-F5344CB8AC3E}">
        <p14:creationId xmlns:p14="http://schemas.microsoft.com/office/powerpoint/2010/main" val="3942586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5EE4C-19F0-9FEF-61BD-D8A4FF6F5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C3A03F-5A0E-89FB-5E06-F84FC3320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printf</a:t>
            </a:r>
            <a:r>
              <a:rPr lang="en-US" dirty="0"/>
              <a:t> and </a:t>
            </a:r>
            <a:r>
              <a:rPr lang="en-US" dirty="0" err="1"/>
              <a:t>scanf</a:t>
            </a:r>
            <a:r>
              <a:rPr lang="en-US" dirty="0"/>
              <a:t> are functions…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CDA7A3-D4BA-551A-53D5-2E11C33F1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120" y="1901952"/>
            <a:ext cx="9509760" cy="4586771"/>
          </a:xfrm>
        </p:spPr>
        <p:txBody>
          <a:bodyPr/>
          <a:lstStyle/>
          <a:p>
            <a:r>
              <a:rPr lang="en-US" dirty="0"/>
              <a:t>Whenever you write:</a:t>
            </a:r>
          </a:p>
          <a:p>
            <a:pPr lvl="1"/>
            <a:r>
              <a:rPr lang="en-US" dirty="0" err="1"/>
              <a:t>printf</a:t>
            </a:r>
            <a:r>
              <a:rPr lang="en-US" dirty="0"/>
              <a:t>(“something”);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(“%d”, &amp;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lvl="1"/>
            <a:endParaRPr lang="en-US" dirty="0"/>
          </a:p>
          <a:p>
            <a:r>
              <a:rPr lang="en-US" dirty="0"/>
              <a:t>You’re actually </a:t>
            </a:r>
            <a:r>
              <a:rPr lang="en-US" b="1" dirty="0"/>
              <a:t>calling</a:t>
            </a:r>
            <a:r>
              <a:rPr lang="en-US" dirty="0"/>
              <a:t> the pre-defined functions present in the </a:t>
            </a:r>
            <a:r>
              <a:rPr lang="en-US" dirty="0" err="1"/>
              <a:t>stdio.h</a:t>
            </a:r>
            <a:r>
              <a:rPr lang="en-US" dirty="0"/>
              <a:t> library.</a:t>
            </a:r>
          </a:p>
          <a:p>
            <a:endParaRPr lang="en-US" dirty="0"/>
          </a:p>
          <a:p>
            <a:r>
              <a:rPr lang="en-US" dirty="0"/>
              <a:t>Do you remember what </a:t>
            </a:r>
            <a:r>
              <a:rPr lang="en-US" dirty="0" err="1"/>
              <a:t>printf</a:t>
            </a:r>
            <a:r>
              <a:rPr lang="en-US" dirty="0"/>
              <a:t> returns?</a:t>
            </a:r>
          </a:p>
          <a:p>
            <a:r>
              <a:rPr lang="en-US" dirty="0"/>
              <a:t>What does </a:t>
            </a:r>
            <a:r>
              <a:rPr lang="en-US" dirty="0" err="1"/>
              <a:t>scanf</a:t>
            </a:r>
            <a:r>
              <a:rPr lang="en-US" dirty="0"/>
              <a:t> return?</a:t>
            </a:r>
          </a:p>
          <a:p>
            <a:r>
              <a:rPr lang="en-US" dirty="0"/>
              <a:t>What are the arguments here?</a:t>
            </a:r>
          </a:p>
        </p:txBody>
      </p:sp>
      <p:pic>
        <p:nvPicPr>
          <p:cNvPr id="8" name="Content Placeholder 2">
            <a:extLst>
              <a:ext uri="{FF2B5EF4-FFF2-40B4-BE49-F238E27FC236}">
                <a16:creationId xmlns:a16="http://schemas.microsoft.com/office/drawing/2014/main" id="{0E6D466F-9F30-C2FD-4D6F-E74A0B2F1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638" y="92074"/>
            <a:ext cx="2298318" cy="180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043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97CC6-02EC-CE43-0107-A2CCC7B9E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pass to a function when calling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C2111-C30C-E6D9-8D92-4C67CD7B7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120" y="1700784"/>
            <a:ext cx="9509760" cy="210523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You can send it a constant value, like 1, 2, ‘a’, etc., based on what type of argument it accepts.</a:t>
            </a:r>
          </a:p>
          <a:p>
            <a:r>
              <a:rPr lang="en-US" dirty="0"/>
              <a:t>You can also send it variables of the corresponding data types.</a:t>
            </a:r>
          </a:p>
          <a:p>
            <a:r>
              <a:rPr lang="en-US" dirty="0"/>
              <a:t>It can also be a combination of the above two things.</a:t>
            </a:r>
          </a:p>
          <a:p>
            <a:r>
              <a:rPr lang="en-US" dirty="0"/>
              <a:t>For example, consider this function: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B452BF-26A6-25B7-E214-768B09C5809F}"/>
              </a:ext>
            </a:extLst>
          </p:cNvPr>
          <p:cNvSpPr txBox="1"/>
          <p:nvPr/>
        </p:nvSpPr>
        <p:spPr>
          <a:xfrm>
            <a:off x="1341120" y="3806016"/>
            <a:ext cx="4628857" cy="1200329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void </a:t>
            </a:r>
            <a:r>
              <a:rPr lang="en-US" dirty="0" err="1">
                <a:solidFill>
                  <a:schemeClr val="tx2"/>
                </a:solidFill>
              </a:rPr>
              <a:t>myFunction</a:t>
            </a:r>
            <a:r>
              <a:rPr lang="en-US" dirty="0">
                <a:solidFill>
                  <a:schemeClr val="tx2"/>
                </a:solidFill>
              </a:rPr>
              <a:t>(int a, char c) {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//do something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}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E2510C-B3A4-02D3-CA5A-0F60394E3F1C}"/>
              </a:ext>
            </a:extLst>
          </p:cNvPr>
          <p:cNvSpPr txBox="1"/>
          <p:nvPr/>
        </p:nvSpPr>
        <p:spPr>
          <a:xfrm>
            <a:off x="5969977" y="3806016"/>
            <a:ext cx="4628857" cy="286232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int main(){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char </a:t>
            </a:r>
            <a:r>
              <a:rPr lang="en-US" dirty="0" err="1">
                <a:solidFill>
                  <a:schemeClr val="tx2"/>
                </a:solidFill>
              </a:rPr>
              <a:t>ch</a:t>
            </a:r>
            <a:r>
              <a:rPr lang="en-US" dirty="0">
                <a:solidFill>
                  <a:schemeClr val="tx2"/>
                </a:solidFill>
              </a:rPr>
              <a:t> = ‘c’;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int a = 10;</a:t>
            </a:r>
          </a:p>
          <a:p>
            <a:pPr marL="4572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</a:t>
            </a:r>
            <a:r>
              <a:rPr lang="en-US" dirty="0" err="1">
                <a:solidFill>
                  <a:schemeClr val="tx2"/>
                </a:solidFill>
              </a:rPr>
              <a:t>myFunction</a:t>
            </a:r>
            <a:r>
              <a:rPr lang="en-US" dirty="0">
                <a:solidFill>
                  <a:schemeClr val="tx2"/>
                </a:solidFill>
              </a:rPr>
              <a:t>(55, ‘R’);</a:t>
            </a:r>
          </a:p>
          <a:p>
            <a:pPr marL="45720"/>
            <a:r>
              <a:rPr lang="en-US" dirty="0">
                <a:solidFill>
                  <a:schemeClr val="tx2"/>
                </a:solidFill>
              </a:rPr>
              <a:t>	</a:t>
            </a:r>
            <a:r>
              <a:rPr lang="en-US" dirty="0" err="1">
                <a:solidFill>
                  <a:schemeClr val="tx2"/>
                </a:solidFill>
              </a:rPr>
              <a:t>myFunction</a:t>
            </a:r>
            <a:r>
              <a:rPr lang="en-US" dirty="0">
                <a:solidFill>
                  <a:schemeClr val="tx2"/>
                </a:solidFill>
              </a:rPr>
              <a:t>(a, </a:t>
            </a:r>
            <a:r>
              <a:rPr lang="en-US" dirty="0" err="1">
                <a:solidFill>
                  <a:schemeClr val="tx2"/>
                </a:solidFill>
              </a:rPr>
              <a:t>ch</a:t>
            </a:r>
            <a:r>
              <a:rPr lang="en-US" dirty="0">
                <a:solidFill>
                  <a:schemeClr val="tx2"/>
                </a:solidFill>
              </a:rPr>
              <a:t>);</a:t>
            </a:r>
          </a:p>
          <a:p>
            <a:pPr marL="45720"/>
            <a:r>
              <a:rPr lang="en-US" dirty="0">
                <a:solidFill>
                  <a:schemeClr val="tx2"/>
                </a:solidFill>
              </a:rPr>
              <a:t>	</a:t>
            </a:r>
            <a:r>
              <a:rPr lang="en-US" dirty="0" err="1">
                <a:solidFill>
                  <a:schemeClr val="tx2"/>
                </a:solidFill>
              </a:rPr>
              <a:t>myFunction</a:t>
            </a:r>
            <a:r>
              <a:rPr lang="en-US" dirty="0">
                <a:solidFill>
                  <a:schemeClr val="tx2"/>
                </a:solidFill>
              </a:rPr>
              <a:t>(44, </a:t>
            </a:r>
            <a:r>
              <a:rPr lang="en-US" dirty="0" err="1">
                <a:solidFill>
                  <a:schemeClr val="tx2"/>
                </a:solidFill>
              </a:rPr>
              <a:t>ch</a:t>
            </a:r>
            <a:r>
              <a:rPr lang="en-US" dirty="0">
                <a:solidFill>
                  <a:schemeClr val="tx2"/>
                </a:solidFill>
              </a:rPr>
              <a:t>);</a:t>
            </a:r>
          </a:p>
          <a:p>
            <a:pPr marL="45720"/>
            <a:r>
              <a:rPr lang="en-US" dirty="0">
                <a:solidFill>
                  <a:schemeClr val="tx2"/>
                </a:solidFill>
              </a:rPr>
              <a:t>	</a:t>
            </a:r>
            <a:r>
              <a:rPr lang="en-US" dirty="0" err="1">
                <a:solidFill>
                  <a:schemeClr val="tx2"/>
                </a:solidFill>
              </a:rPr>
              <a:t>myFunction</a:t>
            </a:r>
            <a:r>
              <a:rPr lang="en-US" dirty="0">
                <a:solidFill>
                  <a:schemeClr val="tx2"/>
                </a:solidFill>
              </a:rPr>
              <a:t>(a, ‘E’);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}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356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3379B-9FC1-E105-F2D0-D863F2640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8FC306-BE2A-B130-1FC6-9155B42BB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208" y="467360"/>
            <a:ext cx="9716672" cy="1233424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make some custom functions of our own!</a:t>
            </a:r>
            <a:br>
              <a:rPr lang="en-US" dirty="0"/>
            </a:br>
            <a:r>
              <a:rPr lang="en-US" dirty="0"/>
              <a:t>Also, call these functions from the main function.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0147A-3CAB-E7A6-428F-B1834D6B6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4208" y="1901952"/>
            <a:ext cx="9716672" cy="4127627"/>
          </a:xfrm>
        </p:spPr>
        <p:txBody>
          <a:bodyPr/>
          <a:lstStyle/>
          <a:p>
            <a:r>
              <a:rPr lang="en-US" dirty="0"/>
              <a:t>A function that displays “Hello World”, doesn’t accept or return anything.</a:t>
            </a:r>
          </a:p>
          <a:p>
            <a:r>
              <a:rPr lang="en-US" dirty="0"/>
              <a:t>A function that accepts one integer and return true if it is even, otherwise it returns false.</a:t>
            </a:r>
          </a:p>
          <a:p>
            <a:r>
              <a:rPr lang="en-US" dirty="0"/>
              <a:t>A function that accepts a character, and returns ‘V’ if the character is a vowel, other it returns ‘C’ if the character is a consonant.</a:t>
            </a:r>
          </a:p>
          <a:p>
            <a:r>
              <a:rPr lang="en-US" dirty="0"/>
              <a:t>A function that accepts two float values and returns the larger value.</a:t>
            </a:r>
          </a:p>
          <a:p>
            <a:r>
              <a:rPr lang="en-US" dirty="0"/>
              <a:t>A function that accepts two integers and finds out their sum and returns it.</a:t>
            </a:r>
          </a:p>
          <a:p>
            <a:r>
              <a:rPr lang="en-US" dirty="0"/>
              <a:t>A function that accepts two integers and one character. The if the character is ‘+’, ‘-’, ‘/’ or ‘*’ then it performs that operation on the integers and returns the result. Otherwise, it says ‘invalid operation’</a:t>
            </a:r>
          </a:p>
        </p:txBody>
      </p:sp>
    </p:spTree>
    <p:extLst>
      <p:ext uri="{BB962C8B-B14F-4D97-AF65-F5344CB8AC3E}">
        <p14:creationId xmlns:p14="http://schemas.microsoft.com/office/powerpoint/2010/main" val="3973046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AC1E4-EC0E-EE26-8DE0-B65B7E32C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1ABECF-9E76-2490-E77B-A4898F328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start to get a bit complicated here…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965910-EE5F-E62E-8FBD-F356D93A2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happens if I want to pass an array to a function?</a:t>
            </a:r>
          </a:p>
          <a:p>
            <a:r>
              <a:rPr lang="en-US" dirty="0"/>
              <a:t>What should I pass as an argument?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Before we go there, let’s discuss the concept of:</a:t>
            </a:r>
          </a:p>
          <a:p>
            <a:pPr lvl="1"/>
            <a:r>
              <a:rPr lang="en-US" dirty="0"/>
              <a:t>Pass by value</a:t>
            </a:r>
          </a:p>
          <a:p>
            <a:pPr lvl="1"/>
            <a:r>
              <a:rPr lang="en-US" dirty="0"/>
              <a:t>Pass by reference</a:t>
            </a:r>
          </a:p>
        </p:txBody>
      </p:sp>
    </p:spTree>
    <p:extLst>
      <p:ext uri="{BB962C8B-B14F-4D97-AF65-F5344CB8AC3E}">
        <p14:creationId xmlns:p14="http://schemas.microsoft.com/office/powerpoint/2010/main" val="6406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11A35-2C5D-EAF9-80DD-A2971420C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A7408D-BDB1-85DB-BF6C-7D35077B0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an argument by value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60DC53-0191-C18E-F86A-5C3F326FE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Basically, what we have been doing so far. In the previous example with “</a:t>
            </a:r>
            <a:r>
              <a:rPr lang="en-US" dirty="0" err="1"/>
              <a:t>myFunction</a:t>
            </a:r>
            <a:r>
              <a:rPr lang="en-US" dirty="0"/>
              <a:t>”, during the function call, values of the variables x and </a:t>
            </a:r>
            <a:r>
              <a:rPr lang="en-US" dirty="0" err="1"/>
              <a:t>ch</a:t>
            </a:r>
            <a:r>
              <a:rPr lang="en-US" dirty="0"/>
              <a:t> are being passed.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3933D-E043-51C1-03F8-35317544CEB7}"/>
              </a:ext>
            </a:extLst>
          </p:cNvPr>
          <p:cNvSpPr txBox="1"/>
          <p:nvPr/>
        </p:nvSpPr>
        <p:spPr>
          <a:xfrm>
            <a:off x="1402666" y="3334544"/>
            <a:ext cx="4628857" cy="1200329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void </a:t>
            </a:r>
            <a:r>
              <a:rPr lang="en-US" dirty="0" err="1">
                <a:solidFill>
                  <a:schemeClr val="tx2"/>
                </a:solidFill>
              </a:rPr>
              <a:t>myFunction</a:t>
            </a:r>
            <a:r>
              <a:rPr lang="en-US" dirty="0">
                <a:solidFill>
                  <a:schemeClr val="tx2"/>
                </a:solidFill>
              </a:rPr>
              <a:t>(int a, char c) {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//do something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}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18B079-344C-B78B-E10C-69719418EDDA}"/>
              </a:ext>
            </a:extLst>
          </p:cNvPr>
          <p:cNvSpPr txBox="1"/>
          <p:nvPr/>
        </p:nvSpPr>
        <p:spPr>
          <a:xfrm>
            <a:off x="5969977" y="3334544"/>
            <a:ext cx="4628857" cy="2031325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int main(){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char </a:t>
            </a:r>
            <a:r>
              <a:rPr lang="en-US" dirty="0" err="1">
                <a:solidFill>
                  <a:schemeClr val="tx2"/>
                </a:solidFill>
              </a:rPr>
              <a:t>ch</a:t>
            </a:r>
            <a:r>
              <a:rPr lang="en-US" dirty="0">
                <a:solidFill>
                  <a:schemeClr val="tx2"/>
                </a:solidFill>
              </a:rPr>
              <a:t> = ‘c’;</a:t>
            </a: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int x = 10;</a:t>
            </a:r>
          </a:p>
          <a:p>
            <a:pPr marL="4572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45720" indent="0">
              <a:buNone/>
            </a:pPr>
            <a:r>
              <a:rPr lang="en-US" dirty="0">
                <a:solidFill>
                  <a:schemeClr val="tx2"/>
                </a:solidFill>
              </a:rPr>
              <a:t>	</a:t>
            </a:r>
            <a:r>
              <a:rPr lang="en-US" b="1" dirty="0" err="1">
                <a:solidFill>
                  <a:schemeClr val="tx2"/>
                </a:solidFill>
              </a:rPr>
              <a:t>myFunction</a:t>
            </a:r>
            <a:r>
              <a:rPr lang="en-US" b="1" dirty="0">
                <a:solidFill>
                  <a:schemeClr val="tx2"/>
                </a:solidFill>
              </a:rPr>
              <a:t>(x, </a:t>
            </a:r>
            <a:r>
              <a:rPr lang="en-US" b="1" dirty="0" err="1">
                <a:solidFill>
                  <a:schemeClr val="tx2"/>
                </a:solidFill>
              </a:rPr>
              <a:t>ch</a:t>
            </a:r>
            <a:r>
              <a:rPr lang="en-US" b="1" dirty="0">
                <a:solidFill>
                  <a:schemeClr val="tx2"/>
                </a:solidFill>
              </a:rPr>
              <a:t>);</a:t>
            </a:r>
          </a:p>
          <a:p>
            <a:pPr marL="45720"/>
            <a:r>
              <a:rPr lang="en-US" dirty="0">
                <a:solidFill>
                  <a:schemeClr val="tx2"/>
                </a:solidFill>
              </a:rPr>
              <a:t>	}</a:t>
            </a:r>
          </a:p>
          <a:p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7701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61EA1-FE1F-797F-7FC6-ED29D380A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an Argument by 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4742-4AF6-7BFF-ED13-7D9F096C8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Copy of argument passed to function </a:t>
            </a:r>
          </a:p>
          <a:p>
            <a:r>
              <a:rPr lang="en-US" dirty="0"/>
              <a:t>Changes in function do not affect the original variables</a:t>
            </a:r>
          </a:p>
          <a:p>
            <a:r>
              <a:rPr lang="en-US" dirty="0"/>
              <a:t>Use when the function does not need to modify the argument </a:t>
            </a:r>
          </a:p>
          <a:p>
            <a:r>
              <a:rPr lang="en-US" dirty="0"/>
              <a:t>Avoids accidental changes</a:t>
            </a:r>
          </a:p>
        </p:txBody>
      </p:sp>
    </p:spTree>
    <p:extLst>
      <p:ext uri="{BB962C8B-B14F-4D97-AF65-F5344CB8AC3E}">
        <p14:creationId xmlns:p14="http://schemas.microsoft.com/office/powerpoint/2010/main" val="4260722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B3FC4-DE82-8BB7-8D73-C752078F9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110C5F-B6EC-DA5E-35DF-4C59BD238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an argument by reference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773873-A92C-6F5E-5F82-A8054A854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Here’s where pointers come in to start haunting you again.</a:t>
            </a:r>
          </a:p>
          <a:p>
            <a:r>
              <a:rPr lang="en-US" dirty="0"/>
              <a:t>But don’t worry, it’s not as scary as you may think.</a:t>
            </a:r>
          </a:p>
          <a:p>
            <a:r>
              <a:rPr lang="en-US" dirty="0"/>
              <a:t>Let’s have a look.</a:t>
            </a:r>
          </a:p>
          <a:p>
            <a:endParaRPr lang="en-US" dirty="0"/>
          </a:p>
          <a:p>
            <a:pPr marL="45720" indent="0">
              <a:buNone/>
            </a:pPr>
            <a:r>
              <a:rPr lang="en-US" dirty="0"/>
              <a:t>void function( </a:t>
            </a:r>
            <a:r>
              <a:rPr lang="en-US" b="1" dirty="0"/>
              <a:t>int *p</a:t>
            </a:r>
            <a:r>
              <a:rPr lang="en-US" dirty="0"/>
              <a:t>) {</a:t>
            </a:r>
          </a:p>
          <a:p>
            <a:pPr marL="45720" indent="0">
              <a:buNone/>
            </a:pPr>
            <a:r>
              <a:rPr lang="en-US" dirty="0"/>
              <a:t>	//this change will reflect on ‘x’</a:t>
            </a:r>
          </a:p>
          <a:p>
            <a:pPr marL="45720" indent="0">
              <a:buNone/>
            </a:pPr>
            <a:r>
              <a:rPr lang="en-US" dirty="0"/>
              <a:t>	</a:t>
            </a:r>
            <a:r>
              <a:rPr lang="en-US" b="1" dirty="0"/>
              <a:t>*p = 20;</a:t>
            </a:r>
          </a:p>
          <a:p>
            <a:pPr marL="45720" indent="0">
              <a:buNone/>
            </a:pPr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4311D0-2E44-7BC3-1F97-CC3869A6ECA4}"/>
              </a:ext>
            </a:extLst>
          </p:cNvPr>
          <p:cNvSpPr txBox="1"/>
          <p:nvPr/>
        </p:nvSpPr>
        <p:spPr>
          <a:xfrm>
            <a:off x="6532685" y="3743310"/>
            <a:ext cx="4628857" cy="224676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pPr marL="4572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int main(){</a:t>
            </a:r>
          </a:p>
          <a:p>
            <a:pPr marL="4572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	int x = 10;</a:t>
            </a:r>
          </a:p>
          <a:p>
            <a:pPr marL="4572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	//calling the function</a:t>
            </a:r>
          </a:p>
          <a:p>
            <a:pPr marL="4572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	//passing the address of x</a:t>
            </a:r>
          </a:p>
          <a:p>
            <a:pPr marL="4572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	</a:t>
            </a:r>
            <a:r>
              <a:rPr lang="en-US" sz="2000" b="1" dirty="0">
                <a:solidFill>
                  <a:schemeClr val="tx2"/>
                </a:solidFill>
              </a:rPr>
              <a:t>function(&amp;x);</a:t>
            </a:r>
          </a:p>
          <a:p>
            <a:pPr marL="45720"/>
            <a:r>
              <a:rPr lang="en-US" sz="2000" dirty="0">
                <a:solidFill>
                  <a:schemeClr val="tx2"/>
                </a:solidFill>
              </a:rPr>
              <a:t>	}</a:t>
            </a:r>
          </a:p>
          <a:p>
            <a:endParaRPr lang="en-US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2740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60363-DABF-AD23-AC33-782DFCF4F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visualize the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243F3-7EFC-0674-9134-1C0A86483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120" y="1962091"/>
            <a:ext cx="9509760" cy="41276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x:</a:t>
            </a:r>
          </a:p>
          <a:p>
            <a:endParaRPr lang="en-US" dirty="0"/>
          </a:p>
          <a:p>
            <a:r>
              <a:rPr lang="en-US" dirty="0"/>
              <a:t>When we call ‘</a:t>
            </a:r>
            <a:r>
              <a:rPr lang="en-US" b="1" dirty="0"/>
              <a:t>function(&amp;x);’ </a:t>
            </a:r>
            <a:r>
              <a:rPr lang="en-US" dirty="0"/>
              <a:t>we’re sending address of x to the declaration </a:t>
            </a:r>
            <a:r>
              <a:rPr lang="en-US" b="1" dirty="0"/>
              <a:t>int *p</a:t>
            </a:r>
          </a:p>
          <a:p>
            <a:r>
              <a:rPr lang="en-US" dirty="0"/>
              <a:t>So basically, </a:t>
            </a:r>
            <a:r>
              <a:rPr lang="en-US" b="1" dirty="0"/>
              <a:t>“int* p = &amp;x” </a:t>
            </a:r>
            <a:r>
              <a:rPr lang="en-US" dirty="0"/>
              <a:t>is going on in the background.</a:t>
            </a:r>
          </a:p>
          <a:p>
            <a:r>
              <a:rPr lang="en-US" dirty="0"/>
              <a:t>p:</a:t>
            </a:r>
          </a:p>
          <a:p>
            <a:endParaRPr lang="en-US" dirty="0"/>
          </a:p>
          <a:p>
            <a:r>
              <a:rPr lang="en-US" dirty="0"/>
              <a:t>So, when we say *p, we have something like </a:t>
            </a:r>
            <a:r>
              <a:rPr lang="en-US" b="1" dirty="0"/>
              <a:t>“*(100)” </a:t>
            </a:r>
            <a:r>
              <a:rPr lang="en-US" dirty="0"/>
              <a:t>being calculated.</a:t>
            </a:r>
          </a:p>
          <a:p>
            <a:r>
              <a:rPr lang="en-US" dirty="0"/>
              <a:t>And</a:t>
            </a:r>
            <a:r>
              <a:rPr lang="en-US" b="1" dirty="0"/>
              <a:t> “*p = 20;” </a:t>
            </a:r>
            <a:r>
              <a:rPr lang="en-US" dirty="0"/>
              <a:t>means: go to </a:t>
            </a:r>
            <a:r>
              <a:rPr lang="en-US" b="1" dirty="0"/>
              <a:t>*(100) </a:t>
            </a:r>
            <a:r>
              <a:rPr lang="en-US" dirty="0"/>
              <a:t>and write </a:t>
            </a:r>
            <a:r>
              <a:rPr lang="en-US" b="1" dirty="0"/>
              <a:t>20</a:t>
            </a:r>
            <a:r>
              <a:rPr lang="en-US" dirty="0"/>
              <a:t> there.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670FA1-5105-0891-0168-94ED5CEB28D5}"/>
              </a:ext>
            </a:extLst>
          </p:cNvPr>
          <p:cNvSpPr/>
          <p:nvPr/>
        </p:nvSpPr>
        <p:spPr>
          <a:xfrm>
            <a:off x="2127739" y="2022231"/>
            <a:ext cx="756138" cy="650631"/>
          </a:xfrm>
          <a:prstGeom prst="round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235117-F616-AC1A-1112-B74BC88C81F0}"/>
              </a:ext>
            </a:extLst>
          </p:cNvPr>
          <p:cNvSpPr/>
          <p:nvPr/>
        </p:nvSpPr>
        <p:spPr>
          <a:xfrm>
            <a:off x="2127739" y="4126299"/>
            <a:ext cx="756138" cy="650631"/>
          </a:xfrm>
          <a:prstGeom prst="round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100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280B0-F447-6F2E-4896-ACC52DA055D9}"/>
              </a:ext>
            </a:extLst>
          </p:cNvPr>
          <p:cNvSpPr txBox="1"/>
          <p:nvPr/>
        </p:nvSpPr>
        <p:spPr>
          <a:xfrm>
            <a:off x="2637691" y="2162880"/>
            <a:ext cx="3754317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/>
              <a:t>Let’s say address of x is 100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EE18618-8E75-F452-1277-1D9E10BED161}"/>
              </a:ext>
            </a:extLst>
          </p:cNvPr>
          <p:cNvSpPr/>
          <p:nvPr/>
        </p:nvSpPr>
        <p:spPr>
          <a:xfrm>
            <a:off x="2672862" y="2635317"/>
            <a:ext cx="4985238" cy="2429052"/>
          </a:xfrm>
          <a:custGeom>
            <a:avLst/>
            <a:gdLst>
              <a:gd name="connsiteX0" fmla="*/ 4985238 w 4985238"/>
              <a:gd name="connsiteY0" fmla="*/ 2429052 h 2429052"/>
              <a:gd name="connsiteX1" fmla="*/ 2198076 w 4985238"/>
              <a:gd name="connsiteY1" fmla="*/ 2015814 h 2429052"/>
              <a:gd name="connsiteX2" fmla="*/ 1617784 w 4985238"/>
              <a:gd name="connsiteY2" fmla="*/ 99091 h 2429052"/>
              <a:gd name="connsiteX3" fmla="*/ 281353 w 4985238"/>
              <a:gd name="connsiteY3" fmla="*/ 248560 h 2429052"/>
              <a:gd name="connsiteX4" fmla="*/ 0 w 4985238"/>
              <a:gd name="connsiteY4" fmla="*/ 19960 h 2429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85238" h="2429052">
                <a:moveTo>
                  <a:pt x="4985238" y="2429052"/>
                </a:moveTo>
                <a:cubicBezTo>
                  <a:pt x="3872278" y="2416596"/>
                  <a:pt x="2759318" y="2404141"/>
                  <a:pt x="2198076" y="2015814"/>
                </a:cubicBezTo>
                <a:cubicBezTo>
                  <a:pt x="1636834" y="1627487"/>
                  <a:pt x="1937238" y="393633"/>
                  <a:pt x="1617784" y="99091"/>
                </a:cubicBezTo>
                <a:cubicBezTo>
                  <a:pt x="1298330" y="-195451"/>
                  <a:pt x="550984" y="261748"/>
                  <a:pt x="281353" y="248560"/>
                </a:cubicBezTo>
                <a:cubicBezTo>
                  <a:pt x="11722" y="235372"/>
                  <a:pt x="14654" y="68318"/>
                  <a:pt x="0" y="19960"/>
                </a:cubicBezTo>
              </a:path>
            </a:pathLst>
          </a:cu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2D35F664-932A-42D1-69B2-985A8DBF72C1}"/>
              </a:ext>
            </a:extLst>
          </p:cNvPr>
          <p:cNvSpPr/>
          <p:nvPr/>
        </p:nvSpPr>
        <p:spPr>
          <a:xfrm rot="20173795">
            <a:off x="2548130" y="2509214"/>
            <a:ext cx="195263" cy="198371"/>
          </a:xfrm>
          <a:prstGeom prst="triangl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93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179DF-F8DE-42E2-128F-A0A0C72E8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304A64-5C1B-FA88-88FC-9755A943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an argument by reference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6C5EE3-FE4F-3F38-A248-1F2937205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Passes original argument </a:t>
            </a:r>
          </a:p>
          <a:p>
            <a:r>
              <a:rPr lang="en-US" dirty="0"/>
              <a:t>Changes in function effect original </a:t>
            </a:r>
          </a:p>
          <a:p>
            <a:r>
              <a:rPr lang="en-US" dirty="0"/>
              <a:t>Only used with trusted functions</a:t>
            </a:r>
          </a:p>
        </p:txBody>
      </p:sp>
    </p:spTree>
    <p:extLst>
      <p:ext uri="{BB962C8B-B14F-4D97-AF65-F5344CB8AC3E}">
        <p14:creationId xmlns:p14="http://schemas.microsoft.com/office/powerpoint/2010/main" val="245945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51671-DAC7-50A0-4EA1-92CA8801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the Original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47B79-EE46-8DA4-DF2A-F214747E0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we pass arrays as arguments?</a:t>
            </a:r>
          </a:p>
          <a:p>
            <a:r>
              <a:rPr lang="en-US" dirty="0"/>
              <a:t>There’s two ways to send an array as an argument:</a:t>
            </a:r>
          </a:p>
          <a:p>
            <a:pPr lvl="1"/>
            <a:r>
              <a:rPr lang="en-US" dirty="0"/>
              <a:t>Passing the array by reference</a:t>
            </a:r>
          </a:p>
          <a:p>
            <a:pPr lvl="1"/>
            <a:r>
              <a:rPr lang="en-US" dirty="0"/>
              <a:t>… or the easy way!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845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FD728-77E0-A8A7-7A6C-EE823CF95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Look at the Easy Way first!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2CFD5-95E8-69D7-F27A-726846573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120" y="1901952"/>
            <a:ext cx="4576103" cy="4127627"/>
          </a:xfrm>
        </p:spPr>
        <p:txBody>
          <a:bodyPr/>
          <a:lstStyle/>
          <a:p>
            <a:pPr marL="45720" indent="0">
              <a:buNone/>
            </a:pPr>
            <a:r>
              <a:rPr lang="en-US" dirty="0"/>
              <a:t>void display1D(int </a:t>
            </a:r>
            <a:r>
              <a:rPr lang="en-US" dirty="0" err="1"/>
              <a:t>arr</a:t>
            </a:r>
            <a:r>
              <a:rPr lang="en-US" dirty="0"/>
              <a:t>[], int size) {</a:t>
            </a:r>
          </a:p>
          <a:p>
            <a:pPr marL="45720" indent="0">
              <a:buNone/>
            </a:pPr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&lt; size;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45720" indent="0">
              <a:buNone/>
            </a:pPr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("%d ",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]);</a:t>
            </a:r>
          </a:p>
          <a:p>
            <a:pPr marL="45720" indent="0">
              <a:buNone/>
            </a:pPr>
            <a:r>
              <a:rPr lang="en-US" dirty="0"/>
              <a:t>	}</a:t>
            </a:r>
          </a:p>
          <a:p>
            <a:pPr marL="45720" indent="0">
              <a:buNone/>
            </a:pPr>
            <a:r>
              <a:rPr lang="en-US" dirty="0"/>
              <a:t>	</a:t>
            </a:r>
          </a:p>
          <a:p>
            <a:pPr marL="45720" indent="0">
              <a:buNone/>
            </a:pPr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("\n");</a:t>
            </a:r>
          </a:p>
          <a:p>
            <a:pPr marL="4572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286165-0587-AD6C-9D69-712FDF111E77}"/>
              </a:ext>
            </a:extLst>
          </p:cNvPr>
          <p:cNvSpPr txBox="1"/>
          <p:nvPr/>
        </p:nvSpPr>
        <p:spPr>
          <a:xfrm>
            <a:off x="5917223" y="1901952"/>
            <a:ext cx="6011008" cy="230832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int main() {</a:t>
            </a:r>
          </a:p>
          <a:p>
            <a:r>
              <a:rPr lang="en-US" dirty="0">
                <a:solidFill>
                  <a:schemeClr val="tx2"/>
                </a:solidFill>
              </a:rPr>
              <a:t>	int arr1D[] = {11, 22, 33, 44, 55, 66, 77, 88, 99, 			111};</a:t>
            </a:r>
          </a:p>
          <a:p>
            <a:r>
              <a:rPr lang="en-US" dirty="0">
                <a:solidFill>
                  <a:schemeClr val="tx2"/>
                </a:solidFill>
              </a:rPr>
              <a:t>	int arr1D_size5[5] = {1, 2, 3, 4, 5};</a:t>
            </a:r>
          </a:p>
          <a:p>
            <a:r>
              <a:rPr lang="en-US" dirty="0">
                <a:solidFill>
                  <a:schemeClr val="tx2"/>
                </a:solidFill>
              </a:rPr>
              <a:t>	</a:t>
            </a:r>
          </a:p>
          <a:p>
            <a:r>
              <a:rPr lang="en-US" dirty="0">
                <a:solidFill>
                  <a:schemeClr val="tx2"/>
                </a:solidFill>
              </a:rPr>
              <a:t>	display1D(arr1D, </a:t>
            </a:r>
            <a:r>
              <a:rPr lang="en-US" dirty="0" err="1">
                <a:solidFill>
                  <a:schemeClr val="tx2"/>
                </a:solidFill>
              </a:rPr>
              <a:t>sizeof</a:t>
            </a:r>
            <a:r>
              <a:rPr lang="en-US" dirty="0">
                <a:solidFill>
                  <a:schemeClr val="tx2"/>
                </a:solidFill>
              </a:rPr>
              <a:t>(arr1D)/4);</a:t>
            </a:r>
          </a:p>
          <a:p>
            <a:r>
              <a:rPr lang="en-US" dirty="0">
                <a:solidFill>
                  <a:schemeClr val="tx2"/>
                </a:solidFill>
              </a:rPr>
              <a:t>	display1D(arr1D_size5, </a:t>
            </a:r>
            <a:r>
              <a:rPr lang="en-US" dirty="0" err="1">
                <a:solidFill>
                  <a:schemeClr val="tx2"/>
                </a:solidFill>
              </a:rPr>
              <a:t>sizeof</a:t>
            </a:r>
            <a:r>
              <a:rPr lang="en-US" dirty="0">
                <a:solidFill>
                  <a:schemeClr val="tx2"/>
                </a:solidFill>
              </a:rPr>
              <a:t>(arr1D_size5)/4);</a:t>
            </a:r>
          </a:p>
          <a:p>
            <a:r>
              <a:rPr lang="en-US" dirty="0">
                <a:solidFill>
                  <a:schemeClr val="tx2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25932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B61A-D4B3-6289-18E2-47FB20B96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now, the pointers…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BA494-F145-6C7D-D2BF-84810A8DB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120" y="1901952"/>
            <a:ext cx="9509760" cy="463179"/>
          </a:xfrm>
        </p:spPr>
        <p:txBody>
          <a:bodyPr/>
          <a:lstStyle/>
          <a:p>
            <a:r>
              <a:rPr lang="en-US" dirty="0"/>
              <a:t>It’s actually not that difficult :D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A1985CE-FC10-6AEC-9D0D-2734DB6AD719}"/>
              </a:ext>
            </a:extLst>
          </p:cNvPr>
          <p:cNvSpPr txBox="1">
            <a:spLocks/>
          </p:cNvSpPr>
          <p:nvPr/>
        </p:nvSpPr>
        <p:spPr>
          <a:xfrm>
            <a:off x="1341120" y="2429056"/>
            <a:ext cx="4576103" cy="41276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74320" indent="-22860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9436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3444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55448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87452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9456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14600" indent="-22860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Char char="o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606040" indent="0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2">
                  <a:lumMod val="75000"/>
                </a:schemeClr>
              </a:buClr>
              <a:buSzPct val="80000"/>
              <a:buFont typeface="Courier New" panose="02070309020205020404" pitchFamily="49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void display1D(int* </a:t>
            </a:r>
            <a:r>
              <a:rPr lang="en-US" dirty="0" err="1"/>
              <a:t>arr</a:t>
            </a:r>
            <a:r>
              <a:rPr lang="en-US" dirty="0"/>
              <a:t>, int size) {</a:t>
            </a:r>
          </a:p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&lt; size;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("%d ", </a:t>
            </a:r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]);</a:t>
            </a:r>
          </a:p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	}</a:t>
            </a:r>
          </a:p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	</a:t>
            </a:r>
          </a:p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("\n");</a:t>
            </a:r>
          </a:p>
          <a:p>
            <a:pPr marL="45720" indent="0">
              <a:buFont typeface="Courier New" panose="02070309020205020404" pitchFamily="49" charset="0"/>
              <a:buNone/>
            </a:pPr>
            <a:r>
              <a:rPr lang="en-US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31BC99-6190-7BC1-9FCD-4470935A5532}"/>
              </a:ext>
            </a:extLst>
          </p:cNvPr>
          <p:cNvSpPr txBox="1"/>
          <p:nvPr/>
        </p:nvSpPr>
        <p:spPr>
          <a:xfrm>
            <a:off x="5917223" y="2499829"/>
            <a:ext cx="6011008" cy="230832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int main() {</a:t>
            </a:r>
          </a:p>
          <a:p>
            <a:r>
              <a:rPr lang="en-US" dirty="0">
                <a:solidFill>
                  <a:schemeClr val="tx2"/>
                </a:solidFill>
              </a:rPr>
              <a:t>	int arr1D[] = {11, 22, 33, 44, 55, 66, 77, 88, 99, 			111};</a:t>
            </a:r>
          </a:p>
          <a:p>
            <a:r>
              <a:rPr lang="en-US" dirty="0">
                <a:solidFill>
                  <a:schemeClr val="tx2"/>
                </a:solidFill>
              </a:rPr>
              <a:t>	int arr1D_size5[5] = {1, 2, 3, 4, 5};</a:t>
            </a:r>
          </a:p>
          <a:p>
            <a:r>
              <a:rPr lang="en-US" dirty="0">
                <a:solidFill>
                  <a:schemeClr val="tx2"/>
                </a:solidFill>
              </a:rPr>
              <a:t>	</a:t>
            </a:r>
          </a:p>
          <a:p>
            <a:r>
              <a:rPr lang="en-US" dirty="0">
                <a:solidFill>
                  <a:schemeClr val="tx2"/>
                </a:solidFill>
              </a:rPr>
              <a:t>	display1D(arr1D, </a:t>
            </a:r>
            <a:r>
              <a:rPr lang="en-US" dirty="0" err="1">
                <a:solidFill>
                  <a:schemeClr val="tx2"/>
                </a:solidFill>
              </a:rPr>
              <a:t>sizeof</a:t>
            </a:r>
            <a:r>
              <a:rPr lang="en-US" dirty="0">
                <a:solidFill>
                  <a:schemeClr val="tx2"/>
                </a:solidFill>
              </a:rPr>
              <a:t>(arr1D)/4);</a:t>
            </a:r>
          </a:p>
          <a:p>
            <a:r>
              <a:rPr lang="en-US" dirty="0">
                <a:solidFill>
                  <a:schemeClr val="tx2"/>
                </a:solidFill>
              </a:rPr>
              <a:t>	display1D(arr1D_size5, </a:t>
            </a:r>
            <a:r>
              <a:rPr lang="en-US" dirty="0" err="1">
                <a:solidFill>
                  <a:schemeClr val="tx2"/>
                </a:solidFill>
              </a:rPr>
              <a:t>sizeof</a:t>
            </a:r>
            <a:r>
              <a:rPr lang="en-US" dirty="0">
                <a:solidFill>
                  <a:schemeClr val="tx2"/>
                </a:solidFill>
              </a:rPr>
              <a:t>(arr1D_size5)/4);</a:t>
            </a:r>
          </a:p>
          <a:p>
            <a:r>
              <a:rPr lang="en-US" dirty="0">
                <a:solidFill>
                  <a:schemeClr val="tx2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38319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0E891-0C32-EC59-209A-665B2AFB0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2D Arrays to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6E2EC-42FA-4CA0-39BD-67CF56980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12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4A7CB-686E-6644-35E0-5B78CF97F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DDF96-9AB4-EE4C-16D9-EEF0AA555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2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093A9-E4D3-1766-C98B-D843BB3C5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DEF4-72DA-17FF-90C2-5F3A769A2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734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7C081-9959-AC3F-96BA-8464AC55D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C17C7-FD48-1E6C-A642-21E3DF090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833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3FEDE-844A-572C-EB71-75CDA134B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89855-BD70-523F-0A56-CE15385E0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34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0FBC-BB0C-D96C-0827-58264F929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1C4C0-88E0-893C-DA31-EBBFB2DB5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Fin.</a:t>
            </a:r>
          </a:p>
        </p:txBody>
      </p:sp>
    </p:spTree>
    <p:extLst>
      <p:ext uri="{BB962C8B-B14F-4D97-AF65-F5344CB8AC3E}">
        <p14:creationId xmlns:p14="http://schemas.microsoft.com/office/powerpoint/2010/main" val="215628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Bubbles design templat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alpha val="80000"/>
              </a:schemeClr>
            </a:gs>
            <a:gs pos="0">
              <a:schemeClr val="phClr">
                <a:lumMod val="40000"/>
                <a:lumOff val="60000"/>
                <a:alpha val="80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lumMod val="20000"/>
                <a:lumOff val="80000"/>
                <a:alpha val="59000"/>
              </a:schemeClr>
            </a:gs>
            <a:gs pos="40000">
              <a:schemeClr val="phClr">
                <a:lumMod val="20000"/>
                <a:lumOff val="80000"/>
                <a:alpha val="66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path path="circle">
            <a:fillToRect l="50000" t="-80000" r="50000" b="180000"/>
          </a:path>
        </a:gradFill>
      </a:bgFillStyleLst>
    </a:fmtScheme>
  </a:themeElements>
  <a:objectDefaults>
    <a:spDef>
      <a:spPr/>
      <a:bodyPr rtlCol="0" anchor="ctr"/>
      <a:lstStyle>
        <a:defPPr algn="ctr">
          <a:defRPr dirty="0"/>
        </a:defPPr>
      </a:lstStyle>
      <a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Bubbles design slides.potx" id="{791C1007-8C16-4095-A382-97B1C9AA36B9}" vid="{20473F13-1D64-4A4A-9CE1-7C3468AE82BE}"/>
    </a:ext>
  </a:extLst>
</a:theme>
</file>

<file path=ppt/theme/theme2.xml><?xml version="1.0" encoding="utf-8"?>
<a:theme xmlns:a="http://schemas.openxmlformats.org/drawingml/2006/main" name="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Bubbles design slides</Template>
  <TotalTime>746</TotalTime>
  <Words>1558</Words>
  <Application>Microsoft Office PowerPoint</Application>
  <PresentationFormat>Widescreen</PresentationFormat>
  <Paragraphs>214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Century Gothic</vt:lpstr>
      <vt:lpstr>Courier New</vt:lpstr>
      <vt:lpstr>Bubbles design template</vt:lpstr>
      <vt:lpstr>Programming Fundamentals</vt:lpstr>
      <vt:lpstr>Multi-Dimensional Arrays</vt:lpstr>
      <vt:lpstr>Visualizing 3D - Arrays</vt:lpstr>
      <vt:lpstr>Scope of a Variable</vt:lpstr>
      <vt:lpstr>An Example (see the .c on GitHub for a commented version)</vt:lpstr>
      <vt:lpstr>Functions</vt:lpstr>
      <vt:lpstr>Let’s have a look at the main function</vt:lpstr>
      <vt:lpstr>printf and scanf are functions…</vt:lpstr>
      <vt:lpstr>What can you pass to a function when calling it?</vt:lpstr>
      <vt:lpstr>Let’s make some custom functions of our own! Also, call these functions from the main function.</vt:lpstr>
      <vt:lpstr>Things start to get a bit complicated here…</vt:lpstr>
      <vt:lpstr>Passing an argument by value</vt:lpstr>
      <vt:lpstr>Passing an Argument by Value</vt:lpstr>
      <vt:lpstr>Passing an argument by reference</vt:lpstr>
      <vt:lpstr>Let’s visualize the example</vt:lpstr>
      <vt:lpstr>Passing an argument by reference</vt:lpstr>
      <vt:lpstr>Back to the Original Question</vt:lpstr>
      <vt:lpstr>Let’s Look at the Easy Way first!</vt:lpstr>
      <vt:lpstr>And now, the pointers…</vt:lpstr>
      <vt:lpstr>Passing 2D Arrays to Functions</vt:lpstr>
      <vt:lpstr>PowerPoint Presentation</vt:lpstr>
      <vt:lpstr>PowerPoint Presentation</vt:lpstr>
      <vt:lpstr>PowerPoint Presentation</vt:lpstr>
      <vt:lpstr>PowerPoint Presentation</vt:lpstr>
      <vt:lpstr>Fin.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Abeeha Sattar</dc:creator>
  <cp:lastModifiedBy>Abeeha Sattar</cp:lastModifiedBy>
  <cp:revision>80</cp:revision>
  <dcterms:created xsi:type="dcterms:W3CDTF">2025-08-15T04:59:41Z</dcterms:created>
  <dcterms:modified xsi:type="dcterms:W3CDTF">2025-10-30T10:54:40Z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74069200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