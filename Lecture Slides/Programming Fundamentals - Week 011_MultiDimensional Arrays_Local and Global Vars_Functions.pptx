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26"/>
  </p:notesMasterIdLst>
  <p:handoutMasterIdLst>
    <p:handoutMasterId r:id="rId27"/>
  </p:handoutMasterIdLst>
  <p:sldIdLst>
    <p:sldId id="256" r:id="rId2"/>
    <p:sldId id="265" r:id="rId3"/>
    <p:sldId id="266" r:id="rId4"/>
    <p:sldId id="267" r:id="rId5"/>
    <p:sldId id="268" r:id="rId6"/>
    <p:sldId id="269" r:id="rId7"/>
    <p:sldId id="271" r:id="rId8"/>
    <p:sldId id="270" r:id="rId9"/>
    <p:sldId id="277" r:id="rId10"/>
    <p:sldId id="272" r:id="rId11"/>
    <p:sldId id="273" r:id="rId12"/>
    <p:sldId id="274" r:id="rId13"/>
    <p:sldId id="278" r:id="rId14"/>
    <p:sldId id="275" r:id="rId15"/>
    <p:sldId id="279" r:id="rId16"/>
    <p:sldId id="276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11/17/2025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11/17/2025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11/17/2025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evinsguides.com/guides/code/java/javaintro/ch11-2d-3d-array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Fundamentals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– 01</a:t>
            </a:r>
          </a:p>
          <a:p>
            <a:endParaRPr lang="en-US" dirty="0"/>
          </a:p>
          <a:p>
            <a:r>
              <a:rPr lang="en-US" sz="1400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7ABB4F-BD11-E58E-FA8D-0334E310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Multi-Dimensional Arrays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D59002-001F-EE5A-4B17-3BB31B633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done 1-D and 2-D arrays so far.</a:t>
            </a:r>
          </a:p>
          <a:p>
            <a:r>
              <a:rPr lang="en-US" dirty="0"/>
              <a:t>By adding another [] to our array declaration, we can add more dimensions to our array.</a:t>
            </a:r>
          </a:p>
          <a:p>
            <a:r>
              <a:rPr lang="en-US" dirty="0"/>
              <a:t>int array[3][3][3]; //will make a 3-D integer array</a:t>
            </a:r>
          </a:p>
          <a:p>
            <a:r>
              <a:rPr lang="en-US" dirty="0"/>
              <a:t>char </a:t>
            </a:r>
            <a:r>
              <a:rPr lang="en-US" dirty="0" err="1"/>
              <a:t>myStrs</a:t>
            </a:r>
            <a:r>
              <a:rPr lang="en-US" dirty="0"/>
              <a:t>[3][3][3][3]; //will make a 4-D character array.</a:t>
            </a:r>
          </a:p>
        </p:txBody>
      </p:sp>
    </p:spTree>
    <p:extLst>
      <p:ext uri="{BB962C8B-B14F-4D97-AF65-F5344CB8AC3E}">
        <p14:creationId xmlns:p14="http://schemas.microsoft.com/office/powerpoint/2010/main" val="3370671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7D27-72B1-9884-EAD2-7EA01135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0D8687-E5FD-1614-53E4-3AE5012E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860" y="87208"/>
            <a:ext cx="5288279" cy="666848"/>
          </a:xfrm>
        </p:spPr>
        <p:txBody>
          <a:bodyPr/>
          <a:lstStyle/>
          <a:p>
            <a:r>
              <a:rPr lang="en-US" dirty="0"/>
              <a:t>Visualizing 3D - Arrays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FE2589-8185-4739-4F35-EC0078894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5976" y="1755249"/>
            <a:ext cx="8720048" cy="5102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FD84E5-D5C4-2D52-A25F-B26D1EE6EB5D}"/>
              </a:ext>
            </a:extLst>
          </p:cNvPr>
          <p:cNvSpPr txBox="1"/>
          <p:nvPr/>
        </p:nvSpPr>
        <p:spPr>
          <a:xfrm>
            <a:off x="1735976" y="754056"/>
            <a:ext cx="872004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https://kevinsguides.com/guides/code/java/javaintro/ch11-2d-3d-arrays/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22E2CD-90E5-3574-6CAC-EA6223033955}"/>
              </a:ext>
            </a:extLst>
          </p:cNvPr>
          <p:cNvSpPr txBox="1"/>
          <p:nvPr/>
        </p:nvSpPr>
        <p:spPr>
          <a:xfrm>
            <a:off x="1735976" y="1143905"/>
            <a:ext cx="8720048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You can read the guide if you want. The code is in java however, you can ask ChatGPT or any other tool to convert it into C code.</a:t>
            </a:r>
          </a:p>
        </p:txBody>
      </p:sp>
    </p:spTree>
    <p:extLst>
      <p:ext uri="{BB962C8B-B14F-4D97-AF65-F5344CB8AC3E}">
        <p14:creationId xmlns:p14="http://schemas.microsoft.com/office/powerpoint/2010/main" val="255158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38D09-D65B-58F9-2138-D39F1748A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F43417-022A-D4A9-2C92-9EB01807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895448"/>
          </a:xfrm>
        </p:spPr>
        <p:txBody>
          <a:bodyPr/>
          <a:lstStyle/>
          <a:p>
            <a:r>
              <a:rPr lang="en-US" dirty="0"/>
              <a:t>Scope of a Variable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99B752-8F6B-BCDB-0E19-AC0E4A33D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479922"/>
            <a:ext cx="9509760" cy="5043970"/>
          </a:xfrm>
        </p:spPr>
        <p:txBody>
          <a:bodyPr>
            <a:normAutofit/>
          </a:bodyPr>
          <a:lstStyle/>
          <a:p>
            <a:r>
              <a:rPr lang="en-US" dirty="0"/>
              <a:t>A variable can be:</a:t>
            </a:r>
          </a:p>
          <a:p>
            <a:pPr lvl="1"/>
            <a:r>
              <a:rPr lang="en-US" sz="2000" dirty="0"/>
              <a:t>Global </a:t>
            </a:r>
          </a:p>
          <a:p>
            <a:pPr lvl="2"/>
            <a:r>
              <a:rPr lang="en-US" sz="1800" dirty="0"/>
              <a:t>If a variable exists outside of a function, then it is a global variable.</a:t>
            </a:r>
          </a:p>
          <a:p>
            <a:pPr lvl="2"/>
            <a:r>
              <a:rPr lang="en-US" sz="1800" dirty="0"/>
              <a:t>This means that you can access it anywhere.</a:t>
            </a:r>
          </a:p>
          <a:p>
            <a:pPr lvl="1"/>
            <a:r>
              <a:rPr lang="en-US" sz="2000" dirty="0"/>
              <a:t>Local</a:t>
            </a:r>
          </a:p>
          <a:p>
            <a:pPr lvl="2"/>
            <a:r>
              <a:rPr lang="en-US" sz="1800" dirty="0"/>
              <a:t>If a variable exists within a code block, then the variable is local to that code block.</a:t>
            </a:r>
          </a:p>
          <a:p>
            <a:pPr lvl="2"/>
            <a:r>
              <a:rPr lang="en-US" sz="1800" dirty="0"/>
              <a:t>You cannot access that variable outside that code block.</a:t>
            </a:r>
          </a:p>
          <a:p>
            <a:pPr lvl="2"/>
            <a:r>
              <a:rPr lang="en-US" sz="1800" dirty="0"/>
              <a:t>Code Blocks:</a:t>
            </a:r>
          </a:p>
          <a:p>
            <a:pPr lvl="3"/>
            <a:r>
              <a:rPr lang="en-US" sz="1600" dirty="0"/>
              <a:t>For loop is a code block. </a:t>
            </a:r>
          </a:p>
          <a:p>
            <a:pPr lvl="3"/>
            <a:r>
              <a:rPr lang="en-US" sz="1600" dirty="0"/>
              <a:t>The if-block is a code block. </a:t>
            </a:r>
          </a:p>
          <a:p>
            <a:pPr lvl="3"/>
            <a:r>
              <a:rPr lang="en-US" sz="1600" dirty="0"/>
              <a:t>The else-block is a code block. </a:t>
            </a:r>
          </a:p>
          <a:p>
            <a:pPr lvl="3"/>
            <a:r>
              <a:rPr lang="en-US" sz="1600" dirty="0"/>
              <a:t>A function is a code block. </a:t>
            </a:r>
          </a:p>
          <a:p>
            <a:pPr lvl="3"/>
            <a:r>
              <a:rPr lang="en-US" sz="1600" dirty="0"/>
              <a:t>Anything within curly brackets is a code block.</a:t>
            </a:r>
          </a:p>
        </p:txBody>
      </p:sp>
    </p:spTree>
    <p:extLst>
      <p:ext uri="{BB962C8B-B14F-4D97-AF65-F5344CB8AC3E}">
        <p14:creationId xmlns:p14="http://schemas.microsoft.com/office/powerpoint/2010/main" val="408214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508B4-7EAE-1620-CE3C-2C0CAE92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605D81-3F99-431A-F4A5-E3394031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422"/>
            <a:ext cx="11878408" cy="772355"/>
          </a:xfrm>
        </p:spPr>
        <p:txBody>
          <a:bodyPr>
            <a:normAutofit fontScale="90000"/>
          </a:bodyPr>
          <a:lstStyle/>
          <a:p>
            <a:r>
              <a:rPr lang="en-US" dirty="0"/>
              <a:t>An Example (see the .c on GitHub for a commented version)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83A3F8-A69F-5F7D-1250-7F6E546EC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6285"/>
            <a:ext cx="12191999" cy="5811715"/>
          </a:xfrm>
          <a:solidFill>
            <a:schemeClr val="accent1">
              <a:lumMod val="20000"/>
              <a:lumOff val="80000"/>
            </a:schemeClr>
          </a:solidFill>
        </p:spPr>
        <p:txBody>
          <a:bodyPr numCol="3">
            <a:normAutofit/>
          </a:bodyPr>
          <a:lstStyle/>
          <a:p>
            <a:pPr marL="45720" indent="0">
              <a:buNone/>
            </a:pPr>
            <a:r>
              <a:rPr lang="en-US" sz="1400" dirty="0"/>
              <a:t>int </a:t>
            </a:r>
            <a:r>
              <a:rPr lang="en-US" sz="1400" dirty="0" err="1"/>
              <a:t>globalInt</a:t>
            </a:r>
            <a:r>
              <a:rPr lang="en-US" sz="1400" dirty="0"/>
              <a:t> = 0;</a:t>
            </a:r>
          </a:p>
          <a:p>
            <a:pPr marL="45720" indent="0">
              <a:buNone/>
            </a:pPr>
            <a:r>
              <a:rPr lang="en-US" sz="1400" dirty="0"/>
              <a:t>char </a:t>
            </a:r>
            <a:r>
              <a:rPr lang="en-US" sz="1400" dirty="0" err="1"/>
              <a:t>globalChar</a:t>
            </a:r>
            <a:r>
              <a:rPr lang="en-US" sz="1400" dirty="0"/>
              <a:t> = 'c';</a:t>
            </a:r>
          </a:p>
          <a:p>
            <a:pPr marL="45720" indent="0">
              <a:buNone/>
            </a:pPr>
            <a:r>
              <a:rPr lang="en-US" sz="1400" dirty="0"/>
              <a:t>int main() {</a:t>
            </a:r>
          </a:p>
          <a:p>
            <a:pPr marL="45720" indent="0">
              <a:buNone/>
            </a:pPr>
            <a:r>
              <a:rPr lang="en-US" sz="1400" dirty="0"/>
              <a:t>    int </a:t>
            </a:r>
            <a:r>
              <a:rPr lang="en-US" sz="1400" dirty="0" err="1"/>
              <a:t>localInt</a:t>
            </a:r>
            <a:r>
              <a:rPr lang="en-US" sz="1400" dirty="0"/>
              <a:t> = 10;</a:t>
            </a:r>
          </a:p>
          <a:p>
            <a:pPr marL="45720" indent="0">
              <a:buNone/>
            </a:pPr>
            <a:r>
              <a:rPr lang="en-US" sz="1400" dirty="0"/>
              <a:t>    char </a:t>
            </a:r>
            <a:r>
              <a:rPr lang="en-US" sz="1400" dirty="0" err="1"/>
              <a:t>localChar</a:t>
            </a:r>
            <a:r>
              <a:rPr lang="en-US" sz="1400" dirty="0"/>
              <a:t> = 'e';</a:t>
            </a:r>
          </a:p>
          <a:p>
            <a:pPr marL="45720" indent="0">
              <a:buNone/>
            </a:pPr>
            <a:r>
              <a:rPr lang="en-US" sz="1400" dirty="0"/>
              <a:t>    if(</a:t>
            </a:r>
            <a:r>
              <a:rPr lang="en-US" sz="1400" dirty="0" err="1"/>
              <a:t>localInt</a:t>
            </a:r>
            <a:r>
              <a:rPr lang="en-US" sz="1400" dirty="0"/>
              <a:t> == 10) {</a:t>
            </a:r>
          </a:p>
          <a:p>
            <a:pPr marL="45720" indent="0">
              <a:buNone/>
            </a:pPr>
            <a:r>
              <a:rPr lang="en-US" sz="1400" dirty="0"/>
              <a:t>        int </a:t>
            </a:r>
            <a:r>
              <a:rPr lang="en-US" sz="1400" dirty="0" err="1"/>
              <a:t>localToIf</a:t>
            </a:r>
            <a:r>
              <a:rPr lang="en-US" sz="1400" dirty="0"/>
              <a:t> = 20;</a:t>
            </a:r>
          </a:p>
          <a:p>
            <a:pPr marL="4572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localToIf</a:t>
            </a:r>
            <a:r>
              <a:rPr lang="en-US" sz="1400" dirty="0"/>
              <a:t> = </a:t>
            </a:r>
            <a:r>
              <a:rPr lang="en-US" sz="1400" dirty="0" err="1"/>
              <a:t>localInt</a:t>
            </a:r>
            <a:r>
              <a:rPr lang="en-US" sz="1400" dirty="0"/>
              <a:t>; </a:t>
            </a:r>
          </a:p>
          <a:p>
            <a:pPr marL="45720" indent="0">
              <a:buNone/>
            </a:pPr>
            <a:r>
              <a:rPr lang="en-US" sz="1400" dirty="0"/>
              <a:t>    } else {</a:t>
            </a:r>
          </a:p>
          <a:p>
            <a:pPr marL="45720" indent="0">
              <a:buNone/>
            </a:pPr>
            <a:r>
              <a:rPr lang="en-US" sz="1400" dirty="0"/>
              <a:t>        int </a:t>
            </a:r>
            <a:r>
              <a:rPr lang="en-US" sz="1400" dirty="0" err="1"/>
              <a:t>localToElse</a:t>
            </a:r>
            <a:r>
              <a:rPr lang="en-US" sz="1400" dirty="0"/>
              <a:t> = 30;</a:t>
            </a:r>
          </a:p>
          <a:p>
            <a:pPr marL="4572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localToElse</a:t>
            </a:r>
            <a:r>
              <a:rPr lang="en-US" sz="1400" dirty="0"/>
              <a:t> = </a:t>
            </a:r>
            <a:r>
              <a:rPr lang="en-US" sz="1400" dirty="0" err="1"/>
              <a:t>localInt</a:t>
            </a:r>
            <a:r>
              <a:rPr lang="en-US" sz="1400" dirty="0"/>
              <a:t>; </a:t>
            </a:r>
          </a:p>
          <a:p>
            <a:pPr marL="4572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localToElse</a:t>
            </a:r>
            <a:r>
              <a:rPr lang="en-US" sz="1400" dirty="0"/>
              <a:t> = </a:t>
            </a:r>
            <a:r>
              <a:rPr lang="en-US" sz="1400" dirty="0" err="1"/>
              <a:t>globalInt</a:t>
            </a:r>
            <a:r>
              <a:rPr lang="en-US" sz="1400" dirty="0"/>
              <a:t>;</a:t>
            </a:r>
          </a:p>
          <a:p>
            <a:pPr marL="45720" indent="0">
              <a:buNone/>
            </a:pPr>
            <a:r>
              <a:rPr lang="en-US" sz="1400" dirty="0"/>
              <a:t>        </a:t>
            </a:r>
            <a:r>
              <a:rPr lang="en-US" sz="1400" dirty="0" err="1"/>
              <a:t>localToElse</a:t>
            </a:r>
            <a:r>
              <a:rPr lang="en-US" sz="1400" dirty="0"/>
              <a:t> = </a:t>
            </a:r>
            <a:r>
              <a:rPr lang="en-US" sz="1400" dirty="0" err="1"/>
              <a:t>localToIf</a:t>
            </a:r>
            <a:r>
              <a:rPr lang="en-US" sz="1400" dirty="0"/>
              <a:t>;</a:t>
            </a:r>
          </a:p>
          <a:p>
            <a:pPr marL="45720" indent="0">
              <a:buNone/>
            </a:pPr>
            <a:r>
              <a:rPr lang="en-US" sz="1400" dirty="0"/>
              <a:t>    }</a:t>
            </a:r>
          </a:p>
          <a:p>
            <a:pPr marL="45720" indent="0">
              <a:buNone/>
            </a:pPr>
            <a:r>
              <a:rPr lang="en-US" sz="1400" dirty="0"/>
              <a:t>    for (int </a:t>
            </a:r>
            <a:r>
              <a:rPr lang="en-US" sz="1400" dirty="0" err="1"/>
              <a:t>forVar</a:t>
            </a:r>
            <a:r>
              <a:rPr lang="en-US" sz="1400" dirty="0"/>
              <a:t> = 0; </a:t>
            </a:r>
            <a:r>
              <a:rPr lang="en-US" sz="1400" dirty="0" err="1"/>
              <a:t>forVar</a:t>
            </a:r>
            <a:r>
              <a:rPr lang="en-US" sz="1400" dirty="0"/>
              <a:t> &lt; 5; </a:t>
            </a:r>
            <a:r>
              <a:rPr lang="en-US" sz="1400" dirty="0" err="1"/>
              <a:t>forVar</a:t>
            </a:r>
            <a:r>
              <a:rPr lang="en-US" sz="1400" dirty="0"/>
              <a:t>++){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forVar</a:t>
            </a:r>
            <a:r>
              <a:rPr lang="en-US" sz="1400" dirty="0"/>
              <a:t> = </a:t>
            </a:r>
            <a:r>
              <a:rPr lang="en-US" sz="1400" dirty="0" err="1"/>
              <a:t>localInt</a:t>
            </a:r>
            <a:r>
              <a:rPr lang="en-US" sz="1400" dirty="0"/>
              <a:t>;</a:t>
            </a:r>
          </a:p>
          <a:p>
            <a:pPr marL="45720" indent="0">
              <a:buNone/>
            </a:pPr>
            <a:r>
              <a:rPr lang="en-US" sz="1400" dirty="0"/>
              <a:t>	}</a:t>
            </a:r>
          </a:p>
          <a:p>
            <a:pPr marL="45720" indent="0">
              <a:buNone/>
            </a:pPr>
            <a:r>
              <a:rPr lang="en-US" sz="1400" dirty="0"/>
              <a:t>	while (</a:t>
            </a:r>
            <a:r>
              <a:rPr lang="en-US" sz="1400" dirty="0" err="1"/>
              <a:t>globalInt</a:t>
            </a:r>
            <a:r>
              <a:rPr lang="en-US" sz="1400" dirty="0"/>
              <a:t>) {</a:t>
            </a:r>
          </a:p>
          <a:p>
            <a:pPr marL="45720" indent="0">
              <a:buNone/>
            </a:pPr>
            <a:r>
              <a:rPr lang="en-US" sz="1400" dirty="0"/>
              <a:t>	                  int </a:t>
            </a:r>
            <a:r>
              <a:rPr lang="en-US" sz="1400" dirty="0" err="1"/>
              <a:t>whileVar</a:t>
            </a:r>
            <a:r>
              <a:rPr lang="en-US" sz="1400" dirty="0"/>
              <a:t> = </a:t>
            </a:r>
            <a:r>
              <a:rPr lang="en-US" sz="1400" dirty="0" err="1"/>
              <a:t>globalInt</a:t>
            </a:r>
            <a:r>
              <a:rPr lang="en-US" sz="1400" dirty="0"/>
              <a:t>; 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whileVar</a:t>
            </a:r>
            <a:r>
              <a:rPr lang="en-US" sz="1400" dirty="0"/>
              <a:t> = </a:t>
            </a:r>
            <a:r>
              <a:rPr lang="en-US" sz="1400" dirty="0" err="1"/>
              <a:t>localInt</a:t>
            </a:r>
            <a:r>
              <a:rPr lang="en-US" sz="1400" dirty="0"/>
              <a:t>; 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localToIf</a:t>
            </a:r>
            <a:r>
              <a:rPr lang="en-US" sz="1400" dirty="0"/>
              <a:t> = 10;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localToElse</a:t>
            </a:r>
            <a:r>
              <a:rPr lang="en-US" sz="1400" dirty="0"/>
              <a:t> = 10;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forVar</a:t>
            </a:r>
            <a:r>
              <a:rPr lang="en-US" sz="1400" dirty="0"/>
              <a:t> = 10;</a:t>
            </a:r>
          </a:p>
          <a:p>
            <a:pPr marL="45720" indent="0">
              <a:buNone/>
            </a:pPr>
            <a:r>
              <a:rPr lang="en-US" sz="1400" dirty="0"/>
              <a:t>		break;</a:t>
            </a:r>
          </a:p>
          <a:p>
            <a:pPr marL="45720" indent="0">
              <a:buNone/>
            </a:pPr>
            <a:r>
              <a:rPr lang="en-US" sz="1400" dirty="0"/>
              <a:t>	}</a:t>
            </a:r>
          </a:p>
          <a:p>
            <a:pPr marL="45720" indent="0">
              <a:buNone/>
            </a:pPr>
            <a:r>
              <a:rPr lang="en-US" sz="1400" dirty="0"/>
              <a:t>	</a:t>
            </a:r>
          </a:p>
          <a:p>
            <a:pPr marL="45720" indent="0">
              <a:buNone/>
            </a:pPr>
            <a:endParaRPr lang="en-US" sz="1400" dirty="0"/>
          </a:p>
          <a:p>
            <a:pPr marL="45720" indent="0">
              <a:buNone/>
            </a:pPr>
            <a:endParaRPr lang="en-US" sz="1400" dirty="0"/>
          </a:p>
          <a:p>
            <a:pPr marL="45720" indent="0">
              <a:buNone/>
            </a:pPr>
            <a:r>
              <a:rPr lang="en-US" sz="1400" dirty="0"/>
              <a:t>	do {</a:t>
            </a:r>
          </a:p>
          <a:p>
            <a:pPr marL="45720" indent="0">
              <a:buNone/>
            </a:pPr>
            <a:r>
              <a:rPr lang="en-US" sz="1400" dirty="0"/>
              <a:t>	                   int </a:t>
            </a:r>
            <a:r>
              <a:rPr lang="en-US" sz="1400" dirty="0" err="1"/>
              <a:t>doVar</a:t>
            </a:r>
            <a:r>
              <a:rPr lang="en-US" sz="1400" dirty="0"/>
              <a:t> = </a:t>
            </a:r>
            <a:r>
              <a:rPr lang="en-US" sz="1400" dirty="0" err="1"/>
              <a:t>globalInt</a:t>
            </a:r>
            <a:r>
              <a:rPr lang="en-US" sz="1400" dirty="0"/>
              <a:t>;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doVar</a:t>
            </a:r>
            <a:r>
              <a:rPr lang="en-US" sz="1400" dirty="0"/>
              <a:t> = </a:t>
            </a:r>
            <a:r>
              <a:rPr lang="en-US" sz="1400" dirty="0" err="1"/>
              <a:t>localInt</a:t>
            </a:r>
            <a:r>
              <a:rPr lang="en-US" sz="1400" dirty="0"/>
              <a:t>;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localToIf</a:t>
            </a:r>
            <a:r>
              <a:rPr lang="en-US" sz="1400" dirty="0"/>
              <a:t> = 10;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localToElse</a:t>
            </a:r>
            <a:r>
              <a:rPr lang="en-US" sz="1400" dirty="0"/>
              <a:t> = 10;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forVar</a:t>
            </a:r>
            <a:r>
              <a:rPr lang="en-US" sz="1400" dirty="0"/>
              <a:t> = 10;</a:t>
            </a:r>
          </a:p>
          <a:p>
            <a:pPr marL="45720" indent="0">
              <a:buNone/>
            </a:pPr>
            <a:r>
              <a:rPr lang="en-US" sz="1400" dirty="0"/>
              <a:t>		</a:t>
            </a:r>
            <a:r>
              <a:rPr lang="en-US" sz="1400" dirty="0" err="1"/>
              <a:t>whileVar</a:t>
            </a:r>
            <a:r>
              <a:rPr lang="en-US" sz="1400" dirty="0"/>
              <a:t> = 10;</a:t>
            </a:r>
          </a:p>
          <a:p>
            <a:pPr marL="45720" indent="0">
              <a:buNone/>
            </a:pPr>
            <a:r>
              <a:rPr lang="en-US" sz="1400" dirty="0"/>
              <a:t>		break;</a:t>
            </a:r>
          </a:p>
          <a:p>
            <a:pPr marL="45720" indent="0">
              <a:buNone/>
            </a:pPr>
            <a:r>
              <a:rPr lang="en-US" sz="1400" dirty="0"/>
              <a:t>	} while(</a:t>
            </a:r>
            <a:r>
              <a:rPr lang="en-US" sz="1400" dirty="0" err="1"/>
              <a:t>globalVar</a:t>
            </a:r>
            <a:r>
              <a:rPr lang="en-US" sz="1400" dirty="0"/>
              <a:t>);</a:t>
            </a:r>
          </a:p>
          <a:p>
            <a:pPr marL="45720" indent="0">
              <a:buNone/>
            </a:pPr>
            <a:r>
              <a:rPr lang="en-US" sz="1400" dirty="0"/>
              <a:t>    return 0;</a:t>
            </a:r>
          </a:p>
          <a:p>
            <a:pPr marL="45720" indent="0">
              <a:buNone/>
            </a:pPr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540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439EA-0BAC-2582-9DAD-027064A3E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E9B3A3-28E4-3188-8436-FA04B5077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DD6DF6-B195-C2A4-E1F0-3E306B0C3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a block of code, which contains a set of instructions to perform a specific task. </a:t>
            </a:r>
          </a:p>
          <a:p>
            <a:r>
              <a:rPr lang="en-US" dirty="0"/>
              <a:t>A function may accept inputs/arguments/parameters.</a:t>
            </a:r>
          </a:p>
          <a:p>
            <a:r>
              <a:rPr lang="en-US" dirty="0"/>
              <a:t>A function may return an output/return values.</a:t>
            </a:r>
          </a:p>
          <a:p>
            <a:endParaRPr lang="en-US" dirty="0"/>
          </a:p>
          <a:p>
            <a:r>
              <a:rPr lang="en-US" dirty="0"/>
              <a:t>Syntax to define a function:</a:t>
            </a:r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b="1" dirty="0" err="1"/>
              <a:t>returnType</a:t>
            </a:r>
            <a:r>
              <a:rPr lang="en-US" dirty="0"/>
              <a:t> 		</a:t>
            </a:r>
            <a:r>
              <a:rPr lang="en-US" b="1" dirty="0" err="1"/>
              <a:t>functionName</a:t>
            </a:r>
            <a:r>
              <a:rPr lang="en-US" dirty="0"/>
              <a:t> 		(  </a:t>
            </a:r>
            <a:r>
              <a:rPr lang="en-US" b="1" dirty="0"/>
              <a:t>arguments</a:t>
            </a:r>
            <a:r>
              <a:rPr lang="en-US" dirty="0"/>
              <a:t> </a:t>
            </a:r>
            <a:r>
              <a:rPr lang="en-US" b="1" dirty="0"/>
              <a:t>list</a:t>
            </a:r>
            <a:r>
              <a:rPr lang="en-US" dirty="0"/>
              <a:t>  ) {</a:t>
            </a:r>
          </a:p>
          <a:p>
            <a:pPr marL="45720" indent="0">
              <a:buNone/>
            </a:pPr>
            <a:r>
              <a:rPr lang="en-US" dirty="0"/>
              <a:t>		// function body</a:t>
            </a:r>
          </a:p>
          <a:p>
            <a:pPr marL="4572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11043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E731-73DD-AF76-2AA3-2F14569EA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C1EB40-1CB4-943B-1E5C-3C45A515C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have a look at the main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EE5FCD-614D-02E9-A5BD-080953D4B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857" y="2927838"/>
            <a:ext cx="2570286" cy="3163287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/>
              <a:t>int</a:t>
            </a:r>
            <a:r>
              <a:rPr lang="en-US" dirty="0"/>
              <a:t> main (</a:t>
            </a:r>
            <a:r>
              <a:rPr lang="en-US" b="1" dirty="0"/>
              <a:t>void</a:t>
            </a:r>
            <a:r>
              <a:rPr lang="en-US" dirty="0"/>
              <a:t>) {</a:t>
            </a:r>
          </a:p>
          <a:p>
            <a:pPr marL="45720" indent="0">
              <a:buNone/>
            </a:pPr>
            <a:r>
              <a:rPr lang="en-US" dirty="0"/>
              <a:t>	return 0;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915610-EEE2-FCCD-98BF-BD7065C3A4D9}"/>
              </a:ext>
            </a:extLst>
          </p:cNvPr>
          <p:cNvSpPr txBox="1"/>
          <p:nvPr/>
        </p:nvSpPr>
        <p:spPr>
          <a:xfrm>
            <a:off x="1749669" y="2378291"/>
            <a:ext cx="1987061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The return type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9C2F99-80F0-5E9D-9F18-14C9D0E57BCA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736730" y="2562957"/>
            <a:ext cx="1213339" cy="523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AD7D4A4-2058-E87F-B27C-9C375E9B0D97}"/>
              </a:ext>
            </a:extLst>
          </p:cNvPr>
          <p:cNvSpPr txBox="1"/>
          <p:nvPr/>
        </p:nvSpPr>
        <p:spPr>
          <a:xfrm>
            <a:off x="4422532" y="1760313"/>
            <a:ext cx="226988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The function name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5E9FF6-BD89-D8CF-710B-96F815595B9D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557472" y="2129645"/>
            <a:ext cx="0" cy="904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9CF1DFB-29D9-36F0-C2E7-99D0B3EDEFA0}"/>
              </a:ext>
            </a:extLst>
          </p:cNvPr>
          <p:cNvSpPr txBox="1"/>
          <p:nvPr/>
        </p:nvSpPr>
        <p:spPr>
          <a:xfrm>
            <a:off x="7827352" y="2008959"/>
            <a:ext cx="2269880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The argument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284505A-1506-7109-D317-572A75B7D3FD}"/>
              </a:ext>
            </a:extLst>
          </p:cNvPr>
          <p:cNvCxnSpPr>
            <a:cxnSpLocks/>
          </p:cNvCxnSpPr>
          <p:nvPr/>
        </p:nvCxnSpPr>
        <p:spPr>
          <a:xfrm flipH="1">
            <a:off x="6692412" y="2277208"/>
            <a:ext cx="1370134" cy="757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ight Brace 22">
            <a:extLst>
              <a:ext uri="{FF2B5EF4-FFF2-40B4-BE49-F238E27FC236}">
                <a16:creationId xmlns:a16="http://schemas.microsoft.com/office/drawing/2014/main" id="{ACBCEDF5-ED0E-6180-1374-83EAA35D844F}"/>
              </a:ext>
            </a:extLst>
          </p:cNvPr>
          <p:cNvSpPr/>
          <p:nvPr/>
        </p:nvSpPr>
        <p:spPr>
          <a:xfrm>
            <a:off x="7381143" y="3086100"/>
            <a:ext cx="681403" cy="103503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2B0767-F4A2-16F3-FBC8-C2289AE3F34D}"/>
              </a:ext>
            </a:extLst>
          </p:cNvPr>
          <p:cNvSpPr txBox="1"/>
          <p:nvPr/>
        </p:nvSpPr>
        <p:spPr>
          <a:xfrm>
            <a:off x="8062546" y="3128938"/>
            <a:ext cx="2269880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The function body </a:t>
            </a:r>
          </a:p>
          <a:p>
            <a:r>
              <a:rPr lang="en-US" dirty="0">
                <a:solidFill>
                  <a:schemeClr val="tx2"/>
                </a:solidFill>
              </a:rPr>
              <a:t>Goes within the curly brackets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1358E0-27B7-EF35-4F43-F6CC39AA2C41}"/>
              </a:ext>
            </a:extLst>
          </p:cNvPr>
          <p:cNvCxnSpPr>
            <a:cxnSpLocks/>
          </p:cNvCxnSpPr>
          <p:nvPr/>
        </p:nvCxnSpPr>
        <p:spPr>
          <a:xfrm flipH="1" flipV="1">
            <a:off x="6692412" y="3823654"/>
            <a:ext cx="1195754" cy="109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4BE8CCF-8A34-E728-C465-6A5A1D9EE42A}"/>
              </a:ext>
            </a:extLst>
          </p:cNvPr>
          <p:cNvSpPr txBox="1"/>
          <p:nvPr/>
        </p:nvSpPr>
        <p:spPr>
          <a:xfrm>
            <a:off x="7888166" y="4771489"/>
            <a:ext cx="3154972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The value being returned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5C925E-69AB-6420-96D0-6279C6C040F6}"/>
              </a:ext>
            </a:extLst>
          </p:cNvPr>
          <p:cNvSpPr/>
          <p:nvPr/>
        </p:nvSpPr>
        <p:spPr>
          <a:xfrm>
            <a:off x="4888523" y="2927838"/>
            <a:ext cx="1881550" cy="364881"/>
          </a:xfrm>
          <a:prstGeom prst="roundRect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A1869D-A98F-C068-3DAB-4EED787B646B}"/>
              </a:ext>
            </a:extLst>
          </p:cNvPr>
          <p:cNvCxnSpPr>
            <a:cxnSpLocks/>
          </p:cNvCxnSpPr>
          <p:nvPr/>
        </p:nvCxnSpPr>
        <p:spPr>
          <a:xfrm flipH="1">
            <a:off x="2839915" y="3292719"/>
            <a:ext cx="2048608" cy="1244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55A7F5-A6E1-CE3C-9A1F-A5AE5C918FCF}"/>
              </a:ext>
            </a:extLst>
          </p:cNvPr>
          <p:cNvSpPr txBox="1"/>
          <p:nvPr/>
        </p:nvSpPr>
        <p:spPr>
          <a:xfrm>
            <a:off x="949569" y="4708213"/>
            <a:ext cx="3472963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Everything inside this box is also known as the </a:t>
            </a:r>
            <a:r>
              <a:rPr lang="en-US" b="1" dirty="0">
                <a:solidFill>
                  <a:schemeClr val="tx2"/>
                </a:solidFill>
              </a:rPr>
              <a:t>“signature” </a:t>
            </a:r>
            <a:r>
              <a:rPr lang="en-US" dirty="0">
                <a:solidFill>
                  <a:schemeClr val="tx2"/>
                </a:solidFill>
              </a:rPr>
              <a:t>of that function. </a:t>
            </a:r>
          </a:p>
        </p:txBody>
      </p:sp>
    </p:spTree>
    <p:extLst>
      <p:ext uri="{BB962C8B-B14F-4D97-AF65-F5344CB8AC3E}">
        <p14:creationId xmlns:p14="http://schemas.microsoft.com/office/powerpoint/2010/main" val="394258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EE4C-19F0-9FEF-61BD-D8A4FF6F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C3A03F-5A0E-89FB-5E06-F84FC332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printf</a:t>
            </a:r>
            <a:r>
              <a:rPr lang="en-US" dirty="0"/>
              <a:t> and </a:t>
            </a:r>
            <a:r>
              <a:rPr lang="en-US" dirty="0" err="1"/>
              <a:t>scanf</a:t>
            </a:r>
            <a:r>
              <a:rPr lang="en-US" dirty="0"/>
              <a:t> are functions…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CDA7A3-D4BA-551A-53D5-2E11C33F1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586771"/>
          </a:xfrm>
        </p:spPr>
        <p:txBody>
          <a:bodyPr/>
          <a:lstStyle/>
          <a:p>
            <a:r>
              <a:rPr lang="en-US" dirty="0"/>
              <a:t>Whenever you write:</a:t>
            </a:r>
          </a:p>
          <a:p>
            <a:pPr lvl="1"/>
            <a:r>
              <a:rPr lang="en-US" dirty="0" err="1"/>
              <a:t>printf</a:t>
            </a:r>
            <a:r>
              <a:rPr lang="en-US" dirty="0"/>
              <a:t>(“something”);</a:t>
            </a:r>
          </a:p>
          <a:p>
            <a:pPr lvl="1"/>
            <a:r>
              <a:rPr lang="en-US" dirty="0" err="1"/>
              <a:t>scanf</a:t>
            </a:r>
            <a:r>
              <a:rPr lang="en-US" dirty="0"/>
              <a:t>(“%d”, &amp;</a:t>
            </a:r>
            <a:r>
              <a:rPr lang="en-US" dirty="0" err="1"/>
              <a:t>i</a:t>
            </a:r>
            <a:r>
              <a:rPr lang="en-US" dirty="0"/>
              <a:t>);</a:t>
            </a:r>
          </a:p>
          <a:p>
            <a:pPr lvl="1"/>
            <a:endParaRPr lang="en-US" dirty="0"/>
          </a:p>
          <a:p>
            <a:r>
              <a:rPr lang="en-US" dirty="0"/>
              <a:t>You’re actually </a:t>
            </a:r>
            <a:r>
              <a:rPr lang="en-US" b="1" dirty="0"/>
              <a:t>calling</a:t>
            </a:r>
            <a:r>
              <a:rPr lang="en-US" dirty="0"/>
              <a:t> the pre-defined functions present in the </a:t>
            </a:r>
            <a:r>
              <a:rPr lang="en-US" dirty="0" err="1"/>
              <a:t>stdio.h</a:t>
            </a:r>
            <a:r>
              <a:rPr lang="en-US" dirty="0"/>
              <a:t> library.</a:t>
            </a:r>
          </a:p>
          <a:p>
            <a:endParaRPr lang="en-US" dirty="0"/>
          </a:p>
          <a:p>
            <a:r>
              <a:rPr lang="en-US" dirty="0"/>
              <a:t>Do you remember what </a:t>
            </a:r>
            <a:r>
              <a:rPr lang="en-US" dirty="0" err="1"/>
              <a:t>printf</a:t>
            </a:r>
            <a:r>
              <a:rPr lang="en-US" dirty="0"/>
              <a:t> returns?</a:t>
            </a:r>
          </a:p>
          <a:p>
            <a:r>
              <a:rPr lang="en-US" dirty="0"/>
              <a:t>What does </a:t>
            </a:r>
            <a:r>
              <a:rPr lang="en-US" dirty="0" err="1"/>
              <a:t>scanf</a:t>
            </a:r>
            <a:r>
              <a:rPr lang="en-US" dirty="0"/>
              <a:t> return?</a:t>
            </a:r>
          </a:p>
          <a:p>
            <a:r>
              <a:rPr lang="en-US" dirty="0"/>
              <a:t>What are the arguments here?</a:t>
            </a:r>
          </a:p>
        </p:txBody>
      </p:sp>
      <p:pic>
        <p:nvPicPr>
          <p:cNvPr id="8" name="Content Placeholder 2">
            <a:extLst>
              <a:ext uri="{FF2B5EF4-FFF2-40B4-BE49-F238E27FC236}">
                <a16:creationId xmlns:a16="http://schemas.microsoft.com/office/drawing/2014/main" id="{0E6D466F-9F30-C2FD-4D6F-E74A0B2F1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638" y="92074"/>
            <a:ext cx="2298318" cy="180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043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7CC6-02EC-CE43-0107-A2CCC7B9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you pass to a function when calling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C2111-C30C-E6D9-8D92-4C67CD7B7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700784"/>
            <a:ext cx="9509760" cy="21052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can send it a constant value, like 1, 2, ‘a’, etc., based on what type of argument it accepts.</a:t>
            </a:r>
          </a:p>
          <a:p>
            <a:r>
              <a:rPr lang="en-US" dirty="0"/>
              <a:t>You can also send it variables of the corresponding data types.</a:t>
            </a:r>
          </a:p>
          <a:p>
            <a:r>
              <a:rPr lang="en-US" dirty="0"/>
              <a:t>It can also be a combination of the above two things.</a:t>
            </a:r>
          </a:p>
          <a:p>
            <a:r>
              <a:rPr lang="en-US" dirty="0"/>
              <a:t>For example, consider this function: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B452BF-26A6-25B7-E214-768B09C5809F}"/>
              </a:ext>
            </a:extLst>
          </p:cNvPr>
          <p:cNvSpPr txBox="1"/>
          <p:nvPr/>
        </p:nvSpPr>
        <p:spPr>
          <a:xfrm>
            <a:off x="1341120" y="3806016"/>
            <a:ext cx="4628857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void </a:t>
            </a:r>
            <a:r>
              <a:rPr lang="en-US" dirty="0" err="1">
                <a:solidFill>
                  <a:schemeClr val="tx2"/>
                </a:solidFill>
              </a:rPr>
              <a:t>myFunction</a:t>
            </a:r>
            <a:r>
              <a:rPr lang="en-US" dirty="0">
                <a:solidFill>
                  <a:schemeClr val="tx2"/>
                </a:solidFill>
              </a:rPr>
              <a:t>(int a, char c) {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//do something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}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2510C-B3A4-02D3-CA5A-0F60394E3F1C}"/>
              </a:ext>
            </a:extLst>
          </p:cNvPr>
          <p:cNvSpPr txBox="1"/>
          <p:nvPr/>
        </p:nvSpPr>
        <p:spPr>
          <a:xfrm>
            <a:off x="5969977" y="3806016"/>
            <a:ext cx="4628857" cy="286232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int main(){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char </a:t>
            </a:r>
            <a:r>
              <a:rPr lang="en-US" dirty="0" err="1">
                <a:solidFill>
                  <a:schemeClr val="tx2"/>
                </a:solidFill>
              </a:rPr>
              <a:t>ch</a:t>
            </a:r>
            <a:r>
              <a:rPr lang="en-US" dirty="0">
                <a:solidFill>
                  <a:schemeClr val="tx2"/>
                </a:solidFill>
              </a:rPr>
              <a:t> = ‘c’;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int a = 10;</a:t>
            </a:r>
          </a:p>
          <a:p>
            <a:pPr marL="4572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 err="1">
                <a:solidFill>
                  <a:schemeClr val="tx2"/>
                </a:solidFill>
              </a:rPr>
              <a:t>myFunction</a:t>
            </a:r>
            <a:r>
              <a:rPr lang="en-US" dirty="0">
                <a:solidFill>
                  <a:schemeClr val="tx2"/>
                </a:solidFill>
              </a:rPr>
              <a:t>(55, ‘R’);</a:t>
            </a:r>
          </a:p>
          <a:p>
            <a:pPr marL="45720"/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 err="1">
                <a:solidFill>
                  <a:schemeClr val="tx2"/>
                </a:solidFill>
              </a:rPr>
              <a:t>myFunction</a:t>
            </a:r>
            <a:r>
              <a:rPr lang="en-US" dirty="0">
                <a:solidFill>
                  <a:schemeClr val="tx2"/>
                </a:solidFill>
              </a:rPr>
              <a:t>(a, </a:t>
            </a:r>
            <a:r>
              <a:rPr lang="en-US" dirty="0" err="1">
                <a:solidFill>
                  <a:schemeClr val="tx2"/>
                </a:solidFill>
              </a:rPr>
              <a:t>ch</a:t>
            </a:r>
            <a:r>
              <a:rPr lang="en-US" dirty="0">
                <a:solidFill>
                  <a:schemeClr val="tx2"/>
                </a:solidFill>
              </a:rPr>
              <a:t>);</a:t>
            </a:r>
          </a:p>
          <a:p>
            <a:pPr marL="45720"/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 err="1">
                <a:solidFill>
                  <a:schemeClr val="tx2"/>
                </a:solidFill>
              </a:rPr>
              <a:t>myFunction</a:t>
            </a:r>
            <a:r>
              <a:rPr lang="en-US" dirty="0">
                <a:solidFill>
                  <a:schemeClr val="tx2"/>
                </a:solidFill>
              </a:rPr>
              <a:t>(44, </a:t>
            </a:r>
            <a:r>
              <a:rPr lang="en-US" dirty="0" err="1">
                <a:solidFill>
                  <a:schemeClr val="tx2"/>
                </a:solidFill>
              </a:rPr>
              <a:t>ch</a:t>
            </a:r>
            <a:r>
              <a:rPr lang="en-US" dirty="0">
                <a:solidFill>
                  <a:schemeClr val="tx2"/>
                </a:solidFill>
              </a:rPr>
              <a:t>);</a:t>
            </a:r>
          </a:p>
          <a:p>
            <a:pPr marL="45720"/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dirty="0" err="1">
                <a:solidFill>
                  <a:schemeClr val="tx2"/>
                </a:solidFill>
              </a:rPr>
              <a:t>myFunction</a:t>
            </a:r>
            <a:r>
              <a:rPr lang="en-US" dirty="0">
                <a:solidFill>
                  <a:schemeClr val="tx2"/>
                </a:solidFill>
              </a:rPr>
              <a:t>(a, ‘E’);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}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5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3379B-9FC1-E105-F2D0-D863F264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8FC306-BE2A-B130-1FC6-9155B42B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208" y="467360"/>
            <a:ext cx="9716672" cy="1233424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make some custom functions of our own!</a:t>
            </a:r>
            <a:br>
              <a:rPr lang="en-US" dirty="0"/>
            </a:br>
            <a:r>
              <a:rPr lang="en-US" dirty="0"/>
              <a:t>Also, call these functions from the main function.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A0147A-3CAB-E7A6-428F-B1834D6B6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4208" y="1901952"/>
            <a:ext cx="9716672" cy="4127627"/>
          </a:xfrm>
        </p:spPr>
        <p:txBody>
          <a:bodyPr/>
          <a:lstStyle/>
          <a:p>
            <a:r>
              <a:rPr lang="en-US" dirty="0"/>
              <a:t>A function that displays “Hello World”, doesn’t accept or return anything.</a:t>
            </a:r>
          </a:p>
          <a:p>
            <a:r>
              <a:rPr lang="en-US" dirty="0"/>
              <a:t>A function that accepts one integer and return true if it is even, otherwise it returns false.</a:t>
            </a:r>
          </a:p>
          <a:p>
            <a:r>
              <a:rPr lang="en-US" dirty="0"/>
              <a:t>A function that accepts a character, and returns ‘V’ if the character is a vowel, other it returns ‘C’ if the character is a consonant.</a:t>
            </a:r>
          </a:p>
          <a:p>
            <a:r>
              <a:rPr lang="en-US" dirty="0"/>
              <a:t>A function that accepts two float values and returns the larger value.</a:t>
            </a:r>
          </a:p>
          <a:p>
            <a:r>
              <a:rPr lang="en-US" dirty="0"/>
              <a:t>A function that accepts two integers and finds out their sum and returns it.</a:t>
            </a:r>
          </a:p>
          <a:p>
            <a:r>
              <a:rPr lang="en-US" dirty="0"/>
              <a:t>A function that accepts two integers and one character. The if the character is ‘+’, ‘-’, ‘/’ or ‘*’ then it performs that operation on the integers and returns the result. Otherwise, it says ‘invalid operation’</a:t>
            </a:r>
          </a:p>
        </p:txBody>
      </p:sp>
    </p:spTree>
    <p:extLst>
      <p:ext uri="{BB962C8B-B14F-4D97-AF65-F5344CB8AC3E}">
        <p14:creationId xmlns:p14="http://schemas.microsoft.com/office/powerpoint/2010/main" val="397304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AC1E4-EC0E-EE26-8DE0-B65B7E32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1ABECF-9E76-2490-E77B-A4898F328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start to get a bit complicated here…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965910-EE5F-E62E-8FBD-F356D93A2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if I want to pass an array to a function?</a:t>
            </a:r>
          </a:p>
          <a:p>
            <a:r>
              <a:rPr lang="en-US" dirty="0"/>
              <a:t>What should I pass as an argument?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Before we go there, let’s discuss the concept of:</a:t>
            </a:r>
          </a:p>
          <a:p>
            <a:pPr lvl="1"/>
            <a:r>
              <a:rPr lang="en-US" dirty="0"/>
              <a:t>Pass by value</a:t>
            </a:r>
          </a:p>
          <a:p>
            <a:pPr lvl="1"/>
            <a:r>
              <a:rPr lang="en-US" dirty="0"/>
              <a:t>Pass by reference</a:t>
            </a:r>
          </a:p>
        </p:txBody>
      </p:sp>
    </p:spTree>
    <p:extLst>
      <p:ext uri="{BB962C8B-B14F-4D97-AF65-F5344CB8AC3E}">
        <p14:creationId xmlns:p14="http://schemas.microsoft.com/office/powerpoint/2010/main" val="6406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11A35-2C5D-EAF9-80DD-A2971420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A7408D-BDB1-85DB-BF6C-7D35077B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an argument by value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60DC53-0191-C18E-F86A-5C3F326FE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Basically, what we have been doing so far. In the previous example with “</a:t>
            </a:r>
            <a:r>
              <a:rPr lang="en-US" dirty="0" err="1"/>
              <a:t>myFunction</a:t>
            </a:r>
            <a:r>
              <a:rPr lang="en-US" dirty="0"/>
              <a:t>”, during the function call, values of the variables x and </a:t>
            </a:r>
            <a:r>
              <a:rPr lang="en-US" dirty="0" err="1"/>
              <a:t>ch</a:t>
            </a:r>
            <a:r>
              <a:rPr lang="en-US" dirty="0"/>
              <a:t> are being passed.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33933D-E043-51C1-03F8-35317544CEB7}"/>
              </a:ext>
            </a:extLst>
          </p:cNvPr>
          <p:cNvSpPr txBox="1"/>
          <p:nvPr/>
        </p:nvSpPr>
        <p:spPr>
          <a:xfrm>
            <a:off x="1402666" y="3334544"/>
            <a:ext cx="4628857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void </a:t>
            </a:r>
            <a:r>
              <a:rPr lang="en-US" dirty="0" err="1">
                <a:solidFill>
                  <a:schemeClr val="tx2"/>
                </a:solidFill>
              </a:rPr>
              <a:t>myFunction</a:t>
            </a:r>
            <a:r>
              <a:rPr lang="en-US" dirty="0">
                <a:solidFill>
                  <a:schemeClr val="tx2"/>
                </a:solidFill>
              </a:rPr>
              <a:t>(int a, char c) {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//do something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}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18B079-344C-B78B-E10C-69719418EDDA}"/>
              </a:ext>
            </a:extLst>
          </p:cNvPr>
          <p:cNvSpPr txBox="1"/>
          <p:nvPr/>
        </p:nvSpPr>
        <p:spPr>
          <a:xfrm>
            <a:off x="5969977" y="3334544"/>
            <a:ext cx="4628857" cy="20313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int main(){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char </a:t>
            </a:r>
            <a:r>
              <a:rPr lang="en-US" dirty="0" err="1">
                <a:solidFill>
                  <a:schemeClr val="tx2"/>
                </a:solidFill>
              </a:rPr>
              <a:t>ch</a:t>
            </a:r>
            <a:r>
              <a:rPr lang="en-US" dirty="0">
                <a:solidFill>
                  <a:schemeClr val="tx2"/>
                </a:solidFill>
              </a:rPr>
              <a:t> = ‘c’;</a:t>
            </a: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int x = 10;</a:t>
            </a:r>
          </a:p>
          <a:p>
            <a:pPr marL="4572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45720" indent="0">
              <a:buNone/>
            </a:pPr>
            <a:r>
              <a:rPr lang="en-US" dirty="0">
                <a:solidFill>
                  <a:schemeClr val="tx2"/>
                </a:solidFill>
              </a:rPr>
              <a:t>	</a:t>
            </a:r>
            <a:r>
              <a:rPr lang="en-US" b="1" dirty="0" err="1">
                <a:solidFill>
                  <a:schemeClr val="tx2"/>
                </a:solidFill>
              </a:rPr>
              <a:t>myFunction</a:t>
            </a:r>
            <a:r>
              <a:rPr lang="en-US" b="1" dirty="0">
                <a:solidFill>
                  <a:schemeClr val="tx2"/>
                </a:solidFill>
              </a:rPr>
              <a:t>(x, </a:t>
            </a:r>
            <a:r>
              <a:rPr lang="en-US" b="1" dirty="0" err="1">
                <a:solidFill>
                  <a:schemeClr val="tx2"/>
                </a:solidFill>
              </a:rPr>
              <a:t>ch</a:t>
            </a:r>
            <a:r>
              <a:rPr lang="en-US" b="1" dirty="0">
                <a:solidFill>
                  <a:schemeClr val="tx2"/>
                </a:solidFill>
              </a:rPr>
              <a:t>);</a:t>
            </a:r>
          </a:p>
          <a:p>
            <a:pPr marL="45720"/>
            <a:r>
              <a:rPr lang="en-US" dirty="0">
                <a:solidFill>
                  <a:schemeClr val="tx2"/>
                </a:solidFill>
              </a:rPr>
              <a:t>	}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70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1EA1-FE1F-797F-7FC6-ED29D380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an Argument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E4742-4AF6-7BFF-ED13-7D9F096C8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Copy of argument passed to function </a:t>
            </a:r>
          </a:p>
          <a:p>
            <a:r>
              <a:rPr lang="en-US" dirty="0"/>
              <a:t>Changes in function do not affect the original variables</a:t>
            </a:r>
          </a:p>
          <a:p>
            <a:r>
              <a:rPr lang="en-US" dirty="0"/>
              <a:t>Use when the function does not need to modify the argument </a:t>
            </a:r>
          </a:p>
          <a:p>
            <a:r>
              <a:rPr lang="en-US" dirty="0"/>
              <a:t>Avoids accidental changes</a:t>
            </a:r>
          </a:p>
        </p:txBody>
      </p:sp>
    </p:spTree>
    <p:extLst>
      <p:ext uri="{BB962C8B-B14F-4D97-AF65-F5344CB8AC3E}">
        <p14:creationId xmlns:p14="http://schemas.microsoft.com/office/powerpoint/2010/main" val="426072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B3FC4-DE82-8BB7-8D73-C752078F9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110C5F-B6EC-DA5E-35DF-4C59BD23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an argument by reference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773873-A92C-6F5E-5F82-A8054A854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Here’s where pointers come in to start haunting you again.</a:t>
            </a:r>
          </a:p>
          <a:p>
            <a:r>
              <a:rPr lang="en-US" dirty="0"/>
              <a:t>But don’t worry, it’s not as scary as you may think.</a:t>
            </a:r>
          </a:p>
          <a:p>
            <a:r>
              <a:rPr lang="en-US" dirty="0"/>
              <a:t>Let’s have a look.</a:t>
            </a:r>
          </a:p>
          <a:p>
            <a:endParaRPr lang="en-US" dirty="0"/>
          </a:p>
          <a:p>
            <a:pPr marL="45720" indent="0">
              <a:buNone/>
            </a:pPr>
            <a:r>
              <a:rPr lang="en-US" dirty="0"/>
              <a:t>void function( </a:t>
            </a:r>
            <a:r>
              <a:rPr lang="en-US" b="1" dirty="0"/>
              <a:t>int *p</a:t>
            </a:r>
            <a:r>
              <a:rPr lang="en-US" dirty="0"/>
              <a:t>) {</a:t>
            </a:r>
          </a:p>
          <a:p>
            <a:pPr marL="45720" indent="0">
              <a:buNone/>
            </a:pPr>
            <a:r>
              <a:rPr lang="en-US" dirty="0"/>
              <a:t>	//this change will reflect on ‘x’</a:t>
            </a:r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b="1" dirty="0"/>
              <a:t>*p = 20;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311D0-2E44-7BC3-1F97-CC3869A6ECA4}"/>
              </a:ext>
            </a:extLst>
          </p:cNvPr>
          <p:cNvSpPr txBox="1"/>
          <p:nvPr/>
        </p:nvSpPr>
        <p:spPr>
          <a:xfrm>
            <a:off x="6532685" y="3743310"/>
            <a:ext cx="4628857" cy="2246769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pPr marL="4572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int main(){</a:t>
            </a:r>
          </a:p>
          <a:p>
            <a:pPr marL="4572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int x = 10;</a:t>
            </a:r>
          </a:p>
          <a:p>
            <a:pPr marL="4572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//calling the function</a:t>
            </a:r>
          </a:p>
          <a:p>
            <a:pPr marL="4572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//passing the address of x</a:t>
            </a:r>
          </a:p>
          <a:p>
            <a:pPr marL="45720" indent="0">
              <a:buNone/>
            </a:pPr>
            <a:r>
              <a:rPr lang="en-US" sz="2000" dirty="0">
                <a:solidFill>
                  <a:schemeClr val="tx2"/>
                </a:solidFill>
              </a:rPr>
              <a:t>	</a:t>
            </a:r>
            <a:r>
              <a:rPr lang="en-US" sz="2000" b="1" dirty="0">
                <a:solidFill>
                  <a:schemeClr val="tx2"/>
                </a:solidFill>
              </a:rPr>
              <a:t>function(&amp;x);</a:t>
            </a:r>
          </a:p>
          <a:p>
            <a:pPr marL="45720"/>
            <a:r>
              <a:rPr lang="en-US" sz="2000" dirty="0">
                <a:solidFill>
                  <a:schemeClr val="tx2"/>
                </a:solidFill>
              </a:rPr>
              <a:t>	}</a:t>
            </a:r>
          </a:p>
          <a:p>
            <a:endParaRPr lang="en-US" sz="20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74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60363-DABF-AD23-AC33-782DFCF4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visualize the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243F3-7EFC-0674-9134-1C0A86483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62091"/>
            <a:ext cx="9509760" cy="41276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x:</a:t>
            </a:r>
          </a:p>
          <a:p>
            <a:endParaRPr lang="en-US" dirty="0"/>
          </a:p>
          <a:p>
            <a:r>
              <a:rPr lang="en-US" dirty="0"/>
              <a:t>When we call ‘</a:t>
            </a:r>
            <a:r>
              <a:rPr lang="en-US" b="1" dirty="0"/>
              <a:t>function(&amp;x);’ </a:t>
            </a:r>
            <a:r>
              <a:rPr lang="en-US" dirty="0"/>
              <a:t>we’re sending address of x to the declaration </a:t>
            </a:r>
            <a:r>
              <a:rPr lang="en-US" b="1" dirty="0"/>
              <a:t>int *p</a:t>
            </a:r>
          </a:p>
          <a:p>
            <a:r>
              <a:rPr lang="en-US" dirty="0"/>
              <a:t>So basically, </a:t>
            </a:r>
            <a:r>
              <a:rPr lang="en-US" b="1" dirty="0"/>
              <a:t>“int* p = &amp;x” </a:t>
            </a:r>
            <a:r>
              <a:rPr lang="en-US" dirty="0"/>
              <a:t>is going on in the background.</a:t>
            </a:r>
          </a:p>
          <a:p>
            <a:r>
              <a:rPr lang="en-US" dirty="0"/>
              <a:t>p:</a:t>
            </a:r>
          </a:p>
          <a:p>
            <a:endParaRPr lang="en-US" dirty="0"/>
          </a:p>
          <a:p>
            <a:r>
              <a:rPr lang="en-US" dirty="0"/>
              <a:t>So, when we say *p, we have something like </a:t>
            </a:r>
            <a:r>
              <a:rPr lang="en-US" b="1" dirty="0"/>
              <a:t>“*(100)” </a:t>
            </a:r>
            <a:r>
              <a:rPr lang="en-US" dirty="0"/>
              <a:t>being calculated.</a:t>
            </a:r>
          </a:p>
          <a:p>
            <a:r>
              <a:rPr lang="en-US" dirty="0"/>
              <a:t>And</a:t>
            </a:r>
            <a:r>
              <a:rPr lang="en-US" b="1" dirty="0"/>
              <a:t> “*p = 20;” </a:t>
            </a:r>
            <a:r>
              <a:rPr lang="en-US" dirty="0"/>
              <a:t>means: go to </a:t>
            </a:r>
            <a:r>
              <a:rPr lang="en-US" b="1" dirty="0"/>
              <a:t>*(100) </a:t>
            </a:r>
            <a:r>
              <a:rPr lang="en-US" dirty="0"/>
              <a:t>and write </a:t>
            </a:r>
            <a:r>
              <a:rPr lang="en-US" b="1" dirty="0"/>
              <a:t>20</a:t>
            </a:r>
            <a:r>
              <a:rPr lang="en-US" dirty="0"/>
              <a:t> there.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670FA1-5105-0891-0168-94ED5CEB28D5}"/>
              </a:ext>
            </a:extLst>
          </p:cNvPr>
          <p:cNvSpPr/>
          <p:nvPr/>
        </p:nvSpPr>
        <p:spPr>
          <a:xfrm>
            <a:off x="2127739" y="2022231"/>
            <a:ext cx="756138" cy="650631"/>
          </a:xfrm>
          <a:prstGeom prst="roundRect">
            <a:avLst/>
          </a:prstGeom>
          <a:noFill/>
          <a:ln w="19050">
            <a:solidFill>
              <a:schemeClr val="accent2">
                <a:lumMod val="50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235117-F616-AC1A-1112-B74BC88C81F0}"/>
              </a:ext>
            </a:extLst>
          </p:cNvPr>
          <p:cNvSpPr/>
          <p:nvPr/>
        </p:nvSpPr>
        <p:spPr>
          <a:xfrm>
            <a:off x="2127739" y="4126299"/>
            <a:ext cx="756138" cy="650631"/>
          </a:xfrm>
          <a:prstGeom prst="roundRect">
            <a:avLst/>
          </a:prstGeom>
          <a:noFill/>
          <a:ln w="19050">
            <a:solidFill>
              <a:schemeClr val="accent2">
                <a:lumMod val="50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280B0-F447-6F2E-4896-ACC52DA055D9}"/>
              </a:ext>
            </a:extLst>
          </p:cNvPr>
          <p:cNvSpPr txBox="1"/>
          <p:nvPr/>
        </p:nvSpPr>
        <p:spPr>
          <a:xfrm>
            <a:off x="2637691" y="2162880"/>
            <a:ext cx="375431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/>
              <a:t>Let’s say address of x is 100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EE18618-8E75-F452-1277-1D9E10BED161}"/>
              </a:ext>
            </a:extLst>
          </p:cNvPr>
          <p:cNvSpPr/>
          <p:nvPr/>
        </p:nvSpPr>
        <p:spPr>
          <a:xfrm>
            <a:off x="2672862" y="2635317"/>
            <a:ext cx="4985238" cy="2429052"/>
          </a:xfrm>
          <a:custGeom>
            <a:avLst/>
            <a:gdLst>
              <a:gd name="connsiteX0" fmla="*/ 4985238 w 4985238"/>
              <a:gd name="connsiteY0" fmla="*/ 2429052 h 2429052"/>
              <a:gd name="connsiteX1" fmla="*/ 2198076 w 4985238"/>
              <a:gd name="connsiteY1" fmla="*/ 2015814 h 2429052"/>
              <a:gd name="connsiteX2" fmla="*/ 1617784 w 4985238"/>
              <a:gd name="connsiteY2" fmla="*/ 99091 h 2429052"/>
              <a:gd name="connsiteX3" fmla="*/ 281353 w 4985238"/>
              <a:gd name="connsiteY3" fmla="*/ 248560 h 2429052"/>
              <a:gd name="connsiteX4" fmla="*/ 0 w 4985238"/>
              <a:gd name="connsiteY4" fmla="*/ 19960 h 2429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85238" h="2429052">
                <a:moveTo>
                  <a:pt x="4985238" y="2429052"/>
                </a:moveTo>
                <a:cubicBezTo>
                  <a:pt x="3872278" y="2416596"/>
                  <a:pt x="2759318" y="2404141"/>
                  <a:pt x="2198076" y="2015814"/>
                </a:cubicBezTo>
                <a:cubicBezTo>
                  <a:pt x="1636834" y="1627487"/>
                  <a:pt x="1937238" y="393633"/>
                  <a:pt x="1617784" y="99091"/>
                </a:cubicBezTo>
                <a:cubicBezTo>
                  <a:pt x="1298330" y="-195451"/>
                  <a:pt x="550984" y="261748"/>
                  <a:pt x="281353" y="248560"/>
                </a:cubicBezTo>
                <a:cubicBezTo>
                  <a:pt x="11722" y="235372"/>
                  <a:pt x="14654" y="68318"/>
                  <a:pt x="0" y="19960"/>
                </a:cubicBezTo>
              </a:path>
            </a:pathLst>
          </a:cu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2D35F664-932A-42D1-69B2-985A8DBF72C1}"/>
              </a:ext>
            </a:extLst>
          </p:cNvPr>
          <p:cNvSpPr/>
          <p:nvPr/>
        </p:nvSpPr>
        <p:spPr>
          <a:xfrm rot="20173795">
            <a:off x="2548130" y="2509214"/>
            <a:ext cx="195263" cy="198371"/>
          </a:xfrm>
          <a:prstGeom prst="triangl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93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179DF-F8DE-42E2-128F-A0A0C72E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304A64-5C1B-FA88-88FC-9755A943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an argument by reference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6C5EE3-FE4F-3F38-A248-1F2937205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Passes original argument </a:t>
            </a:r>
          </a:p>
          <a:p>
            <a:r>
              <a:rPr lang="en-US" dirty="0"/>
              <a:t>Changes in function effect original </a:t>
            </a:r>
          </a:p>
          <a:p>
            <a:r>
              <a:rPr lang="en-US" dirty="0"/>
              <a:t>Only used with trusted functions</a:t>
            </a:r>
          </a:p>
        </p:txBody>
      </p:sp>
    </p:spTree>
    <p:extLst>
      <p:ext uri="{BB962C8B-B14F-4D97-AF65-F5344CB8AC3E}">
        <p14:creationId xmlns:p14="http://schemas.microsoft.com/office/powerpoint/2010/main" val="245945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51671-DAC7-50A0-4EA1-92CA8801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Original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47B79-EE46-8DA4-DF2A-F214747E0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pass arrays as arguments?</a:t>
            </a:r>
          </a:p>
          <a:p>
            <a:r>
              <a:rPr lang="en-US" dirty="0"/>
              <a:t>There’s two ways to send an array as an argument:</a:t>
            </a:r>
          </a:p>
          <a:p>
            <a:pPr lvl="1"/>
            <a:r>
              <a:rPr lang="en-US" dirty="0"/>
              <a:t>Passing the array by reference</a:t>
            </a:r>
          </a:p>
          <a:p>
            <a:pPr lvl="1"/>
            <a:r>
              <a:rPr lang="en-US" dirty="0"/>
              <a:t>… or the easy way!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84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FD728-77E0-A8A7-7A6C-EE823CF9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Easy Way first!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2CFD5-95E8-69D7-F27A-726846573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4576103" cy="4127627"/>
          </a:xfrm>
        </p:spPr>
        <p:txBody>
          <a:bodyPr/>
          <a:lstStyle/>
          <a:p>
            <a:pPr marL="45720" indent="0">
              <a:buNone/>
            </a:pPr>
            <a:r>
              <a:rPr lang="en-US" dirty="0"/>
              <a:t>void display1D(int </a:t>
            </a:r>
            <a:r>
              <a:rPr lang="en-US" dirty="0" err="1"/>
              <a:t>arr</a:t>
            </a:r>
            <a:r>
              <a:rPr lang="en-US" dirty="0"/>
              <a:t>[], int size) {</a:t>
            </a:r>
          </a:p>
          <a:p>
            <a:pPr marL="45720" indent="0">
              <a:buNone/>
            </a:pPr>
            <a:r>
              <a:rPr lang="en-US" dirty="0"/>
              <a:t>	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4572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("%d ",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45720" indent="0">
              <a:buNone/>
            </a:pPr>
            <a:r>
              <a:rPr lang="en-US" dirty="0"/>
              <a:t>	}</a:t>
            </a:r>
          </a:p>
          <a:p>
            <a:pPr marL="45720" indent="0">
              <a:buNone/>
            </a:pPr>
            <a:r>
              <a:rPr lang="en-US" dirty="0"/>
              <a:t>	</a:t>
            </a:r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286165-0587-AD6C-9D69-712FDF111E77}"/>
              </a:ext>
            </a:extLst>
          </p:cNvPr>
          <p:cNvSpPr txBox="1"/>
          <p:nvPr/>
        </p:nvSpPr>
        <p:spPr>
          <a:xfrm>
            <a:off x="5917223" y="1901952"/>
            <a:ext cx="6011008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int main() {</a:t>
            </a:r>
          </a:p>
          <a:p>
            <a:r>
              <a:rPr lang="en-US" dirty="0">
                <a:solidFill>
                  <a:schemeClr val="tx2"/>
                </a:solidFill>
              </a:rPr>
              <a:t>	int arr1D[] = {11, 22, 33, 44, 55, 66, 77, 88, 99, 			111};</a:t>
            </a:r>
          </a:p>
          <a:p>
            <a:r>
              <a:rPr lang="en-US" dirty="0">
                <a:solidFill>
                  <a:schemeClr val="tx2"/>
                </a:solidFill>
              </a:rPr>
              <a:t>	int arr1D_size5[5] = {1, 2, 3, 4, 5};</a:t>
            </a:r>
          </a:p>
          <a:p>
            <a:r>
              <a:rPr lang="en-US" dirty="0">
                <a:solidFill>
                  <a:schemeClr val="tx2"/>
                </a:solidFill>
              </a:rPr>
              <a:t>	</a:t>
            </a:r>
          </a:p>
          <a:p>
            <a:r>
              <a:rPr lang="en-US" dirty="0">
                <a:solidFill>
                  <a:schemeClr val="tx2"/>
                </a:solidFill>
              </a:rPr>
              <a:t>	display1D(arr1D, </a:t>
            </a:r>
            <a:r>
              <a:rPr lang="en-US" dirty="0" err="1">
                <a:solidFill>
                  <a:schemeClr val="tx2"/>
                </a:solidFill>
              </a:rPr>
              <a:t>sizeof</a:t>
            </a:r>
            <a:r>
              <a:rPr lang="en-US" dirty="0">
                <a:solidFill>
                  <a:schemeClr val="tx2"/>
                </a:solidFill>
              </a:rPr>
              <a:t>(arr1D)/4);</a:t>
            </a:r>
          </a:p>
          <a:p>
            <a:r>
              <a:rPr lang="en-US" dirty="0">
                <a:solidFill>
                  <a:schemeClr val="tx2"/>
                </a:solidFill>
              </a:rPr>
              <a:t>	display1D(arr1D_size5, </a:t>
            </a:r>
            <a:r>
              <a:rPr lang="en-US" dirty="0" err="1">
                <a:solidFill>
                  <a:schemeClr val="tx2"/>
                </a:solidFill>
              </a:rPr>
              <a:t>sizeof</a:t>
            </a:r>
            <a:r>
              <a:rPr lang="en-US" dirty="0">
                <a:solidFill>
                  <a:schemeClr val="tx2"/>
                </a:solidFill>
              </a:rPr>
              <a:t>(arr1D_size5)/4);</a:t>
            </a:r>
          </a:p>
          <a:p>
            <a:r>
              <a:rPr lang="en-US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593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B61A-D4B3-6289-18E2-47FB20B96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now, the pointers…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BA494-F145-6C7D-D2BF-84810A8DB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63179"/>
          </a:xfrm>
        </p:spPr>
        <p:txBody>
          <a:bodyPr/>
          <a:lstStyle/>
          <a:p>
            <a:r>
              <a:rPr lang="en-US" dirty="0"/>
              <a:t>It’s actually not that difficult :D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1985CE-FC10-6AEC-9D0D-2734DB6AD719}"/>
              </a:ext>
            </a:extLst>
          </p:cNvPr>
          <p:cNvSpPr txBox="1">
            <a:spLocks/>
          </p:cNvSpPr>
          <p:nvPr/>
        </p:nvSpPr>
        <p:spPr>
          <a:xfrm>
            <a:off x="1341120" y="2429056"/>
            <a:ext cx="4576103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60604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urier New" panose="02070309020205020404" pitchFamily="49" charset="0"/>
              <a:buNone/>
            </a:pPr>
            <a:r>
              <a:rPr lang="en-US" dirty="0"/>
              <a:t>void display1D(int* </a:t>
            </a:r>
            <a:r>
              <a:rPr lang="en-US" dirty="0" err="1"/>
              <a:t>arr</a:t>
            </a:r>
            <a:r>
              <a:rPr lang="en-US" dirty="0"/>
              <a:t>, int size) {</a:t>
            </a:r>
          </a:p>
          <a:p>
            <a:pPr marL="45720" indent="0">
              <a:buFont typeface="Courier New" panose="02070309020205020404" pitchFamily="49" charset="0"/>
              <a:buNone/>
            </a:pPr>
            <a:r>
              <a:rPr lang="en-US" dirty="0"/>
              <a:t>	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&lt; size;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45720" indent="0">
              <a:buFont typeface="Courier New" panose="02070309020205020404" pitchFamily="49" charset="0"/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("%d ",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45720" indent="0">
              <a:buFont typeface="Courier New" panose="02070309020205020404" pitchFamily="49" charset="0"/>
              <a:buNone/>
            </a:pPr>
            <a:r>
              <a:rPr lang="en-US" dirty="0"/>
              <a:t>	}</a:t>
            </a:r>
          </a:p>
          <a:p>
            <a:pPr marL="45720" indent="0">
              <a:buFont typeface="Courier New" panose="02070309020205020404" pitchFamily="49" charset="0"/>
              <a:buNone/>
            </a:pPr>
            <a:r>
              <a:rPr lang="en-US" dirty="0"/>
              <a:t>	</a:t>
            </a:r>
          </a:p>
          <a:p>
            <a:pPr marL="45720" indent="0">
              <a:buFont typeface="Courier New" panose="02070309020205020404" pitchFamily="49" charset="0"/>
              <a:buNone/>
            </a:pPr>
            <a:r>
              <a:rPr lang="en-US" dirty="0"/>
              <a:t>	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pPr marL="45720" indent="0">
              <a:buFont typeface="Courier New" panose="02070309020205020404" pitchFamily="49" charset="0"/>
              <a:buNone/>
            </a:pPr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1BC99-6190-7BC1-9FCD-4470935A5532}"/>
              </a:ext>
            </a:extLst>
          </p:cNvPr>
          <p:cNvSpPr txBox="1"/>
          <p:nvPr/>
        </p:nvSpPr>
        <p:spPr>
          <a:xfrm>
            <a:off x="5917223" y="2499829"/>
            <a:ext cx="6011008" cy="230832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int main() {</a:t>
            </a:r>
          </a:p>
          <a:p>
            <a:r>
              <a:rPr lang="en-US" dirty="0">
                <a:solidFill>
                  <a:schemeClr val="tx2"/>
                </a:solidFill>
              </a:rPr>
              <a:t>	int arr1D[] = {11, 22, 33, 44, 55, 66, 77, 88, 99, 			111};</a:t>
            </a:r>
          </a:p>
          <a:p>
            <a:r>
              <a:rPr lang="en-US" dirty="0">
                <a:solidFill>
                  <a:schemeClr val="tx2"/>
                </a:solidFill>
              </a:rPr>
              <a:t>	int arr1D_size5[5] = {1, 2, 3, 4, 5};</a:t>
            </a:r>
          </a:p>
          <a:p>
            <a:r>
              <a:rPr lang="en-US" dirty="0">
                <a:solidFill>
                  <a:schemeClr val="tx2"/>
                </a:solidFill>
              </a:rPr>
              <a:t>	</a:t>
            </a:r>
          </a:p>
          <a:p>
            <a:r>
              <a:rPr lang="en-US" dirty="0">
                <a:solidFill>
                  <a:schemeClr val="tx2"/>
                </a:solidFill>
              </a:rPr>
              <a:t>	display1D(arr1D, </a:t>
            </a:r>
            <a:r>
              <a:rPr lang="en-US" dirty="0" err="1">
                <a:solidFill>
                  <a:schemeClr val="tx2"/>
                </a:solidFill>
              </a:rPr>
              <a:t>sizeof</a:t>
            </a:r>
            <a:r>
              <a:rPr lang="en-US" dirty="0">
                <a:solidFill>
                  <a:schemeClr val="tx2"/>
                </a:solidFill>
              </a:rPr>
              <a:t>(arr1D)/4);</a:t>
            </a:r>
          </a:p>
          <a:p>
            <a:r>
              <a:rPr lang="en-US" dirty="0">
                <a:solidFill>
                  <a:schemeClr val="tx2"/>
                </a:solidFill>
              </a:rPr>
              <a:t>	display1D(arr1D_size5, </a:t>
            </a:r>
            <a:r>
              <a:rPr lang="en-US" dirty="0" err="1">
                <a:solidFill>
                  <a:schemeClr val="tx2"/>
                </a:solidFill>
              </a:rPr>
              <a:t>sizeof</a:t>
            </a:r>
            <a:r>
              <a:rPr lang="en-US" dirty="0">
                <a:solidFill>
                  <a:schemeClr val="tx2"/>
                </a:solidFill>
              </a:rPr>
              <a:t>(arr1D_size5)/4);</a:t>
            </a:r>
          </a:p>
          <a:p>
            <a:r>
              <a:rPr lang="en-US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831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0E891-0C32-EC59-209A-665B2AFB0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2D Arrays 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E2EC-42FA-4CA0-39BD-67CF56980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4754880" cy="412762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void </a:t>
            </a:r>
            <a:r>
              <a:rPr lang="en-US" dirty="0" err="1"/>
              <a:t>displayNames</a:t>
            </a:r>
            <a:r>
              <a:rPr lang="en-US" dirty="0"/>
              <a:t>(char </a:t>
            </a:r>
            <a:r>
              <a:rPr lang="en-US" dirty="0" err="1"/>
              <a:t>arr</a:t>
            </a:r>
            <a:r>
              <a:rPr lang="en-US" dirty="0"/>
              <a:t>[3][3]) {</a:t>
            </a:r>
          </a:p>
          <a:p>
            <a:pPr marL="45720" indent="0">
              <a:buNone/>
            </a:pPr>
            <a:r>
              <a:rPr lang="en-US" dirty="0"/>
              <a:t>     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&lt;3;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45720" indent="0">
              <a:buNone/>
            </a:pPr>
            <a:r>
              <a:rPr lang="en-US" dirty="0"/>
              <a:t>          for(int j=0; j&lt;3;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pPr marL="45720" indent="0">
              <a:buNone/>
            </a:pPr>
            <a:r>
              <a:rPr lang="en-US" dirty="0"/>
              <a:t>                  </a:t>
            </a:r>
            <a:r>
              <a:rPr lang="en-US" dirty="0" err="1"/>
              <a:t>printf</a:t>
            </a:r>
            <a:r>
              <a:rPr lang="en-US" dirty="0"/>
              <a:t>("%c",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][j]);        </a:t>
            </a:r>
          </a:p>
          <a:p>
            <a:pPr marL="45720" indent="0">
              <a:buNone/>
            </a:pPr>
            <a:r>
              <a:rPr lang="en-US" dirty="0"/>
              <a:t>          }</a:t>
            </a:r>
          </a:p>
          <a:p>
            <a:pPr marL="45720" indent="0">
              <a:buNone/>
            </a:pPr>
            <a:r>
              <a:rPr lang="en-US" dirty="0"/>
              <a:t>          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pPr marL="45720" indent="0">
              <a:buNone/>
            </a:pPr>
            <a:r>
              <a:rPr lang="en-US" dirty="0"/>
              <a:t>     }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C94772-21D3-038F-D606-1C354DB72B7B}"/>
              </a:ext>
            </a:extLst>
          </p:cNvPr>
          <p:cNvSpPr txBox="1">
            <a:spLocks/>
          </p:cNvSpPr>
          <p:nvPr/>
        </p:nvSpPr>
        <p:spPr>
          <a:xfrm>
            <a:off x="6096000" y="1901951"/>
            <a:ext cx="475488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60604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dirty="0"/>
              <a:t>int main(){</a:t>
            </a:r>
          </a:p>
          <a:p>
            <a:pPr marL="45720" indent="0">
              <a:buNone/>
            </a:pPr>
            <a:r>
              <a:rPr lang="en-US" dirty="0"/>
              <a:t>    char names[3][3] = {</a:t>
            </a:r>
          </a:p>
          <a:p>
            <a:pPr marL="45720" indent="0">
              <a:buNone/>
            </a:pPr>
            <a:r>
              <a:rPr lang="en-US" dirty="0"/>
              <a:t>         {'t', '</a:t>
            </a:r>
            <a:r>
              <a:rPr lang="en-US" dirty="0" err="1"/>
              <a:t>i</a:t>
            </a:r>
            <a:r>
              <a:rPr lang="en-US" dirty="0"/>
              <a:t>', 'm'},</a:t>
            </a:r>
          </a:p>
          <a:p>
            <a:pPr marL="45720" indent="0">
              <a:buNone/>
            </a:pPr>
            <a:r>
              <a:rPr lang="en-US" dirty="0"/>
              <a:t>         {'t', 'o', 'm'},</a:t>
            </a:r>
          </a:p>
          <a:p>
            <a:pPr marL="45720" indent="0">
              <a:buNone/>
            </a:pPr>
            <a:r>
              <a:rPr lang="en-US" dirty="0"/>
              <a:t>         {'b', 'o', 'b'}</a:t>
            </a:r>
          </a:p>
          <a:p>
            <a:pPr marL="45720" indent="0">
              <a:buNone/>
            </a:pPr>
            <a:r>
              <a:rPr lang="en-US" dirty="0"/>
              <a:t>         };</a:t>
            </a:r>
          </a:p>
          <a:p>
            <a:pPr marL="45720" indent="0">
              <a:buNone/>
            </a:pPr>
            <a:r>
              <a:rPr lang="en-US" dirty="0"/>
              <a:t>    </a:t>
            </a:r>
            <a:r>
              <a:rPr lang="en-US" dirty="0" err="1"/>
              <a:t>displayNames</a:t>
            </a:r>
            <a:r>
              <a:rPr lang="en-US" dirty="0"/>
              <a:t>(names);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8124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A7CB-686E-6644-35E0-5B78CF97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a 1-D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DDF96-9AB4-EE4C-16D9-EEF0AA555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int arr_1d[10] = {1,2,3,4,5,6,7,8,9,0};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int* </a:t>
            </a:r>
            <a:r>
              <a:rPr lang="en-US" dirty="0" err="1"/>
              <a:t>returnArray</a:t>
            </a:r>
            <a:r>
              <a:rPr lang="en-US" dirty="0"/>
              <a:t>() {</a:t>
            </a:r>
          </a:p>
          <a:p>
            <a:pPr marL="45720" indent="0">
              <a:buNone/>
            </a:pPr>
            <a:r>
              <a:rPr lang="en-US" dirty="0"/>
              <a:t>	return arr_1d;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052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093A9-E4D3-1766-C98B-D843BB3C5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a 2-D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DEF4-72DA-17FF-90C2-5F3A769A2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4145281" cy="412762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/>
              <a:t>int arr_2d [3][3] = { </a:t>
            </a:r>
          </a:p>
          <a:p>
            <a:pPr marL="45720" indent="0">
              <a:buNone/>
            </a:pPr>
            <a:r>
              <a:rPr lang="en-US" dirty="0"/>
              <a:t>	{1,0,3},</a:t>
            </a:r>
          </a:p>
          <a:p>
            <a:pPr marL="45720" indent="0">
              <a:buNone/>
            </a:pPr>
            <a:r>
              <a:rPr lang="en-US" dirty="0"/>
              <a:t>	{4,0,6},</a:t>
            </a:r>
          </a:p>
          <a:p>
            <a:pPr marL="45720" indent="0">
              <a:buNone/>
            </a:pPr>
            <a:r>
              <a:rPr lang="en-US" dirty="0"/>
              <a:t>	{7,0,9}</a:t>
            </a:r>
          </a:p>
          <a:p>
            <a:pPr marL="45720" indent="0">
              <a:buNone/>
            </a:pPr>
            <a:r>
              <a:rPr lang="en-US" dirty="0"/>
              <a:t>	};</a:t>
            </a:r>
          </a:p>
          <a:p>
            <a:pPr marL="45720" indent="0">
              <a:buNone/>
            </a:pPr>
            <a:r>
              <a:rPr lang="en-US" dirty="0"/>
              <a:t>int* returnArray_2d_1() {</a:t>
            </a:r>
          </a:p>
          <a:p>
            <a:pPr marL="45720" indent="0">
              <a:buNone/>
            </a:pPr>
            <a:r>
              <a:rPr lang="en-US" dirty="0"/>
              <a:t>	return &amp;arr_2d[0][0];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B6C167-2226-D41D-24CF-32CD5F7470A4}"/>
              </a:ext>
            </a:extLst>
          </p:cNvPr>
          <p:cNvSpPr txBox="1">
            <a:spLocks/>
          </p:cNvSpPr>
          <p:nvPr/>
        </p:nvSpPr>
        <p:spPr>
          <a:xfrm>
            <a:off x="5486401" y="1975222"/>
            <a:ext cx="6435968" cy="4504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Char char="o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606040" indent="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>
                  <a:lumMod val="75000"/>
                </a:schemeClr>
              </a:buClr>
              <a:buSzPct val="80000"/>
              <a:buFont typeface="Courier New" panose="02070309020205020404" pitchFamily="49" charset="0"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None/>
            </a:pPr>
            <a:r>
              <a:rPr lang="en-US" dirty="0"/>
              <a:t>int main() {</a:t>
            </a:r>
          </a:p>
          <a:p>
            <a:pPr marL="45720" indent="0">
              <a:buNone/>
            </a:pPr>
            <a:r>
              <a:rPr lang="en-US" dirty="0"/>
              <a:t>	int (*arr_r2d_1)[3] = returnArray_2d_1();</a:t>
            </a:r>
          </a:p>
          <a:p>
            <a:pPr marL="45720" indent="0">
              <a:buNone/>
            </a:pPr>
            <a:r>
              <a:rPr lang="en-US" dirty="0"/>
              <a:t>	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3;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45720" indent="0">
              <a:buNone/>
            </a:pPr>
            <a:r>
              <a:rPr lang="en-US" dirty="0"/>
              <a:t>		for (int j = 0; j &lt; 3;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pPr marL="45720" indent="0">
              <a:buNone/>
            </a:pPr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("%d ", arr_r2d_1[</a:t>
            </a:r>
            <a:r>
              <a:rPr lang="en-US" dirty="0" err="1"/>
              <a:t>i</a:t>
            </a:r>
            <a:r>
              <a:rPr lang="en-US" dirty="0"/>
              <a:t>][j]);</a:t>
            </a:r>
          </a:p>
          <a:p>
            <a:pPr marL="45720" indent="0">
              <a:buNone/>
            </a:pPr>
            <a:r>
              <a:rPr lang="en-US" dirty="0"/>
              <a:t>		}</a:t>
            </a:r>
          </a:p>
          <a:p>
            <a:pPr marL="4572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pPr marL="45720" indent="0">
              <a:buNone/>
            </a:pPr>
            <a:r>
              <a:rPr lang="en-US" dirty="0"/>
              <a:t>	}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073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C081-9959-AC3F-96BA-8464AC55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a 2-D Array; The Spooky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C17C7-FD48-1E6C-A642-21E3DF090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850540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US" dirty="0"/>
              <a:t>int (*returnArray_2d_2())[3] {</a:t>
            </a:r>
          </a:p>
          <a:p>
            <a:pPr marL="45720" indent="0">
              <a:buNone/>
            </a:pPr>
            <a:r>
              <a:rPr lang="en-US" dirty="0"/>
              <a:t>	return arr_2d;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  <a:p>
            <a:pPr marL="45720" indent="0">
              <a:buNone/>
            </a:pPr>
            <a:r>
              <a:rPr lang="en-US" dirty="0"/>
              <a:t>//in main, call it as such:</a:t>
            </a:r>
          </a:p>
          <a:p>
            <a:pPr marL="45720" indent="0">
              <a:buNone/>
            </a:pPr>
            <a:r>
              <a:rPr lang="en-US" dirty="0"/>
              <a:t>	int (*arr_r2d_2)[3] = returnArray_2d_2();</a:t>
            </a:r>
          </a:p>
          <a:p>
            <a:pPr marL="45720" indent="0">
              <a:buNone/>
            </a:pPr>
            <a:r>
              <a:rPr lang="en-US" dirty="0"/>
              <a:t>	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3;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45720" indent="0">
              <a:buNone/>
            </a:pPr>
            <a:r>
              <a:rPr lang="en-US" dirty="0"/>
              <a:t>		for (int j = 0; j &lt; 3;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pPr marL="45720" indent="0">
              <a:buNone/>
            </a:pPr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("%d ", arr_r2d_2[</a:t>
            </a:r>
            <a:r>
              <a:rPr lang="en-US" dirty="0" err="1"/>
              <a:t>i</a:t>
            </a:r>
            <a:r>
              <a:rPr lang="en-US" dirty="0"/>
              <a:t>][j]);</a:t>
            </a:r>
          </a:p>
          <a:p>
            <a:pPr marL="45720" indent="0">
              <a:buNone/>
            </a:pPr>
            <a:r>
              <a:rPr lang="en-US" dirty="0"/>
              <a:t>		}</a:t>
            </a:r>
          </a:p>
          <a:p>
            <a:pPr marL="4572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("\n");</a:t>
            </a:r>
          </a:p>
          <a:p>
            <a:pPr marL="45720" indent="0">
              <a:buNone/>
            </a:pPr>
            <a:r>
              <a:rPr lang="en-US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151833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60FBC-BB0C-D96C-0827-58264F92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C4C0-88E0-893C-DA31-EBBFB2DB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Fin.</a:t>
            </a:r>
          </a:p>
        </p:txBody>
      </p:sp>
    </p:spTree>
    <p:extLst>
      <p:ext uri="{BB962C8B-B14F-4D97-AF65-F5344CB8AC3E}">
        <p14:creationId xmlns:p14="http://schemas.microsoft.com/office/powerpoint/2010/main" val="215628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754</TotalTime>
  <Words>1936</Words>
  <Application>Microsoft Office PowerPoint</Application>
  <PresentationFormat>Widescreen</PresentationFormat>
  <Paragraphs>266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Century Gothic</vt:lpstr>
      <vt:lpstr>Courier New</vt:lpstr>
      <vt:lpstr>Bubbles design template</vt:lpstr>
      <vt:lpstr>Programming Fundamentals</vt:lpstr>
      <vt:lpstr>Multi-Dimensional Arrays</vt:lpstr>
      <vt:lpstr>Visualizing 3D - Arrays</vt:lpstr>
      <vt:lpstr>Scope of a Variable</vt:lpstr>
      <vt:lpstr>An Example (see the .c on GitHub for a commented version)</vt:lpstr>
      <vt:lpstr>Functions</vt:lpstr>
      <vt:lpstr>Let’s have a look at the main function</vt:lpstr>
      <vt:lpstr>printf and scanf are functions…</vt:lpstr>
      <vt:lpstr>What can you pass to a function when calling it?</vt:lpstr>
      <vt:lpstr>Let’s make some custom functions of our own! Also, call these functions from the main function.</vt:lpstr>
      <vt:lpstr>Things start to get a bit complicated here…</vt:lpstr>
      <vt:lpstr>Passing an argument by value</vt:lpstr>
      <vt:lpstr>Passing an Argument by Value</vt:lpstr>
      <vt:lpstr>Passing an argument by reference</vt:lpstr>
      <vt:lpstr>Let’s visualize the example</vt:lpstr>
      <vt:lpstr>Passing an argument by reference</vt:lpstr>
      <vt:lpstr>Back to the Original Question</vt:lpstr>
      <vt:lpstr>Let’s Look at the Easy Way first!</vt:lpstr>
      <vt:lpstr>And now, the pointers…</vt:lpstr>
      <vt:lpstr>Passing 2D Arrays to Functions</vt:lpstr>
      <vt:lpstr>Returning a 1-D Array</vt:lpstr>
      <vt:lpstr>Returning a 2-D Array</vt:lpstr>
      <vt:lpstr>Returning a 2-D Array; The Spooky Way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92</cp:revision>
  <dcterms:created xsi:type="dcterms:W3CDTF">2025-08-15T04:59:41Z</dcterms:created>
  <dcterms:modified xsi:type="dcterms:W3CDTF">2025-11-17T08:47:22Z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