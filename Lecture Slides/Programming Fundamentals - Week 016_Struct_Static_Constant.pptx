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41"/>
  </p:notesMasterIdLst>
  <p:handoutMasterIdLst>
    <p:handoutMasterId r:id="rId42"/>
  </p:handout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8" r:id="rId14"/>
    <p:sldId id="279" r:id="rId15"/>
    <p:sldId id="280" r:id="rId16"/>
    <p:sldId id="281" r:id="rId17"/>
    <p:sldId id="282" r:id="rId18"/>
    <p:sldId id="283" r:id="rId19"/>
    <p:sldId id="273" r:id="rId20"/>
    <p:sldId id="271" r:id="rId21"/>
    <p:sldId id="272" r:id="rId22"/>
    <p:sldId id="274" r:id="rId23"/>
    <p:sldId id="276" r:id="rId24"/>
    <p:sldId id="277" r:id="rId25"/>
    <p:sldId id="284" r:id="rId26"/>
    <p:sldId id="285" r:id="rId27"/>
    <p:sldId id="286" r:id="rId28"/>
    <p:sldId id="275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6" r:id="rId37"/>
    <p:sldId id="294" r:id="rId38"/>
    <p:sldId id="295" r:id="rId39"/>
    <p:sldId id="260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beeha Sattar" initials="AS" lastIdx="1" clrIdx="0">
    <p:extLst>
      <p:ext uri="{19B8F6BF-5375-455C-9EA6-DF929625EA0E}">
        <p15:presenceInfo xmlns:p15="http://schemas.microsoft.com/office/powerpoint/2012/main" userId="0d445e45fa64e34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206" autoAdjust="0"/>
  </p:normalViewPr>
  <p:slideViewPr>
    <p:cSldViewPr snapToGrid="0">
      <p:cViewPr varScale="1">
        <p:scale>
          <a:sx n="105" d="100"/>
          <a:sy n="105" d="100"/>
        </p:scale>
        <p:origin x="774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168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D2DDA-69D8-473F-A583-B6774B31A77B}" type="datetimeFigureOut">
              <a:rPr lang="en-US"/>
              <a:t>12/5/2025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92CCB-FF08-4D29-8DA3-E1FD86044808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215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F6DFB-6833-46E4-B515-70E0D9178056}" type="datetimeFigureOut">
              <a:rPr lang="en-US"/>
              <a:t>12/5/2025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706C7-F2C3-48B6-8A22-C484D800B5D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950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-2" y="295863"/>
            <a:ext cx="12188827" cy="6323264"/>
            <a:chOff x="-2" y="295863"/>
            <a:chExt cx="12188827" cy="6323264"/>
          </a:xfrm>
        </p:grpSpPr>
        <p:sp>
          <p:nvSpPr>
            <p:cNvPr id="33" name="Rectangle 32"/>
            <p:cNvSpPr/>
            <p:nvPr/>
          </p:nvSpPr>
          <p:spPr>
            <a:xfrm>
              <a:off x="-1" y="1905000"/>
              <a:ext cx="12188826" cy="320040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-2" y="1795132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-2" y="5142116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36" name="Oval 2"/>
            <p:cNvSpPr>
              <a:spLocks noChangeArrowheads="1"/>
            </p:cNvSpPr>
            <p:nvPr/>
          </p:nvSpPr>
          <p:spPr bwMode="grayWhite">
            <a:xfrm>
              <a:off x="534293" y="5791419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3"/>
            <p:cNvSpPr>
              <a:spLocks noChangeArrowheads="1"/>
            </p:cNvSpPr>
            <p:nvPr/>
          </p:nvSpPr>
          <p:spPr bwMode="grayWhite">
            <a:xfrm>
              <a:off x="696482" y="5958903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5"/>
            <p:cNvSpPr>
              <a:spLocks noChangeArrowheads="1"/>
            </p:cNvSpPr>
            <p:nvPr/>
          </p:nvSpPr>
          <p:spPr bwMode="grayWhite">
            <a:xfrm>
              <a:off x="213400" y="5778215"/>
              <a:ext cx="310863" cy="321012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Oval 6"/>
            <p:cNvSpPr>
              <a:spLocks noChangeArrowheads="1"/>
            </p:cNvSpPr>
            <p:nvPr/>
          </p:nvSpPr>
          <p:spPr bwMode="grayWhite">
            <a:xfrm>
              <a:off x="284358" y="5851489"/>
              <a:ext cx="40547" cy="4187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Oval 8"/>
            <p:cNvSpPr>
              <a:spLocks noChangeArrowheads="1"/>
            </p:cNvSpPr>
            <p:nvPr/>
          </p:nvSpPr>
          <p:spPr bwMode="grayWhite">
            <a:xfrm>
              <a:off x="10486137" y="5404864"/>
              <a:ext cx="473052" cy="488496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Oval 9"/>
            <p:cNvSpPr>
              <a:spLocks noChangeArrowheads="1"/>
            </p:cNvSpPr>
            <p:nvPr/>
          </p:nvSpPr>
          <p:spPr bwMode="grayWhite">
            <a:xfrm>
              <a:off x="10594263" y="5516520"/>
              <a:ext cx="65889" cy="6804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Oval 11"/>
            <p:cNvSpPr>
              <a:spLocks noChangeArrowheads="1"/>
            </p:cNvSpPr>
            <p:nvPr/>
          </p:nvSpPr>
          <p:spPr bwMode="grayWhite">
            <a:xfrm>
              <a:off x="6575012" y="621437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Oval 12"/>
            <p:cNvSpPr>
              <a:spLocks noChangeArrowheads="1"/>
            </p:cNvSpPr>
            <p:nvPr/>
          </p:nvSpPr>
          <p:spPr bwMode="grayWhite">
            <a:xfrm>
              <a:off x="6664554" y="630683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Oval 14"/>
            <p:cNvSpPr>
              <a:spLocks noChangeArrowheads="1"/>
            </p:cNvSpPr>
            <p:nvPr/>
          </p:nvSpPr>
          <p:spPr bwMode="grayWhite">
            <a:xfrm>
              <a:off x="3520863" y="57338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Oval 15"/>
            <p:cNvSpPr>
              <a:spLocks noChangeArrowheads="1"/>
            </p:cNvSpPr>
            <p:nvPr/>
          </p:nvSpPr>
          <p:spPr bwMode="grayWhite">
            <a:xfrm>
              <a:off x="3610405" y="58262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Oval 17"/>
            <p:cNvSpPr>
              <a:spLocks noChangeArrowheads="1"/>
            </p:cNvSpPr>
            <p:nvPr/>
          </p:nvSpPr>
          <p:spPr bwMode="grayWhite">
            <a:xfrm>
              <a:off x="5845161" y="295863"/>
              <a:ext cx="716336" cy="739723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Oval 18"/>
            <p:cNvSpPr>
              <a:spLocks noChangeArrowheads="1"/>
            </p:cNvSpPr>
            <p:nvPr/>
          </p:nvSpPr>
          <p:spPr bwMode="grayWhite">
            <a:xfrm>
              <a:off x="6007350" y="463347"/>
              <a:ext cx="106437" cy="1099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Oval 20"/>
            <p:cNvSpPr>
              <a:spLocks noChangeArrowheads="1"/>
            </p:cNvSpPr>
            <p:nvPr/>
          </p:nvSpPr>
          <p:spPr bwMode="grayWhite">
            <a:xfrm>
              <a:off x="5439688" y="63083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Oval 21"/>
            <p:cNvSpPr>
              <a:spLocks noChangeArrowheads="1"/>
            </p:cNvSpPr>
            <p:nvPr/>
          </p:nvSpPr>
          <p:spPr bwMode="grayWhite">
            <a:xfrm>
              <a:off x="5529230" y="72329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Oval 23"/>
            <p:cNvSpPr>
              <a:spLocks noChangeArrowheads="1"/>
            </p:cNvSpPr>
            <p:nvPr/>
          </p:nvSpPr>
          <p:spPr bwMode="grayWhite">
            <a:xfrm>
              <a:off x="6575012" y="295863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Oval 24"/>
            <p:cNvSpPr>
              <a:spLocks noChangeArrowheads="1"/>
            </p:cNvSpPr>
            <p:nvPr/>
          </p:nvSpPr>
          <p:spPr bwMode="grayWhite">
            <a:xfrm>
              <a:off x="6664554" y="388328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Oval 26"/>
            <p:cNvSpPr>
              <a:spLocks noChangeArrowheads="1"/>
            </p:cNvSpPr>
            <p:nvPr/>
          </p:nvSpPr>
          <p:spPr bwMode="grayWhite">
            <a:xfrm>
              <a:off x="11218217" y="589639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Oval 27"/>
            <p:cNvSpPr>
              <a:spLocks noChangeArrowheads="1"/>
            </p:cNvSpPr>
            <p:nvPr/>
          </p:nvSpPr>
          <p:spPr bwMode="grayWhite">
            <a:xfrm>
              <a:off x="11344927" y="720486"/>
              <a:ext cx="79405" cy="8199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Oval 29"/>
            <p:cNvSpPr>
              <a:spLocks noChangeArrowheads="1"/>
            </p:cNvSpPr>
            <p:nvPr/>
          </p:nvSpPr>
          <p:spPr bwMode="grayWhite">
            <a:xfrm>
              <a:off x="11312827" y="1372978"/>
              <a:ext cx="229768" cy="237270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Oval 30"/>
            <p:cNvSpPr>
              <a:spLocks noChangeArrowheads="1"/>
            </p:cNvSpPr>
            <p:nvPr/>
          </p:nvSpPr>
          <p:spPr bwMode="grayWhite">
            <a:xfrm>
              <a:off x="11366890" y="1428806"/>
              <a:ext cx="27032" cy="27914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Oval 32"/>
            <p:cNvSpPr>
              <a:spLocks noChangeArrowheads="1"/>
            </p:cNvSpPr>
            <p:nvPr/>
          </p:nvSpPr>
          <p:spPr bwMode="grayWhite">
            <a:xfrm>
              <a:off x="1303864" y="669938"/>
              <a:ext cx="554146" cy="572239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Oval 33"/>
            <p:cNvSpPr>
              <a:spLocks noChangeArrowheads="1"/>
            </p:cNvSpPr>
            <p:nvPr/>
          </p:nvSpPr>
          <p:spPr bwMode="grayWhite">
            <a:xfrm>
              <a:off x="1428885" y="799041"/>
              <a:ext cx="81095" cy="8374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8" name="Oval 35"/>
            <p:cNvSpPr>
              <a:spLocks noChangeArrowheads="1"/>
            </p:cNvSpPr>
            <p:nvPr/>
          </p:nvSpPr>
          <p:spPr bwMode="grayWhite">
            <a:xfrm>
              <a:off x="1871526" y="837422"/>
              <a:ext cx="391957" cy="404754"/>
            </a:xfrm>
            <a:prstGeom prst="ellipse">
              <a:avLst/>
            </a:prstGeom>
            <a:noFill/>
            <a:ln w="12700">
              <a:solidFill>
                <a:schemeClr val="accent1">
                  <a:lumMod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Oval 36"/>
            <p:cNvSpPr>
              <a:spLocks noChangeArrowheads="1"/>
            </p:cNvSpPr>
            <p:nvPr/>
          </p:nvSpPr>
          <p:spPr bwMode="grayWhite">
            <a:xfrm>
              <a:off x="1961068" y="929887"/>
              <a:ext cx="54063" cy="5582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2079812"/>
            <a:ext cx="9601200" cy="1724092"/>
          </a:xfrm>
        </p:spPr>
        <p:txBody>
          <a:bodyPr anchor="b"/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23D7-2A27-4B34-A31C-02090805ABAC}" type="datetime1">
              <a:rPr lang="en-US" smtClean="0"/>
              <a:t>12/5/2025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14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C7548-FD58-4384-A951-C87160C229EB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49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anchor="b">
            <a:normAutofit/>
          </a:bodyPr>
          <a:lstStyle>
            <a:lvl1pPr algn="ctr">
              <a:defRPr sz="5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13194-3577-4D3C-A927-FE879CBA54D5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80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341120" y="1901952"/>
            <a:ext cx="4572000" cy="41239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/>
            </a:lvl5pPr>
            <a:lvl6pPr>
              <a:defRPr/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we</a:t>
            </a:r>
          </a:p>
          <a:p>
            <a:pPr lvl="5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DC53B-D6DF-4D88-8598-DAA646F1ABC6}" type="datetime1">
              <a:rPr lang="en-US" smtClean="0"/>
              <a:t>12/5/2025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21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120" y="466344"/>
            <a:ext cx="9509760" cy="1234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13985-7297-49C2-8AF7-445853E5DC92}" type="datetime1">
              <a:rPr lang="en-US" smtClean="0"/>
              <a:t>12/5/2025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09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7CB2E-E929-49CA-BA6D-3C562126F566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3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6" name="Rectangle 5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7CFE0-ED18-4B5C-AA30-B675E1042721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49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BAAB-3A39-450E-9B38-6FB42E71A3AF}" type="datetime1">
              <a:rPr lang="en-US" smtClean="0"/>
              <a:t>12/5/2025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6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Rectangle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>
              <a:defRPr sz="34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50811" y="506104"/>
            <a:ext cx="685800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E0331-03F7-4310-9C27-C65B2378D791}" type="datetime1">
              <a:rPr lang="en-US" smtClean="0"/>
              <a:t>12/5/2025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7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2F1F3-2254-4E04-B960-C1DB42B67330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02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0DE7-A14C-48CB-AB8E-D3357522F5F2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2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162"/>
          <p:cNvGrpSpPr/>
          <p:nvPr/>
        </p:nvGrpSpPr>
        <p:grpSpPr>
          <a:xfrm>
            <a:off x="7873" y="-19258"/>
            <a:ext cx="12188953" cy="6869723"/>
            <a:chOff x="7873" y="-19258"/>
            <a:chExt cx="12188953" cy="6869723"/>
          </a:xfrm>
        </p:grpSpPr>
        <p:sp>
          <p:nvSpPr>
            <p:cNvPr id="10" name="Rectangle 9"/>
            <p:cNvSpPr/>
            <p:nvPr/>
          </p:nvSpPr>
          <p:spPr>
            <a:xfrm>
              <a:off x="7873" y="-19258"/>
              <a:ext cx="12188952" cy="685800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7999" y="6472513"/>
              <a:ext cx="12188827" cy="377952"/>
              <a:chOff x="-1" y="6480048"/>
              <a:chExt cx="12188827" cy="377952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0" y="6583680"/>
                <a:ext cx="12188826" cy="274320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50000"/>
                    </a:schemeClr>
                  </a:gs>
                  <a:gs pos="0">
                    <a:schemeClr val="accent1">
                      <a:lumMod val="60000"/>
                      <a:lumOff val="40000"/>
                      <a:alpha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-1" y="6480048"/>
                <a:ext cx="12188826" cy="73152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alpha val="80000"/>
                    </a:schemeClr>
                  </a:gs>
                  <a:gs pos="0">
                    <a:schemeClr val="accent1">
                      <a:lumMod val="60000"/>
                      <a:lumOff val="40000"/>
                      <a:alpha val="8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/>
              </a:p>
            </p:txBody>
          </p:sp>
        </p:grpSp>
        <p:grpSp>
          <p:nvGrpSpPr>
            <p:cNvPr id="48" name="Group 47" hidden="1"/>
            <p:cNvGrpSpPr/>
            <p:nvPr/>
          </p:nvGrpSpPr>
          <p:grpSpPr>
            <a:xfrm>
              <a:off x="14350" y="-7605"/>
              <a:ext cx="11722100" cy="6536383"/>
              <a:chOff x="6350" y="6350"/>
              <a:chExt cx="11722100" cy="6536383"/>
            </a:xfrm>
          </p:grpSpPr>
          <p:grpSp>
            <p:nvGrpSpPr>
              <p:cNvPr id="11" name="Group 9"/>
              <p:cNvGrpSpPr>
                <a:grpSpLocks/>
              </p:cNvGrpSpPr>
              <p:nvPr/>
            </p:nvGrpSpPr>
            <p:grpSpPr bwMode="auto">
              <a:xfrm>
                <a:off x="6350" y="5340350"/>
                <a:ext cx="673100" cy="673100"/>
                <a:chOff x="4" y="3364"/>
                <a:chExt cx="424" cy="424"/>
              </a:xfrm>
            </p:grpSpPr>
            <p:sp>
              <p:nvSpPr>
                <p:cNvPr id="45" name="Oval 7"/>
                <p:cNvSpPr>
                  <a:spLocks noChangeArrowheads="1"/>
                </p:cNvSpPr>
                <p:nvPr/>
              </p:nvSpPr>
              <p:spPr bwMode="grayWhite">
                <a:xfrm>
                  <a:off x="4" y="336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Oval 8"/>
                <p:cNvSpPr>
                  <a:spLocks noChangeArrowheads="1"/>
                </p:cNvSpPr>
                <p:nvPr/>
              </p:nvSpPr>
              <p:spPr bwMode="grayWhite">
                <a:xfrm>
                  <a:off x="100" y="346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2" name="Group 12"/>
              <p:cNvGrpSpPr>
                <a:grpSpLocks/>
              </p:cNvGrpSpPr>
              <p:nvPr/>
            </p:nvGrpSpPr>
            <p:grpSpPr bwMode="auto">
              <a:xfrm>
                <a:off x="539750" y="5873750"/>
                <a:ext cx="292100" cy="292100"/>
                <a:chOff x="340" y="3700"/>
                <a:chExt cx="184" cy="184"/>
              </a:xfrm>
            </p:grpSpPr>
            <p:sp>
              <p:nvSpPr>
                <p:cNvPr id="43" name="Oval 10"/>
                <p:cNvSpPr>
                  <a:spLocks noChangeArrowheads="1"/>
                </p:cNvSpPr>
                <p:nvPr/>
              </p:nvSpPr>
              <p:spPr bwMode="grayWhite">
                <a:xfrm>
                  <a:off x="340" y="3700"/>
                  <a:ext cx="184" cy="18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Oval 11"/>
                <p:cNvSpPr>
                  <a:spLocks noChangeArrowheads="1"/>
                </p:cNvSpPr>
                <p:nvPr/>
              </p:nvSpPr>
              <p:spPr bwMode="grayWhite">
                <a:xfrm>
                  <a:off x="382" y="3742"/>
                  <a:ext cx="24" cy="24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" name="Group 15"/>
              <p:cNvGrpSpPr>
                <a:grpSpLocks/>
              </p:cNvGrpSpPr>
              <p:nvPr/>
            </p:nvGrpSpPr>
            <p:grpSpPr bwMode="auto">
              <a:xfrm>
                <a:off x="131763" y="6038850"/>
                <a:ext cx="444500" cy="444500"/>
                <a:chOff x="83" y="3804"/>
                <a:chExt cx="280" cy="280"/>
              </a:xfrm>
            </p:grpSpPr>
            <p:sp>
              <p:nvSpPr>
                <p:cNvPr id="41" name="Oval 13"/>
                <p:cNvSpPr>
                  <a:spLocks noChangeArrowheads="1"/>
                </p:cNvSpPr>
                <p:nvPr/>
              </p:nvSpPr>
              <p:spPr bwMode="grayWhite">
                <a:xfrm>
                  <a:off x="83" y="3804"/>
                  <a:ext cx="280" cy="28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Oval 14"/>
                <p:cNvSpPr>
                  <a:spLocks noChangeArrowheads="1"/>
                </p:cNvSpPr>
                <p:nvPr/>
              </p:nvSpPr>
              <p:spPr bwMode="grayWhite">
                <a:xfrm>
                  <a:off x="147" y="3868"/>
                  <a:ext cx="39" cy="39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4" name="Group 18"/>
              <p:cNvGrpSpPr>
                <a:grpSpLocks/>
              </p:cNvGrpSpPr>
              <p:nvPr/>
            </p:nvGrpSpPr>
            <p:grpSpPr bwMode="auto">
              <a:xfrm>
                <a:off x="2476500" y="6174433"/>
                <a:ext cx="368300" cy="368300"/>
                <a:chOff x="1560" y="4076"/>
                <a:chExt cx="232" cy="232"/>
              </a:xfrm>
            </p:grpSpPr>
            <p:sp>
              <p:nvSpPr>
                <p:cNvPr id="39" name="Oval 16"/>
                <p:cNvSpPr>
                  <a:spLocks noChangeArrowheads="1"/>
                </p:cNvSpPr>
                <p:nvPr/>
              </p:nvSpPr>
              <p:spPr bwMode="grayWhite">
                <a:xfrm>
                  <a:off x="1560" y="407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Oval 17"/>
                <p:cNvSpPr>
                  <a:spLocks noChangeArrowheads="1"/>
                </p:cNvSpPr>
                <p:nvPr/>
              </p:nvSpPr>
              <p:spPr bwMode="grayWhite">
                <a:xfrm>
                  <a:off x="1613" y="412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5" name="Group 21"/>
              <p:cNvGrpSpPr>
                <a:grpSpLocks/>
              </p:cNvGrpSpPr>
              <p:nvPr/>
            </p:nvGrpSpPr>
            <p:grpSpPr bwMode="auto">
              <a:xfrm>
                <a:off x="6350" y="4425950"/>
                <a:ext cx="368300" cy="368300"/>
                <a:chOff x="4" y="2788"/>
                <a:chExt cx="232" cy="232"/>
              </a:xfrm>
            </p:grpSpPr>
            <p:sp>
              <p:nvSpPr>
                <p:cNvPr id="37" name="Oval 19"/>
                <p:cNvSpPr>
                  <a:spLocks noChangeArrowheads="1"/>
                </p:cNvSpPr>
                <p:nvPr/>
              </p:nvSpPr>
              <p:spPr bwMode="grayWhite">
                <a:xfrm>
                  <a:off x="4" y="2788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8" name="Oval 20"/>
                <p:cNvSpPr>
                  <a:spLocks noChangeArrowheads="1"/>
                </p:cNvSpPr>
                <p:nvPr/>
              </p:nvSpPr>
              <p:spPr bwMode="grayWhite">
                <a:xfrm>
                  <a:off x="57" y="2841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" name="Group 24"/>
              <p:cNvGrpSpPr>
                <a:grpSpLocks/>
              </p:cNvGrpSpPr>
              <p:nvPr/>
            </p:nvGrpSpPr>
            <p:grpSpPr bwMode="auto">
              <a:xfrm>
                <a:off x="10674350" y="5808663"/>
                <a:ext cx="673100" cy="673100"/>
                <a:chOff x="4132" y="3844"/>
                <a:chExt cx="424" cy="424"/>
              </a:xfrm>
            </p:grpSpPr>
            <p:sp>
              <p:nvSpPr>
                <p:cNvPr id="35" name="Oval 22"/>
                <p:cNvSpPr>
                  <a:spLocks noChangeArrowheads="1"/>
                </p:cNvSpPr>
                <p:nvPr/>
              </p:nvSpPr>
              <p:spPr bwMode="grayWhite">
                <a:xfrm>
                  <a:off x="4132" y="3844"/>
                  <a:ext cx="424" cy="424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Oval 23"/>
                <p:cNvSpPr>
                  <a:spLocks noChangeArrowheads="1"/>
                </p:cNvSpPr>
                <p:nvPr/>
              </p:nvSpPr>
              <p:spPr bwMode="grayWhite">
                <a:xfrm>
                  <a:off x="4228" y="3940"/>
                  <a:ext cx="63" cy="63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7" name="Group 27"/>
              <p:cNvGrpSpPr>
                <a:grpSpLocks/>
              </p:cNvGrpSpPr>
              <p:nvPr/>
            </p:nvGrpSpPr>
            <p:grpSpPr bwMode="auto">
              <a:xfrm>
                <a:off x="10293350" y="6113463"/>
                <a:ext cx="368300" cy="368300"/>
                <a:chOff x="3892" y="4036"/>
                <a:chExt cx="232" cy="232"/>
              </a:xfrm>
            </p:grpSpPr>
            <p:sp>
              <p:nvSpPr>
                <p:cNvPr id="33" name="Oval 25"/>
                <p:cNvSpPr>
                  <a:spLocks noChangeArrowheads="1"/>
                </p:cNvSpPr>
                <p:nvPr/>
              </p:nvSpPr>
              <p:spPr bwMode="grayWhite">
                <a:xfrm>
                  <a:off x="3892" y="4036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Oval 26"/>
                <p:cNvSpPr>
                  <a:spLocks noChangeArrowheads="1"/>
                </p:cNvSpPr>
                <p:nvPr/>
              </p:nvSpPr>
              <p:spPr bwMode="grayWhite">
                <a:xfrm>
                  <a:off x="3945" y="4089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8" name="Group 30"/>
              <p:cNvGrpSpPr>
                <a:grpSpLocks/>
              </p:cNvGrpSpPr>
              <p:nvPr/>
            </p:nvGrpSpPr>
            <p:grpSpPr bwMode="auto">
              <a:xfrm>
                <a:off x="11360150" y="5808663"/>
                <a:ext cx="368300" cy="368300"/>
                <a:chOff x="4564" y="3844"/>
                <a:chExt cx="232" cy="232"/>
              </a:xfrm>
            </p:grpSpPr>
            <p:sp>
              <p:nvSpPr>
                <p:cNvPr id="31" name="Oval 28"/>
                <p:cNvSpPr>
                  <a:spLocks noChangeArrowheads="1"/>
                </p:cNvSpPr>
                <p:nvPr/>
              </p:nvSpPr>
              <p:spPr bwMode="grayWhite">
                <a:xfrm>
                  <a:off x="4564" y="3844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Oval 29"/>
                <p:cNvSpPr>
                  <a:spLocks noChangeArrowheads="1"/>
                </p:cNvSpPr>
                <p:nvPr/>
              </p:nvSpPr>
              <p:spPr bwMode="grayWhite">
                <a:xfrm>
                  <a:off x="4617" y="3897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" name="Group 33"/>
              <p:cNvGrpSpPr>
                <a:grpSpLocks/>
              </p:cNvGrpSpPr>
              <p:nvPr/>
            </p:nvGrpSpPr>
            <p:grpSpPr bwMode="auto">
              <a:xfrm>
                <a:off x="11087100" y="1901952"/>
                <a:ext cx="520700" cy="520700"/>
                <a:chOff x="5420" y="1139"/>
                <a:chExt cx="328" cy="328"/>
              </a:xfrm>
            </p:grpSpPr>
            <p:sp>
              <p:nvSpPr>
                <p:cNvPr id="29" name="Oval 31"/>
                <p:cNvSpPr>
                  <a:spLocks noChangeArrowheads="1"/>
                </p:cNvSpPr>
                <p:nvPr/>
              </p:nvSpPr>
              <p:spPr bwMode="grayWhite">
                <a:xfrm>
                  <a:off x="5420" y="1139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Oval 32"/>
                <p:cNvSpPr>
                  <a:spLocks noChangeArrowheads="1"/>
                </p:cNvSpPr>
                <p:nvPr/>
              </p:nvSpPr>
              <p:spPr bwMode="grayWhite">
                <a:xfrm>
                  <a:off x="5495" y="1214"/>
                  <a:ext cx="47" cy="47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" name="Group 36"/>
              <p:cNvGrpSpPr>
                <a:grpSpLocks/>
              </p:cNvGrpSpPr>
              <p:nvPr/>
            </p:nvGrpSpPr>
            <p:grpSpPr bwMode="auto">
              <a:xfrm>
                <a:off x="11176000" y="2614739"/>
                <a:ext cx="215900" cy="215900"/>
                <a:chOff x="5476" y="1588"/>
                <a:chExt cx="136" cy="136"/>
              </a:xfrm>
            </p:grpSpPr>
            <p:sp>
              <p:nvSpPr>
                <p:cNvPr id="27" name="Oval 34"/>
                <p:cNvSpPr>
                  <a:spLocks noChangeArrowheads="1"/>
                </p:cNvSpPr>
                <p:nvPr/>
              </p:nvSpPr>
              <p:spPr bwMode="grayWhite">
                <a:xfrm>
                  <a:off x="5476" y="1588"/>
                  <a:ext cx="136" cy="136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Oval 35"/>
                <p:cNvSpPr>
                  <a:spLocks noChangeArrowheads="1"/>
                </p:cNvSpPr>
                <p:nvPr/>
              </p:nvSpPr>
              <p:spPr bwMode="grayWhite">
                <a:xfrm>
                  <a:off x="5508" y="1620"/>
                  <a:ext cx="16" cy="16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39"/>
              <p:cNvGrpSpPr>
                <a:grpSpLocks/>
              </p:cNvGrpSpPr>
              <p:nvPr/>
            </p:nvGrpSpPr>
            <p:grpSpPr bwMode="auto">
              <a:xfrm>
                <a:off x="1377950" y="6350"/>
                <a:ext cx="520700" cy="520700"/>
                <a:chOff x="868" y="4"/>
                <a:chExt cx="328" cy="328"/>
              </a:xfrm>
            </p:grpSpPr>
            <p:sp>
              <p:nvSpPr>
                <p:cNvPr id="25" name="Oval 37"/>
                <p:cNvSpPr>
                  <a:spLocks noChangeArrowheads="1"/>
                </p:cNvSpPr>
                <p:nvPr/>
              </p:nvSpPr>
              <p:spPr bwMode="grayWhite">
                <a:xfrm>
                  <a:off x="868" y="4"/>
                  <a:ext cx="328" cy="328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Oval 38"/>
                <p:cNvSpPr>
                  <a:spLocks noChangeArrowheads="1"/>
                </p:cNvSpPr>
                <p:nvPr/>
              </p:nvSpPr>
              <p:spPr bwMode="grayWhite">
                <a:xfrm>
                  <a:off x="942" y="78"/>
                  <a:ext cx="48" cy="48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2" name="Group 42"/>
              <p:cNvGrpSpPr>
                <a:grpSpLocks/>
              </p:cNvGrpSpPr>
              <p:nvPr/>
            </p:nvGrpSpPr>
            <p:grpSpPr bwMode="auto">
              <a:xfrm>
                <a:off x="1911350" y="158750"/>
                <a:ext cx="368300" cy="368300"/>
                <a:chOff x="1204" y="100"/>
                <a:chExt cx="232" cy="232"/>
              </a:xfrm>
            </p:grpSpPr>
            <p:sp>
              <p:nvSpPr>
                <p:cNvPr id="23" name="Oval 40"/>
                <p:cNvSpPr>
                  <a:spLocks noChangeArrowheads="1"/>
                </p:cNvSpPr>
                <p:nvPr/>
              </p:nvSpPr>
              <p:spPr bwMode="grayWhite">
                <a:xfrm>
                  <a:off x="1204" y="100"/>
                  <a:ext cx="232" cy="232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Oval 41"/>
                <p:cNvSpPr>
                  <a:spLocks noChangeArrowheads="1"/>
                </p:cNvSpPr>
                <p:nvPr/>
              </p:nvSpPr>
              <p:spPr bwMode="grayWhite">
                <a:xfrm>
                  <a:off x="1257" y="153"/>
                  <a:ext cx="32" cy="32"/>
                </a:xfrm>
                <a:prstGeom prst="ellipse">
                  <a:avLst/>
                </a:prstGeom>
                <a:solidFill>
                  <a:schemeClr val="tx1"/>
                </a:solidFill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62" name="Group 161"/>
            <p:cNvGrpSpPr/>
            <p:nvPr/>
          </p:nvGrpSpPr>
          <p:grpSpPr>
            <a:xfrm>
              <a:off x="14350" y="-7605"/>
              <a:ext cx="11722100" cy="6536383"/>
              <a:chOff x="14350" y="-7605"/>
              <a:chExt cx="11722100" cy="6536383"/>
            </a:xfrm>
          </p:grpSpPr>
          <p:grpSp>
            <p:nvGrpSpPr>
              <p:cNvPr id="86" name="Group 85"/>
              <p:cNvGrpSpPr/>
              <p:nvPr/>
            </p:nvGrpSpPr>
            <p:grpSpPr>
              <a:xfrm>
                <a:off x="14350" y="5326395"/>
                <a:ext cx="673100" cy="673100"/>
                <a:chOff x="14350" y="5326395"/>
                <a:chExt cx="673100" cy="673100"/>
              </a:xfrm>
            </p:grpSpPr>
            <p:sp>
              <p:nvSpPr>
                <p:cNvPr id="83" name="Oval 7"/>
                <p:cNvSpPr>
                  <a:spLocks noChangeArrowheads="1"/>
                </p:cNvSpPr>
                <p:nvPr/>
              </p:nvSpPr>
              <p:spPr bwMode="grayWhite">
                <a:xfrm>
                  <a:off x="14350" y="5326395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Oval 8"/>
                <p:cNvSpPr>
                  <a:spLocks noChangeArrowheads="1"/>
                </p:cNvSpPr>
                <p:nvPr/>
              </p:nvSpPr>
              <p:spPr bwMode="grayWhite">
                <a:xfrm>
                  <a:off x="166750" y="5478795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7" name="Group 86"/>
              <p:cNvGrpSpPr/>
              <p:nvPr/>
            </p:nvGrpSpPr>
            <p:grpSpPr>
              <a:xfrm>
                <a:off x="547750" y="5859795"/>
                <a:ext cx="292100" cy="292100"/>
                <a:chOff x="547750" y="5859795"/>
                <a:chExt cx="292100" cy="292100"/>
              </a:xfrm>
            </p:grpSpPr>
            <p:sp>
              <p:nvSpPr>
                <p:cNvPr id="81" name="Oval 10"/>
                <p:cNvSpPr>
                  <a:spLocks noChangeArrowheads="1"/>
                </p:cNvSpPr>
                <p:nvPr/>
              </p:nvSpPr>
              <p:spPr bwMode="grayWhite">
                <a:xfrm>
                  <a:off x="547750" y="5859795"/>
                  <a:ext cx="292100" cy="292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Oval 11"/>
                <p:cNvSpPr>
                  <a:spLocks noChangeArrowheads="1"/>
                </p:cNvSpPr>
                <p:nvPr/>
              </p:nvSpPr>
              <p:spPr bwMode="grayWhite">
                <a:xfrm>
                  <a:off x="614425" y="5926470"/>
                  <a:ext cx="38100" cy="381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8" name="Group 87"/>
              <p:cNvGrpSpPr/>
              <p:nvPr/>
            </p:nvGrpSpPr>
            <p:grpSpPr>
              <a:xfrm>
                <a:off x="139763" y="6024895"/>
                <a:ext cx="444500" cy="444500"/>
                <a:chOff x="139763" y="6024895"/>
                <a:chExt cx="444500" cy="444500"/>
              </a:xfrm>
            </p:grpSpPr>
            <p:sp>
              <p:nvSpPr>
                <p:cNvPr id="79" name="Oval 13"/>
                <p:cNvSpPr>
                  <a:spLocks noChangeArrowheads="1"/>
                </p:cNvSpPr>
                <p:nvPr/>
              </p:nvSpPr>
              <p:spPr bwMode="grayWhite">
                <a:xfrm>
                  <a:off x="139763" y="6024895"/>
                  <a:ext cx="444500" cy="4445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Oval 14"/>
                <p:cNvSpPr>
                  <a:spLocks noChangeArrowheads="1"/>
                </p:cNvSpPr>
                <p:nvPr/>
              </p:nvSpPr>
              <p:spPr bwMode="grayWhite">
                <a:xfrm>
                  <a:off x="241363" y="6126495"/>
                  <a:ext cx="61913" cy="619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9" name="Group 88"/>
              <p:cNvGrpSpPr/>
              <p:nvPr/>
            </p:nvGrpSpPr>
            <p:grpSpPr>
              <a:xfrm>
                <a:off x="2484500" y="6160478"/>
                <a:ext cx="368300" cy="368300"/>
                <a:chOff x="2484500" y="6160478"/>
                <a:chExt cx="368300" cy="368300"/>
              </a:xfrm>
            </p:grpSpPr>
            <p:sp>
              <p:nvSpPr>
                <p:cNvPr id="77" name="Oval 16"/>
                <p:cNvSpPr>
                  <a:spLocks noChangeArrowheads="1"/>
                </p:cNvSpPr>
                <p:nvPr/>
              </p:nvSpPr>
              <p:spPr bwMode="grayWhite">
                <a:xfrm>
                  <a:off x="2484500" y="616047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Oval 17"/>
                <p:cNvSpPr>
                  <a:spLocks noChangeArrowheads="1"/>
                </p:cNvSpPr>
                <p:nvPr/>
              </p:nvSpPr>
              <p:spPr bwMode="grayWhite">
                <a:xfrm>
                  <a:off x="2568638" y="624461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0" name="Group 89"/>
              <p:cNvGrpSpPr/>
              <p:nvPr/>
            </p:nvGrpSpPr>
            <p:grpSpPr>
              <a:xfrm>
                <a:off x="14350" y="4411995"/>
                <a:ext cx="368300" cy="368300"/>
                <a:chOff x="14350" y="4411995"/>
                <a:chExt cx="368300" cy="368300"/>
              </a:xfrm>
            </p:grpSpPr>
            <p:sp>
              <p:nvSpPr>
                <p:cNvPr id="75" name="Oval 19"/>
                <p:cNvSpPr>
                  <a:spLocks noChangeArrowheads="1"/>
                </p:cNvSpPr>
                <p:nvPr/>
              </p:nvSpPr>
              <p:spPr bwMode="grayWhite">
                <a:xfrm>
                  <a:off x="14350" y="44119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Oval 20"/>
                <p:cNvSpPr>
                  <a:spLocks noChangeArrowheads="1"/>
                </p:cNvSpPr>
                <p:nvPr/>
              </p:nvSpPr>
              <p:spPr bwMode="grayWhite">
                <a:xfrm>
                  <a:off x="98488" y="44961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1" name="Group 90"/>
              <p:cNvGrpSpPr/>
              <p:nvPr/>
            </p:nvGrpSpPr>
            <p:grpSpPr>
              <a:xfrm>
                <a:off x="10682350" y="5794708"/>
                <a:ext cx="673100" cy="673100"/>
                <a:chOff x="10682350" y="5794708"/>
                <a:chExt cx="673100" cy="673100"/>
              </a:xfrm>
            </p:grpSpPr>
            <p:sp>
              <p:nvSpPr>
                <p:cNvPr id="73" name="Oval 22"/>
                <p:cNvSpPr>
                  <a:spLocks noChangeArrowheads="1"/>
                </p:cNvSpPr>
                <p:nvPr/>
              </p:nvSpPr>
              <p:spPr bwMode="grayWhite">
                <a:xfrm>
                  <a:off x="10682350" y="5794708"/>
                  <a:ext cx="673100" cy="6731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Oval 23"/>
                <p:cNvSpPr>
                  <a:spLocks noChangeArrowheads="1"/>
                </p:cNvSpPr>
                <p:nvPr/>
              </p:nvSpPr>
              <p:spPr bwMode="grayWhite">
                <a:xfrm>
                  <a:off x="10834750" y="5947108"/>
                  <a:ext cx="100013" cy="1000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" name="Group 91"/>
              <p:cNvGrpSpPr/>
              <p:nvPr/>
            </p:nvGrpSpPr>
            <p:grpSpPr>
              <a:xfrm>
                <a:off x="10301350" y="6099508"/>
                <a:ext cx="368300" cy="368300"/>
                <a:chOff x="10301350" y="6099508"/>
                <a:chExt cx="368300" cy="368300"/>
              </a:xfrm>
            </p:grpSpPr>
            <p:sp>
              <p:nvSpPr>
                <p:cNvPr id="71" name="Oval 25"/>
                <p:cNvSpPr>
                  <a:spLocks noChangeArrowheads="1"/>
                </p:cNvSpPr>
                <p:nvPr/>
              </p:nvSpPr>
              <p:spPr bwMode="grayWhite">
                <a:xfrm>
                  <a:off x="10301350" y="60995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Oval 26"/>
                <p:cNvSpPr>
                  <a:spLocks noChangeArrowheads="1"/>
                </p:cNvSpPr>
                <p:nvPr/>
              </p:nvSpPr>
              <p:spPr bwMode="grayWhite">
                <a:xfrm>
                  <a:off x="10385488" y="61836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3" name="Group 92"/>
              <p:cNvGrpSpPr/>
              <p:nvPr/>
            </p:nvGrpSpPr>
            <p:grpSpPr>
              <a:xfrm>
                <a:off x="11368150" y="5794708"/>
                <a:ext cx="368300" cy="368300"/>
                <a:chOff x="11368150" y="5794708"/>
                <a:chExt cx="368300" cy="368300"/>
              </a:xfrm>
            </p:grpSpPr>
            <p:sp>
              <p:nvSpPr>
                <p:cNvPr id="69" name="Oval 28"/>
                <p:cNvSpPr>
                  <a:spLocks noChangeArrowheads="1"/>
                </p:cNvSpPr>
                <p:nvPr/>
              </p:nvSpPr>
              <p:spPr bwMode="grayWhite">
                <a:xfrm>
                  <a:off x="11368150" y="5794708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Oval 29"/>
                <p:cNvSpPr>
                  <a:spLocks noChangeArrowheads="1"/>
                </p:cNvSpPr>
                <p:nvPr/>
              </p:nvSpPr>
              <p:spPr bwMode="grayWhite">
                <a:xfrm>
                  <a:off x="11452288" y="5878846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4" name="Group 93"/>
              <p:cNvGrpSpPr/>
              <p:nvPr/>
            </p:nvGrpSpPr>
            <p:grpSpPr>
              <a:xfrm>
                <a:off x="11095100" y="1887997"/>
                <a:ext cx="520700" cy="520700"/>
                <a:chOff x="11095100" y="1887997"/>
                <a:chExt cx="520700" cy="520700"/>
              </a:xfrm>
            </p:grpSpPr>
            <p:sp>
              <p:nvSpPr>
                <p:cNvPr id="67" name="Oval 31"/>
                <p:cNvSpPr>
                  <a:spLocks noChangeArrowheads="1"/>
                </p:cNvSpPr>
                <p:nvPr/>
              </p:nvSpPr>
              <p:spPr bwMode="grayWhite">
                <a:xfrm>
                  <a:off x="11095100" y="1887997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Oval 32"/>
                <p:cNvSpPr>
                  <a:spLocks noChangeArrowheads="1"/>
                </p:cNvSpPr>
                <p:nvPr/>
              </p:nvSpPr>
              <p:spPr bwMode="grayWhite">
                <a:xfrm>
                  <a:off x="11214163" y="2007060"/>
                  <a:ext cx="74613" cy="74613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5" name="Group 94"/>
              <p:cNvGrpSpPr/>
              <p:nvPr/>
            </p:nvGrpSpPr>
            <p:grpSpPr>
              <a:xfrm>
                <a:off x="11184000" y="2600784"/>
                <a:ext cx="215900" cy="215900"/>
                <a:chOff x="11184000" y="2600784"/>
                <a:chExt cx="215900" cy="215900"/>
              </a:xfrm>
            </p:grpSpPr>
            <p:sp>
              <p:nvSpPr>
                <p:cNvPr id="65" name="Oval 34"/>
                <p:cNvSpPr>
                  <a:spLocks noChangeArrowheads="1"/>
                </p:cNvSpPr>
                <p:nvPr/>
              </p:nvSpPr>
              <p:spPr bwMode="grayWhite">
                <a:xfrm>
                  <a:off x="11184000" y="2600784"/>
                  <a:ext cx="215900" cy="2159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Oval 35"/>
                <p:cNvSpPr>
                  <a:spLocks noChangeArrowheads="1"/>
                </p:cNvSpPr>
                <p:nvPr/>
              </p:nvSpPr>
              <p:spPr bwMode="grayWhite">
                <a:xfrm>
                  <a:off x="11234800" y="2651584"/>
                  <a:ext cx="25400" cy="254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0" name="Group 159"/>
              <p:cNvGrpSpPr/>
              <p:nvPr/>
            </p:nvGrpSpPr>
            <p:grpSpPr>
              <a:xfrm>
                <a:off x="1385950" y="-7605"/>
                <a:ext cx="520700" cy="520700"/>
                <a:chOff x="1385950" y="-7605"/>
                <a:chExt cx="520700" cy="520700"/>
              </a:xfrm>
            </p:grpSpPr>
            <p:sp>
              <p:nvSpPr>
                <p:cNvPr id="63" name="Oval 37"/>
                <p:cNvSpPr>
                  <a:spLocks noChangeArrowheads="1"/>
                </p:cNvSpPr>
                <p:nvPr/>
              </p:nvSpPr>
              <p:spPr bwMode="grayWhite">
                <a:xfrm>
                  <a:off x="1385950" y="-7605"/>
                  <a:ext cx="520700" cy="5207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Oval 38"/>
                <p:cNvSpPr>
                  <a:spLocks noChangeArrowheads="1"/>
                </p:cNvSpPr>
                <p:nvPr/>
              </p:nvSpPr>
              <p:spPr bwMode="grayWhite">
                <a:xfrm>
                  <a:off x="1503425" y="109870"/>
                  <a:ext cx="76200" cy="762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61" name="Group 160"/>
              <p:cNvGrpSpPr/>
              <p:nvPr/>
            </p:nvGrpSpPr>
            <p:grpSpPr>
              <a:xfrm>
                <a:off x="1919350" y="144795"/>
                <a:ext cx="368300" cy="368300"/>
                <a:chOff x="1919350" y="144795"/>
                <a:chExt cx="368300" cy="368300"/>
              </a:xfrm>
            </p:grpSpPr>
            <p:sp>
              <p:nvSpPr>
                <p:cNvPr id="61" name="Oval 40"/>
                <p:cNvSpPr>
                  <a:spLocks noChangeArrowheads="1"/>
                </p:cNvSpPr>
                <p:nvPr/>
              </p:nvSpPr>
              <p:spPr bwMode="grayWhite">
                <a:xfrm>
                  <a:off x="1919350" y="144795"/>
                  <a:ext cx="368300" cy="368300"/>
                </a:xfrm>
                <a:prstGeom prst="ellipse">
                  <a:avLst/>
                </a:prstGeom>
                <a:noFill/>
                <a:ln w="12700">
                  <a:solidFill>
                    <a:schemeClr val="accent1">
                      <a:lumMod val="50000"/>
                    </a:schemeClr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Oval 41"/>
                <p:cNvSpPr>
                  <a:spLocks noChangeArrowheads="1"/>
                </p:cNvSpPr>
                <p:nvPr/>
              </p:nvSpPr>
              <p:spPr bwMode="grayWhite">
                <a:xfrm>
                  <a:off x="2003488" y="228933"/>
                  <a:ext cx="50800" cy="508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41120" y="6598763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75776" y="6598763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513C09FF-A05A-44B7-B7F9-9715502B619B}" type="datetime1">
              <a:rPr lang="en-US" smtClean="0"/>
              <a:pPr/>
              <a:t>12/5/2025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598763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C749032-2A07-4AE8-BA90-74324CAE0C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58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Char char="o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606040" indent="0" algn="l" defTabSz="914400" rtl="0" eaLnBrk="1" latinLnBrk="0" hangingPunct="1">
        <a:lnSpc>
          <a:spcPct val="90000"/>
        </a:lnSpc>
        <a:spcBef>
          <a:spcPts val="800"/>
        </a:spcBef>
        <a:buClr>
          <a:schemeClr val="accent2">
            <a:lumMod val="75000"/>
          </a:schemeClr>
        </a:buClr>
        <a:buSzPct val="80000"/>
        <a:buFont typeface="Courier New" panose="02070309020205020404" pitchFamily="49" charset="0"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Programming Fundamentals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Week – 16</a:t>
            </a:r>
          </a:p>
          <a:p>
            <a:endParaRPr lang="en-US" dirty="0"/>
          </a:p>
          <a:p>
            <a:r>
              <a:rPr lang="en-US" sz="1400" dirty="0"/>
              <a:t>by Abeeha Sattar</a:t>
            </a:r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90FC0-FF9D-717C-CE50-D9A433EAE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Structures in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4F05C-3B51-7F23-6333-BAF51E88D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“composite” datatype.</a:t>
            </a:r>
          </a:p>
          <a:p>
            <a:r>
              <a:rPr lang="en-US" dirty="0"/>
              <a:t>A data container – you decide what goes in it!</a:t>
            </a:r>
          </a:p>
          <a:p>
            <a:r>
              <a:rPr lang="en-US" dirty="0"/>
              <a:t>Used to group related things into one data container (the structure)</a:t>
            </a:r>
          </a:p>
          <a:p>
            <a:r>
              <a:rPr lang="en-US" dirty="0"/>
              <a:t>Like… Let’s say information for a course may contain…</a:t>
            </a:r>
          </a:p>
          <a:p>
            <a:pPr lvl="1"/>
            <a:r>
              <a:rPr lang="en-US" dirty="0"/>
              <a:t>Course Name</a:t>
            </a:r>
          </a:p>
          <a:p>
            <a:pPr lvl="1"/>
            <a:r>
              <a:rPr lang="en-US" dirty="0"/>
              <a:t>Course Code</a:t>
            </a:r>
          </a:p>
          <a:p>
            <a:pPr lvl="1"/>
            <a:r>
              <a:rPr lang="en-US" dirty="0"/>
              <a:t>Credit Hours Info</a:t>
            </a:r>
          </a:p>
          <a:p>
            <a:pPr lvl="1"/>
            <a:r>
              <a:rPr lang="en-US" dirty="0"/>
              <a:t>Enrolled Students List</a:t>
            </a:r>
          </a:p>
          <a:p>
            <a:pPr lvl="1"/>
            <a:endParaRPr lang="en-US" dirty="0"/>
          </a:p>
          <a:p>
            <a:r>
              <a:rPr lang="en-US" dirty="0"/>
              <a:t>How can I show this in code?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167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7A60C-2427-462F-70C8-20F8CE53B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‘struct’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70115-6889-A3C8-1F94-AFC6AB56D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901952"/>
            <a:ext cx="9509760" cy="4127627"/>
          </a:xfrm>
        </p:spPr>
        <p:txBody>
          <a:bodyPr>
            <a:normAutofit/>
          </a:bodyPr>
          <a:lstStyle/>
          <a:p>
            <a:r>
              <a:rPr lang="en-US" dirty="0"/>
              <a:t>Used to declare the collection. Within the parentheses you can put in the ‘data members’ that you want to make the collection out of.</a:t>
            </a:r>
          </a:p>
          <a:p>
            <a:r>
              <a:rPr lang="en-US" dirty="0"/>
              <a:t>Syntax:</a:t>
            </a:r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struct </a:t>
            </a:r>
            <a:r>
              <a:rPr lang="en-US" b="1" dirty="0" err="1">
                <a:latin typeface="Consolas" panose="020B0609020204030204" pitchFamily="49" charset="0"/>
              </a:rPr>
              <a:t>name_of_your_struct</a:t>
            </a:r>
            <a:r>
              <a:rPr lang="en-US" b="1" dirty="0">
                <a:latin typeface="Consolas" panose="020B0609020204030204" pitchFamily="49" charset="0"/>
              </a:rPr>
              <a:t> {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//struct starts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//data members go here</a:t>
            </a:r>
          </a:p>
          <a:p>
            <a:pPr marL="4572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	//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};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//struct closes</a:t>
            </a:r>
          </a:p>
          <a:p>
            <a:pPr marL="4572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4923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0F6F7-6032-6369-A879-88B105093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Course Struct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C497E-3142-1E51-AD7F-E078C889D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our previous example, the </a:t>
            </a:r>
            <a:r>
              <a:rPr lang="en-US" b="1" dirty="0"/>
              <a:t>course</a:t>
            </a:r>
            <a:r>
              <a:rPr lang="en-US" dirty="0"/>
              <a:t> struct would look like this: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struct Course {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	char name[10];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	char code[6]; //usually 6 characters + 1 for ‘\0’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	int </a:t>
            </a:r>
            <a:r>
              <a:rPr lang="en-US" b="1" dirty="0" err="1">
                <a:latin typeface="Consolas" panose="020B0609020204030204" pitchFamily="49" charset="0"/>
              </a:rPr>
              <a:t>creditHrs</a:t>
            </a:r>
            <a:r>
              <a:rPr lang="en-US" b="1" dirty="0">
                <a:latin typeface="Consolas" panose="020B06090202040302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	char </a:t>
            </a:r>
            <a:r>
              <a:rPr lang="en-US" b="1" dirty="0" err="1">
                <a:latin typeface="Consolas" panose="020B0609020204030204" pitchFamily="49" charset="0"/>
              </a:rPr>
              <a:t>enrolledStudents</a:t>
            </a:r>
            <a:r>
              <a:rPr lang="en-US" b="1" dirty="0">
                <a:latin typeface="Consolas" panose="020B0609020204030204" pitchFamily="49" charset="0"/>
              </a:rPr>
              <a:t> [50][9]; // 50 students, 8 char 							roll numbers, 								1 null character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};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41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76062-32DF-64FC-EFF5-500498EB9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this Struct?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6349C-DBEE-772B-11F5-AE2398DBD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 can declare struct variables in multiple ways.</a:t>
            </a:r>
          </a:p>
          <a:p>
            <a:r>
              <a:rPr lang="en-US" dirty="0"/>
              <a:t>In your main function, you can create a variable by writing the following:</a:t>
            </a:r>
          </a:p>
          <a:p>
            <a:pPr marL="45720" indent="0" algn="ctr">
              <a:buNone/>
            </a:pPr>
            <a:r>
              <a:rPr lang="en-US" b="1" dirty="0">
                <a:latin typeface="Consolas" panose="020B0609020204030204" pitchFamily="49" charset="0"/>
              </a:rPr>
              <a:t>struct Course ICT;</a:t>
            </a:r>
          </a:p>
          <a:p>
            <a:r>
              <a:rPr lang="en-US" dirty="0"/>
              <a:t>If you wanted to declare and initialize at the same time, you’d have: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struct Course PF = {	"PF", 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				“SS1002", 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				4,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				{"12k-2034", "12k-2013"}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		};</a:t>
            </a:r>
          </a:p>
        </p:txBody>
      </p:sp>
    </p:spTree>
    <p:extLst>
      <p:ext uri="{BB962C8B-B14F-4D97-AF65-F5344CB8AC3E}">
        <p14:creationId xmlns:p14="http://schemas.microsoft.com/office/powerpoint/2010/main" val="78909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821DE-E6CB-5CFC-8DF4-C2149CBDC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‘typedef’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574B6-B07B-C462-2F71-FD8E3C9D3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901952"/>
            <a:ext cx="9659112" cy="4127627"/>
          </a:xfrm>
        </p:spPr>
        <p:txBody>
          <a:bodyPr/>
          <a:lstStyle/>
          <a:p>
            <a:r>
              <a:rPr lang="en-US" dirty="0"/>
              <a:t>If you don’t want to keep writing “struct Course” every time you want to create a variable, you can add a line after your struct definition.</a:t>
            </a:r>
          </a:p>
          <a:p>
            <a:pPr marL="45720" indent="0" algn="ctr">
              <a:buNone/>
            </a:pPr>
            <a:r>
              <a:rPr lang="en-US" b="1" dirty="0">
                <a:latin typeface="Consolas" panose="020B0609020204030204" pitchFamily="49" charset="0"/>
              </a:rPr>
              <a:t>typedef struct Course </a:t>
            </a:r>
            <a:r>
              <a:rPr lang="en-US" b="1" dirty="0" err="1">
                <a:latin typeface="Consolas" panose="020B0609020204030204" pitchFamily="49" charset="0"/>
              </a:rPr>
              <a:t>myCourse</a:t>
            </a:r>
            <a:endParaRPr lang="en-US" b="1" dirty="0">
              <a:latin typeface="Consolas" panose="020B0609020204030204" pitchFamily="49" charset="0"/>
            </a:endParaRPr>
          </a:p>
          <a:p>
            <a:endParaRPr lang="en-US" dirty="0"/>
          </a:p>
          <a:p>
            <a:r>
              <a:rPr lang="en-US" dirty="0"/>
              <a:t>This makes it such that the compiler treats “struct Course” and “</a:t>
            </a:r>
            <a:r>
              <a:rPr lang="en-US" dirty="0" err="1"/>
              <a:t>myCourse</a:t>
            </a:r>
            <a:r>
              <a:rPr lang="en-US" dirty="0"/>
              <a:t>” as the same thing.</a:t>
            </a:r>
          </a:p>
          <a:p>
            <a:r>
              <a:rPr lang="en-US" dirty="0"/>
              <a:t>You can use them interchangeably. </a:t>
            </a:r>
          </a:p>
          <a:p>
            <a:r>
              <a:rPr lang="en-US" dirty="0"/>
              <a:t>You can create a variable like this if your code has the above statement.</a:t>
            </a:r>
          </a:p>
          <a:p>
            <a:pPr marL="45720" indent="0" algn="ctr">
              <a:buNone/>
            </a:pPr>
            <a:r>
              <a:rPr lang="en-US" b="1" dirty="0" err="1">
                <a:latin typeface="Consolas" panose="020B0609020204030204" pitchFamily="49" charset="0"/>
              </a:rPr>
              <a:t>myCourse</a:t>
            </a:r>
            <a:r>
              <a:rPr lang="en-US" b="1" dirty="0">
                <a:latin typeface="Consolas" panose="020B0609020204030204" pitchFamily="49" charset="0"/>
              </a:rPr>
              <a:t> PST;</a:t>
            </a:r>
          </a:p>
        </p:txBody>
      </p:sp>
    </p:spTree>
    <p:extLst>
      <p:ext uri="{BB962C8B-B14F-4D97-AF65-F5344CB8AC3E}">
        <p14:creationId xmlns:p14="http://schemas.microsoft.com/office/powerpoint/2010/main" val="3565885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CE48A-27FA-7195-C210-C199EF3C3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Data Members of Struct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C817A-055A-CAC9-26FC-9E379F045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access data members of a struct, we use the dot (.) operator.</a:t>
            </a:r>
          </a:p>
          <a:p>
            <a:r>
              <a:rPr lang="en-US" dirty="0"/>
              <a:t>The dot is used with the variable name, and is followed by the name of the member that you want to access. </a:t>
            </a:r>
          </a:p>
          <a:p>
            <a:r>
              <a:rPr lang="en-US" dirty="0"/>
              <a:t>Let’s say I want to edit the Course Code for the PF variable we made earlier, because I accidentally wrote SS instead of CS. </a:t>
            </a:r>
          </a:p>
          <a:p>
            <a:r>
              <a:rPr lang="en-US" dirty="0"/>
              <a:t>I would have to do something like this:</a:t>
            </a:r>
          </a:p>
          <a:p>
            <a:pPr marL="45720" indent="0" algn="ctr">
              <a:buNone/>
            </a:pPr>
            <a:r>
              <a:rPr lang="en-US" b="1" dirty="0" err="1">
                <a:latin typeface="Consolas" panose="020B0609020204030204" pitchFamily="49" charset="0"/>
              </a:rPr>
              <a:t>PF.code</a:t>
            </a:r>
            <a:r>
              <a:rPr lang="en-US" b="1" dirty="0">
                <a:latin typeface="Consolas" panose="020B0609020204030204" pitchFamily="49" charset="0"/>
              </a:rPr>
              <a:t>[0] = 'C’;</a:t>
            </a:r>
          </a:p>
          <a:p>
            <a:r>
              <a:rPr lang="en-US" dirty="0"/>
              <a:t>Now my code would be CS1002 instead of SS1002</a:t>
            </a:r>
          </a:p>
        </p:txBody>
      </p:sp>
    </p:spTree>
    <p:extLst>
      <p:ext uri="{BB962C8B-B14F-4D97-AF65-F5344CB8AC3E}">
        <p14:creationId xmlns:p14="http://schemas.microsoft.com/office/powerpoint/2010/main" val="2332416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8326-9D29-2CC8-374A-584354581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Data Members of Struct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2935C-9A1F-70E7-90D5-920BB5A57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say now you want to show the list of all enrolled students: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for (int </a:t>
            </a:r>
            <a:r>
              <a:rPr lang="en-US" b="1" dirty="0" err="1">
                <a:latin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</a:rPr>
              <a:t> = 0; </a:t>
            </a:r>
            <a:r>
              <a:rPr lang="en-US" b="1" dirty="0" err="1">
                <a:latin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</a:rPr>
              <a:t> &lt; 50; </a:t>
            </a:r>
            <a:r>
              <a:rPr lang="en-US" b="1" dirty="0" err="1">
                <a:latin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</a:rPr>
              <a:t>++) {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</a:t>
            </a:r>
            <a:r>
              <a:rPr lang="en-US" b="1" dirty="0" err="1">
                <a:latin typeface="Consolas" panose="020B0609020204030204" pitchFamily="49" charset="0"/>
              </a:rPr>
              <a:t>printf</a:t>
            </a:r>
            <a:r>
              <a:rPr lang="en-US" b="1" dirty="0">
                <a:latin typeface="Consolas" panose="020B0609020204030204" pitchFamily="49" charset="0"/>
              </a:rPr>
              <a:t>("Student # %d: %s\n", i+1, </a:t>
            </a:r>
            <a:r>
              <a:rPr lang="en-US" b="1" dirty="0" err="1">
                <a:latin typeface="Consolas" panose="020B0609020204030204" pitchFamily="49" charset="0"/>
              </a:rPr>
              <a:t>PF.enrolledStudents</a:t>
            </a:r>
            <a:r>
              <a:rPr lang="en-US" b="1" dirty="0">
                <a:latin typeface="Consolas" panose="020B0609020204030204" pitchFamily="49" charset="0"/>
              </a:rPr>
              <a:t>[</a:t>
            </a:r>
            <a:r>
              <a:rPr lang="en-US" b="1" dirty="0" err="1">
                <a:latin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</a:rPr>
              <a:t>]);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19530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28871-FCEA-3CF8-AEC0-02B13E2A6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of Structs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BF0B9-977C-22B7-5F52-842ED463A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with primitive data types (int, char, </a:t>
            </a:r>
            <a:r>
              <a:rPr lang="en-US" dirty="0" err="1"/>
              <a:t>etc</a:t>
            </a:r>
            <a:r>
              <a:rPr lang="en-US" dirty="0"/>
              <a:t>), we can make array out of structs as well!</a:t>
            </a:r>
          </a:p>
          <a:p>
            <a:endParaRPr lang="en-US" dirty="0"/>
          </a:p>
          <a:p>
            <a:r>
              <a:rPr lang="en-US" dirty="0"/>
              <a:t>E.g. you as a first semester student want to store all your courses in an array of courses. (Let’s say 6 courses for now). Let’s declare more courses:</a:t>
            </a:r>
          </a:p>
          <a:p>
            <a:pPr marL="45720" indent="0" algn="ctr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45720" indent="0" algn="ctr">
              <a:buNone/>
            </a:pPr>
            <a:r>
              <a:rPr lang="en-US" b="1" dirty="0" err="1">
                <a:latin typeface="Consolas" panose="020B0609020204030204" pitchFamily="49" charset="0"/>
              </a:rPr>
              <a:t>myCourse</a:t>
            </a:r>
            <a:r>
              <a:rPr lang="en-US" b="1" dirty="0">
                <a:latin typeface="Consolas" panose="020B0609020204030204" pitchFamily="49" charset="0"/>
              </a:rPr>
              <a:t> PST, FE, AP, Calc;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24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D1085-D489-538A-5B65-EE496869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of Structs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AC663-A8C7-F730-5FF0-31A900F63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add all the 6 courses to the array:</a:t>
            </a:r>
          </a:p>
          <a:p>
            <a:pPr marL="45720" indent="0" algn="ctr">
              <a:buNone/>
            </a:pPr>
            <a:r>
              <a:rPr lang="en-US" b="1" dirty="0" err="1">
                <a:latin typeface="Consolas" panose="020B0609020204030204" pitchFamily="49" charset="0"/>
              </a:rPr>
              <a:t>myCourse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arr</a:t>
            </a:r>
            <a:r>
              <a:rPr lang="en-US" b="1" dirty="0">
                <a:latin typeface="Consolas" panose="020B0609020204030204" pitchFamily="49" charset="0"/>
              </a:rPr>
              <a:t>[6] = {ICT, PF, PST, FE, AP, Calc};</a:t>
            </a:r>
          </a:p>
          <a:p>
            <a:endParaRPr lang="en-US" dirty="0"/>
          </a:p>
          <a:p>
            <a:r>
              <a:rPr lang="en-US" dirty="0"/>
              <a:t>Let’s say I want to check the course name for all the courses in my array:</a:t>
            </a:r>
          </a:p>
          <a:p>
            <a:pPr marL="45720" indent="0">
              <a:buNone/>
            </a:pPr>
            <a:r>
              <a:rPr lang="nn-NO" b="1" dirty="0">
                <a:latin typeface="Consolas" panose="020B0609020204030204" pitchFamily="49" charset="0"/>
              </a:rPr>
              <a:t>	for (int i = 0; i &lt; 6; i++) {</a:t>
            </a:r>
          </a:p>
          <a:p>
            <a:pPr marL="45720" indent="0">
              <a:buNone/>
            </a:pPr>
            <a:r>
              <a:rPr lang="nn-NO" b="1" dirty="0">
                <a:latin typeface="Consolas" panose="020B0609020204030204" pitchFamily="49" charset="0"/>
              </a:rPr>
              <a:t>		printf("Course # %d: %s\n", i+1, arr[i].name);</a:t>
            </a:r>
          </a:p>
          <a:p>
            <a:pPr marL="45720" indent="0">
              <a:buNone/>
            </a:pPr>
            <a:r>
              <a:rPr lang="nn-NO" b="1" dirty="0">
                <a:latin typeface="Consolas" panose="020B0609020204030204" pitchFamily="49" charset="0"/>
              </a:rPr>
              <a:t>	}</a:t>
            </a:r>
            <a:endParaRPr lang="en-US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81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1A9CF-0CD8-58D2-7DD6-585A6EBF5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‘struct’ to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76536-4738-4EBD-6813-03C3D6E70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901952"/>
            <a:ext cx="10436352" cy="4127627"/>
          </a:xfrm>
        </p:spPr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void </a:t>
            </a:r>
            <a:r>
              <a:rPr lang="en-US" b="1" dirty="0" err="1">
                <a:latin typeface="Consolas" panose="020B0609020204030204" pitchFamily="49" charset="0"/>
              </a:rPr>
              <a:t>displayCourseInfo</a:t>
            </a:r>
            <a:r>
              <a:rPr lang="en-US" b="1" dirty="0">
                <a:latin typeface="Consolas" panose="020B0609020204030204" pitchFamily="49" charset="0"/>
              </a:rPr>
              <a:t>(</a:t>
            </a:r>
            <a:r>
              <a:rPr lang="en-US" b="1" dirty="0" err="1">
                <a:latin typeface="Consolas" panose="020B0609020204030204" pitchFamily="49" charset="0"/>
              </a:rPr>
              <a:t>myCourse</a:t>
            </a:r>
            <a:r>
              <a:rPr lang="en-US" b="1" dirty="0">
                <a:latin typeface="Consolas" panose="020B0609020204030204" pitchFamily="49" charset="0"/>
              </a:rPr>
              <a:t> course){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</a:t>
            </a:r>
            <a:r>
              <a:rPr lang="en-US" b="1" dirty="0" err="1">
                <a:latin typeface="Consolas" panose="020B0609020204030204" pitchFamily="49" charset="0"/>
              </a:rPr>
              <a:t>printf</a:t>
            </a:r>
            <a:r>
              <a:rPr lang="en-US" b="1" dirty="0">
                <a:latin typeface="Consolas" panose="020B0609020204030204" pitchFamily="49" charset="0"/>
              </a:rPr>
              <a:t>("Displaying details for %s:\n", course.name);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</a:t>
            </a:r>
            <a:r>
              <a:rPr lang="en-US" b="1" dirty="0" err="1">
                <a:latin typeface="Consolas" panose="020B0609020204030204" pitchFamily="49" charset="0"/>
              </a:rPr>
              <a:t>printf</a:t>
            </a:r>
            <a:r>
              <a:rPr lang="en-US" b="1" dirty="0">
                <a:latin typeface="Consolas" panose="020B0609020204030204" pitchFamily="49" charset="0"/>
              </a:rPr>
              <a:t>("Course Code: %s\n", </a:t>
            </a:r>
            <a:r>
              <a:rPr lang="en-US" b="1" dirty="0" err="1">
                <a:latin typeface="Consolas" panose="020B0609020204030204" pitchFamily="49" charset="0"/>
              </a:rPr>
              <a:t>course.code</a:t>
            </a:r>
            <a:r>
              <a:rPr lang="en-US" b="1" dirty="0">
                <a:latin typeface="Consolas" panose="020B0609020204030204" pitchFamily="49" charset="0"/>
              </a:rPr>
              <a:t>);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</a:t>
            </a:r>
            <a:r>
              <a:rPr lang="en-US" b="1" dirty="0" err="1">
                <a:latin typeface="Consolas" panose="020B0609020204030204" pitchFamily="49" charset="0"/>
              </a:rPr>
              <a:t>printf</a:t>
            </a:r>
            <a:r>
              <a:rPr lang="en-US" b="1" dirty="0">
                <a:latin typeface="Consolas" panose="020B0609020204030204" pitchFamily="49" charset="0"/>
              </a:rPr>
              <a:t>("Credit Hours: %d\n", </a:t>
            </a:r>
            <a:r>
              <a:rPr lang="en-US" b="1" dirty="0" err="1">
                <a:latin typeface="Consolas" panose="020B0609020204030204" pitchFamily="49" charset="0"/>
              </a:rPr>
              <a:t>course.creditHrs</a:t>
            </a:r>
            <a:r>
              <a:rPr lang="en-US" b="1" dirty="0">
                <a:latin typeface="Consolas" panose="020B0609020204030204" pitchFamily="49" charset="0"/>
              </a:rPr>
              <a:t>);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</a:t>
            </a:r>
            <a:r>
              <a:rPr lang="en-US" b="1" dirty="0" err="1">
                <a:latin typeface="Consolas" panose="020B0609020204030204" pitchFamily="49" charset="0"/>
              </a:rPr>
              <a:t>printf</a:t>
            </a:r>
            <a:r>
              <a:rPr lang="en-US" b="1" dirty="0">
                <a:latin typeface="Consolas" panose="020B0609020204030204" pitchFamily="49" charset="0"/>
              </a:rPr>
              <a:t>("Enrolled Students:\n");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for (int </a:t>
            </a:r>
            <a:r>
              <a:rPr lang="en-US" b="1" dirty="0" err="1">
                <a:latin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</a:rPr>
              <a:t> = 0; </a:t>
            </a:r>
            <a:r>
              <a:rPr lang="en-US" b="1" dirty="0" err="1">
                <a:latin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</a:rPr>
              <a:t> &lt; 50; </a:t>
            </a:r>
            <a:r>
              <a:rPr lang="en-US" b="1" dirty="0" err="1">
                <a:latin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</a:rPr>
              <a:t>++) {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	</a:t>
            </a:r>
            <a:r>
              <a:rPr lang="en-US" b="1" dirty="0" err="1">
                <a:latin typeface="Consolas" panose="020B0609020204030204" pitchFamily="49" charset="0"/>
              </a:rPr>
              <a:t>printf</a:t>
            </a:r>
            <a:r>
              <a:rPr lang="en-US" b="1" dirty="0">
                <a:latin typeface="Consolas" panose="020B0609020204030204" pitchFamily="49" charset="0"/>
              </a:rPr>
              <a:t>("Student # %d: %s\n", i+1, </a:t>
            </a:r>
            <a:r>
              <a:rPr lang="en-US" b="1" dirty="0" err="1">
                <a:latin typeface="Consolas" panose="020B0609020204030204" pitchFamily="49" charset="0"/>
              </a:rPr>
              <a:t>course.enrolledStudents</a:t>
            </a:r>
            <a:r>
              <a:rPr lang="en-US" b="1" dirty="0">
                <a:latin typeface="Consolas" panose="020B0609020204030204" pitchFamily="49" charset="0"/>
              </a:rPr>
              <a:t>[</a:t>
            </a:r>
            <a:r>
              <a:rPr lang="en-US" b="1" dirty="0" err="1">
                <a:latin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</a:rPr>
              <a:t>]);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}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51CBB3-85C6-3DB9-B10C-41AE345B09ED}"/>
              </a:ext>
            </a:extLst>
          </p:cNvPr>
          <p:cNvSpPr txBox="1"/>
          <p:nvPr/>
        </p:nvSpPr>
        <p:spPr>
          <a:xfrm>
            <a:off x="5961888" y="5383248"/>
            <a:ext cx="3886200" cy="646331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  <a:prstDash val="sysDot"/>
          </a:ln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Function call from main:</a:t>
            </a:r>
          </a:p>
          <a:p>
            <a:pPr algn="ctr"/>
            <a:r>
              <a:rPr lang="en-US" b="1" dirty="0" err="1">
                <a:solidFill>
                  <a:schemeClr val="tx2"/>
                </a:solidFill>
              </a:rPr>
              <a:t>displayCourseInfo</a:t>
            </a:r>
            <a:r>
              <a:rPr lang="en-US" b="1" dirty="0">
                <a:solidFill>
                  <a:schemeClr val="tx2"/>
                </a:solidFill>
              </a:rPr>
              <a:t>(PF);</a:t>
            </a:r>
          </a:p>
        </p:txBody>
      </p:sp>
    </p:spTree>
    <p:extLst>
      <p:ext uri="{BB962C8B-B14F-4D97-AF65-F5344CB8AC3E}">
        <p14:creationId xmlns:p14="http://schemas.microsoft.com/office/powerpoint/2010/main" val="2520116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2D3FB-8048-1A61-CC2E-F6CE31B01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‘struct’ Array to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D6A17-F72A-70E2-A129-D379942FE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void </a:t>
            </a:r>
            <a:r>
              <a:rPr lang="en-US" b="1" dirty="0" err="1">
                <a:latin typeface="Consolas" panose="020B0609020204030204" pitchFamily="49" charset="0"/>
              </a:rPr>
              <a:t>displayInfoForAllCourses</a:t>
            </a:r>
            <a:r>
              <a:rPr lang="en-US" b="1" dirty="0">
                <a:latin typeface="Consolas" panose="020B0609020204030204" pitchFamily="49" charset="0"/>
              </a:rPr>
              <a:t>(</a:t>
            </a:r>
            <a:r>
              <a:rPr lang="en-US" b="1" dirty="0" err="1">
                <a:latin typeface="Consolas" panose="020B0609020204030204" pitchFamily="49" charset="0"/>
              </a:rPr>
              <a:t>myCourse</a:t>
            </a:r>
            <a:r>
              <a:rPr lang="en-US" b="1" dirty="0">
                <a:latin typeface="Consolas" panose="020B0609020204030204" pitchFamily="49" charset="0"/>
              </a:rPr>
              <a:t> array[], int size) {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for (int </a:t>
            </a:r>
            <a:r>
              <a:rPr lang="en-US" b="1" dirty="0" err="1">
                <a:latin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</a:rPr>
              <a:t> = 0; </a:t>
            </a:r>
            <a:r>
              <a:rPr lang="en-US" b="1" dirty="0" err="1">
                <a:latin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</a:rPr>
              <a:t> &lt; size; </a:t>
            </a:r>
            <a:r>
              <a:rPr lang="en-US" b="1" dirty="0" err="1">
                <a:latin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</a:rPr>
              <a:t>++)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	</a:t>
            </a:r>
            <a:r>
              <a:rPr lang="en-US" b="1" dirty="0" err="1">
                <a:latin typeface="Consolas" panose="020B0609020204030204" pitchFamily="49" charset="0"/>
              </a:rPr>
              <a:t>displayCourseInfo</a:t>
            </a:r>
            <a:r>
              <a:rPr lang="en-US" b="1" dirty="0">
                <a:latin typeface="Consolas" panose="020B0609020204030204" pitchFamily="49" charset="0"/>
              </a:rPr>
              <a:t>(array[</a:t>
            </a:r>
            <a:r>
              <a:rPr lang="en-US" b="1" dirty="0" err="1">
                <a:latin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</a:rPr>
              <a:t>]);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A2656-AA56-B515-565E-4A68DF84DFFC}"/>
              </a:ext>
            </a:extLst>
          </p:cNvPr>
          <p:cNvSpPr txBox="1"/>
          <p:nvPr/>
        </p:nvSpPr>
        <p:spPr>
          <a:xfrm>
            <a:off x="5769864" y="4084800"/>
            <a:ext cx="4142232" cy="646331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  <a:prstDash val="sysDot"/>
          </a:ln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Function call from main:</a:t>
            </a:r>
          </a:p>
          <a:p>
            <a:pPr algn="ctr"/>
            <a:r>
              <a:rPr lang="en-US" b="1" dirty="0" err="1">
                <a:solidFill>
                  <a:schemeClr val="tx2"/>
                </a:solidFill>
              </a:rPr>
              <a:t>displayInfoForAllCourses</a:t>
            </a:r>
            <a:r>
              <a:rPr lang="en-US" b="1" dirty="0">
                <a:solidFill>
                  <a:schemeClr val="tx2"/>
                </a:solidFill>
              </a:rPr>
              <a:t>(</a:t>
            </a:r>
            <a:r>
              <a:rPr lang="en-US" b="1" dirty="0" err="1">
                <a:solidFill>
                  <a:schemeClr val="tx2"/>
                </a:solidFill>
              </a:rPr>
              <a:t>arr</a:t>
            </a:r>
            <a:r>
              <a:rPr lang="en-US" b="1" dirty="0">
                <a:solidFill>
                  <a:schemeClr val="tx2"/>
                </a:solidFill>
              </a:rPr>
              <a:t>, 6);</a:t>
            </a:r>
          </a:p>
        </p:txBody>
      </p:sp>
    </p:spTree>
    <p:extLst>
      <p:ext uri="{BB962C8B-B14F-4D97-AF65-F5344CB8AC3E}">
        <p14:creationId xmlns:p14="http://schemas.microsoft.com/office/powerpoint/2010/main" val="3076372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55FBA-3990-6C93-2720-77CC7007D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0408E-8DBF-5662-E15F-3879F95F8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Let’s say we have these two variables: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struct Course ITC = { "ITC", 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	"CS1002", 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	4, 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	{"12k-2034", "12k-2013"} };</a:t>
            </a:r>
          </a:p>
          <a:p>
            <a:pPr marL="45720" indent="0">
              <a:buNone/>
            </a:pPr>
            <a:r>
              <a:rPr lang="en-US" b="1" dirty="0" err="1">
                <a:latin typeface="Consolas" panose="020B0609020204030204" pitchFamily="49" charset="0"/>
              </a:rPr>
              <a:t>myCourse</a:t>
            </a:r>
            <a:r>
              <a:rPr lang="en-US" b="1" dirty="0">
                <a:latin typeface="Consolas" panose="020B0609020204030204" pitchFamily="49" charset="0"/>
              </a:rPr>
              <a:t> PF = {"PF",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//reminder: typedef struct Course 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myCourse</a:t>
            </a:r>
            <a:endParaRPr lang="en-US" b="1" dirty="0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	"CS1002", 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	4, 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	{"12k-2034", "12k-2013"} };</a:t>
            </a:r>
          </a:p>
        </p:txBody>
      </p:sp>
    </p:spTree>
    <p:extLst>
      <p:ext uri="{BB962C8B-B14F-4D97-AF65-F5344CB8AC3E}">
        <p14:creationId xmlns:p14="http://schemas.microsoft.com/office/powerpoint/2010/main" val="4030291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6EEA0-F35E-6AF3-5BBA-38A1D2527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ITC and PF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63AF6-CEDD-0CE6-E9F3-C0F4C8DD2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 ways to assign addresses to pointers.</a:t>
            </a:r>
          </a:p>
          <a:p>
            <a:pPr marL="45720" indent="0">
              <a:buNone/>
            </a:pPr>
            <a:r>
              <a:rPr lang="en-US" dirty="0"/>
              <a:t>	</a:t>
            </a:r>
            <a:r>
              <a:rPr lang="en-US" b="1" dirty="0">
                <a:latin typeface="Consolas" panose="020B0609020204030204" pitchFamily="49" charset="0"/>
              </a:rPr>
              <a:t>struct Course *ptr_1 = &amp;ITC; 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struct Course *ptr_2;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ptr_2 = &amp;PF;</a:t>
            </a:r>
          </a:p>
          <a:p>
            <a:pPr marL="4572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</a:t>
            </a:r>
            <a:r>
              <a:rPr lang="en-US" b="1" dirty="0" err="1">
                <a:latin typeface="Consolas" panose="020B0609020204030204" pitchFamily="49" charset="0"/>
              </a:rPr>
              <a:t>myCourse</a:t>
            </a:r>
            <a:r>
              <a:rPr lang="en-US" b="1" dirty="0">
                <a:latin typeface="Consolas" panose="020B0609020204030204" pitchFamily="49" charset="0"/>
              </a:rPr>
              <a:t> *ptr_3 = &amp;ITC;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</a:t>
            </a:r>
            <a:r>
              <a:rPr lang="en-US" b="1" dirty="0" err="1">
                <a:latin typeface="Consolas" panose="020B0609020204030204" pitchFamily="49" charset="0"/>
              </a:rPr>
              <a:t>myCourse</a:t>
            </a:r>
            <a:r>
              <a:rPr lang="en-US" b="1" dirty="0">
                <a:latin typeface="Consolas" panose="020B0609020204030204" pitchFamily="49" charset="0"/>
              </a:rPr>
              <a:t> *ptr_4;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ptr_4 = &amp;PF;</a:t>
            </a:r>
          </a:p>
          <a:p>
            <a:pPr marL="4572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66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0F867-7BE9-F7AC-2BA5-6397B3755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values from Struct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E8BA4-22CC-98A7-8D70-C5C8D960D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901952"/>
            <a:ext cx="10079736" cy="4127627"/>
          </a:xfrm>
        </p:spPr>
        <p:txBody>
          <a:bodyPr/>
          <a:lstStyle/>
          <a:p>
            <a:r>
              <a:rPr lang="en-US" dirty="0"/>
              <a:t>When you dereference a struct pointer, you will get the value of the struct stored at the address stored in the pointer.</a:t>
            </a:r>
          </a:p>
          <a:p>
            <a:r>
              <a:rPr lang="en-US" dirty="0"/>
              <a:t>The value of the struct =/= values of members of the struct</a:t>
            </a:r>
          </a:p>
          <a:p>
            <a:r>
              <a:rPr lang="en-US" dirty="0"/>
              <a:t>You then have to use the dot operator to extract the values of individual members.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marL="45720" indent="0">
              <a:buNone/>
            </a:pPr>
            <a:r>
              <a:rPr lang="en-US" b="1" dirty="0" err="1">
                <a:latin typeface="Consolas" panose="020B0609020204030204" pitchFamily="49" charset="0"/>
              </a:rPr>
              <a:t>printf</a:t>
            </a:r>
            <a:r>
              <a:rPr lang="en-US" b="1" dirty="0">
                <a:latin typeface="Consolas" panose="020B0609020204030204" pitchFamily="49" charset="0"/>
              </a:rPr>
              <a:t>("Pointers 2 and 4: %s and %s\n", (*ptr_2).name, (*ptr_4).name);</a:t>
            </a:r>
          </a:p>
        </p:txBody>
      </p:sp>
    </p:spTree>
    <p:extLst>
      <p:ext uri="{BB962C8B-B14F-4D97-AF65-F5344CB8AC3E}">
        <p14:creationId xmlns:p14="http://schemas.microsoft.com/office/powerpoint/2010/main" val="193812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DA31C-17EA-794D-62EA-5FD6D8662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‘-&gt;’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B1C35-C4E7-2F51-1B93-DCB476C51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arrow operator or -&gt; is something that you can use alternatively to extract values from a struct pointer.</a:t>
            </a:r>
          </a:p>
          <a:p>
            <a:r>
              <a:rPr lang="en-US" dirty="0"/>
              <a:t>Example:</a:t>
            </a:r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r>
              <a:rPr lang="en-US" b="1" dirty="0" err="1">
                <a:latin typeface="Consolas" panose="020B0609020204030204" pitchFamily="49" charset="0"/>
              </a:rPr>
              <a:t>printf</a:t>
            </a:r>
            <a:r>
              <a:rPr lang="en-US" b="1" dirty="0">
                <a:latin typeface="Consolas" panose="020B0609020204030204" pitchFamily="49" charset="0"/>
              </a:rPr>
              <a:t>("Pointers 1 and 3: %s and %s\n", ptr_1-&gt;name, ptr_3-&gt;name);</a:t>
            </a:r>
          </a:p>
        </p:txBody>
      </p:sp>
    </p:spTree>
    <p:extLst>
      <p:ext uri="{BB962C8B-B14F-4D97-AF65-F5344CB8AC3E}">
        <p14:creationId xmlns:p14="http://schemas.microsoft.com/office/powerpoint/2010/main" val="125352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AB437-07A5-2735-5536-33AFAF14B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Equivalency between (*</a:t>
            </a:r>
            <a:r>
              <a:rPr lang="en-US" dirty="0" err="1"/>
              <a:t>ptr</a:t>
            </a:r>
            <a:r>
              <a:rPr lang="en-US" dirty="0"/>
              <a:t>).X and </a:t>
            </a:r>
            <a:r>
              <a:rPr lang="en-US" dirty="0" err="1"/>
              <a:t>ptr</a:t>
            </a:r>
            <a:r>
              <a:rPr lang="en-US" dirty="0"/>
              <a:t>-&gt;X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A6CA6-3228-966E-71F1-37358D697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>
                <a:latin typeface="Consolas" panose="020B0609020204030204" pitchFamily="49" charset="0"/>
              </a:rPr>
              <a:t>ptr_1-&gt;name </a:t>
            </a:r>
            <a:r>
              <a:rPr lang="en-US" dirty="0"/>
              <a:t>is the same as </a:t>
            </a:r>
            <a:r>
              <a:rPr lang="en-US" b="1" dirty="0">
                <a:latin typeface="Consolas" panose="020B0609020204030204" pitchFamily="49" charset="0"/>
              </a:rPr>
              <a:t>(*ptr_1).name</a:t>
            </a:r>
          </a:p>
          <a:p>
            <a:endParaRPr lang="en-US" dirty="0"/>
          </a:p>
          <a:p>
            <a:r>
              <a:rPr lang="en-US" dirty="0"/>
              <a:t>Both of them dereference the pointer, and then fetch the string ‘name’ stored in the struct.</a:t>
            </a:r>
          </a:p>
        </p:txBody>
      </p:sp>
    </p:spTree>
    <p:extLst>
      <p:ext uri="{BB962C8B-B14F-4D97-AF65-F5344CB8AC3E}">
        <p14:creationId xmlns:p14="http://schemas.microsoft.com/office/powerpoint/2010/main" val="288381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DB4CC-6662-3816-AF2C-A2CCFE79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Dynamically Allocating Structs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C761C-EDE6-4FDC-CF55-49D142344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Here’s a function that allocates a block for n elements of our struct and then returns the address of the allocated memory.</a:t>
            </a:r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r>
              <a:rPr lang="en-US" b="1" dirty="0" err="1">
                <a:latin typeface="Consolas" panose="020B0609020204030204" pitchFamily="49" charset="0"/>
              </a:rPr>
              <a:t>myCourse</a:t>
            </a:r>
            <a:r>
              <a:rPr lang="en-US" b="1" dirty="0">
                <a:latin typeface="Consolas" panose="020B0609020204030204" pitchFamily="49" charset="0"/>
              </a:rPr>
              <a:t>* </a:t>
            </a:r>
            <a:r>
              <a:rPr lang="en-US" b="1" dirty="0" err="1">
                <a:latin typeface="Consolas" panose="020B0609020204030204" pitchFamily="49" charset="0"/>
              </a:rPr>
              <a:t>allocateMemoryForCourse</a:t>
            </a:r>
            <a:r>
              <a:rPr lang="en-US" b="1" dirty="0">
                <a:latin typeface="Consolas" panose="020B0609020204030204" pitchFamily="49" charset="0"/>
              </a:rPr>
              <a:t>(int elements){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return (</a:t>
            </a:r>
            <a:r>
              <a:rPr lang="en-US" b="1" dirty="0" err="1">
                <a:latin typeface="Consolas" panose="020B0609020204030204" pitchFamily="49" charset="0"/>
              </a:rPr>
              <a:t>myCourse</a:t>
            </a:r>
            <a:r>
              <a:rPr lang="en-US" b="1" dirty="0">
                <a:latin typeface="Consolas" panose="020B0609020204030204" pitchFamily="49" charset="0"/>
              </a:rPr>
              <a:t>*) malloc (elements * </a:t>
            </a:r>
            <a:r>
              <a:rPr lang="en-US" b="1" dirty="0" err="1">
                <a:latin typeface="Consolas" panose="020B0609020204030204" pitchFamily="49" charset="0"/>
              </a:rPr>
              <a:t>sizeof</a:t>
            </a:r>
            <a:r>
              <a:rPr lang="en-US" b="1" dirty="0">
                <a:latin typeface="Consolas" panose="020B0609020204030204" pitchFamily="49" charset="0"/>
              </a:rPr>
              <a:t>(</a:t>
            </a:r>
            <a:r>
              <a:rPr lang="en-US" b="1" dirty="0" err="1">
                <a:latin typeface="Consolas" panose="020B0609020204030204" pitchFamily="49" charset="0"/>
              </a:rPr>
              <a:t>myCourse</a:t>
            </a:r>
            <a:r>
              <a:rPr lang="en-US" b="1" dirty="0">
                <a:latin typeface="Consolas" panose="020B0609020204030204" pitchFamily="49" charset="0"/>
              </a:rPr>
              <a:t>));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0A8EBD-26FE-0CB9-14C2-29A7C9886D48}"/>
              </a:ext>
            </a:extLst>
          </p:cNvPr>
          <p:cNvSpPr txBox="1"/>
          <p:nvPr/>
        </p:nvSpPr>
        <p:spPr>
          <a:xfrm>
            <a:off x="2717292" y="4638566"/>
            <a:ext cx="6757416" cy="1477328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  <a:prstDash val="sysDot"/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Function call/usage from main:</a:t>
            </a:r>
          </a:p>
          <a:p>
            <a:r>
              <a:rPr lang="en-US" b="1" dirty="0">
                <a:solidFill>
                  <a:schemeClr val="tx2"/>
                </a:solidFill>
                <a:latin typeface="Consolas" panose="020B0609020204030204" pitchFamily="49" charset="0"/>
              </a:rPr>
              <a:t>int n = 5;</a:t>
            </a:r>
          </a:p>
          <a:p>
            <a:r>
              <a:rPr lang="en-US" b="1" dirty="0" err="1">
                <a:solidFill>
                  <a:schemeClr val="tx2"/>
                </a:solidFill>
                <a:latin typeface="Consolas" panose="020B0609020204030204" pitchFamily="49" charset="0"/>
              </a:rPr>
              <a:t>myCourse</a:t>
            </a:r>
            <a:r>
              <a:rPr lang="en-US" b="1" dirty="0">
                <a:solidFill>
                  <a:schemeClr val="tx2"/>
                </a:solidFill>
                <a:latin typeface="Consolas" panose="020B0609020204030204" pitchFamily="49" charset="0"/>
              </a:rPr>
              <a:t> *allocated = </a:t>
            </a:r>
            <a:r>
              <a:rPr lang="en-US" b="1" dirty="0" err="1">
                <a:solidFill>
                  <a:schemeClr val="tx2"/>
                </a:solidFill>
                <a:latin typeface="Consolas" panose="020B0609020204030204" pitchFamily="49" charset="0"/>
              </a:rPr>
              <a:t>allocateMemoryForCourse</a:t>
            </a:r>
            <a:r>
              <a:rPr lang="en-US" b="1" dirty="0">
                <a:solidFill>
                  <a:schemeClr val="tx2"/>
                </a:solidFill>
                <a:latin typeface="Consolas" panose="020B0609020204030204" pitchFamily="49" charset="0"/>
              </a:rPr>
              <a:t>(n);</a:t>
            </a:r>
          </a:p>
          <a:p>
            <a:r>
              <a:rPr lang="en-US" b="1" dirty="0">
                <a:solidFill>
                  <a:schemeClr val="tx2"/>
                </a:solidFill>
                <a:latin typeface="Consolas" panose="020B0609020204030204" pitchFamily="49" charset="0"/>
              </a:rPr>
              <a:t>allocated[0].</a:t>
            </a:r>
            <a:r>
              <a:rPr lang="en-US" b="1" dirty="0" err="1">
                <a:solidFill>
                  <a:schemeClr val="tx2"/>
                </a:solidFill>
                <a:latin typeface="Consolas" panose="020B0609020204030204" pitchFamily="49" charset="0"/>
              </a:rPr>
              <a:t>creditHrs</a:t>
            </a:r>
            <a:r>
              <a:rPr lang="en-US" b="1" dirty="0">
                <a:solidFill>
                  <a:schemeClr val="tx2"/>
                </a:solidFill>
                <a:latin typeface="Consolas" panose="020B0609020204030204" pitchFamily="49" charset="0"/>
              </a:rPr>
              <a:t> = 4;</a:t>
            </a:r>
          </a:p>
          <a:p>
            <a:r>
              <a:rPr lang="en-US" b="1" dirty="0">
                <a:solidFill>
                  <a:schemeClr val="tx2"/>
                </a:solidFill>
                <a:latin typeface="Consolas" panose="020B0609020204030204" pitchFamily="49" charset="0"/>
              </a:rPr>
              <a:t>allocated[4] = PF;</a:t>
            </a:r>
          </a:p>
        </p:txBody>
      </p:sp>
    </p:spTree>
    <p:extLst>
      <p:ext uri="{BB962C8B-B14F-4D97-AF65-F5344CB8AC3E}">
        <p14:creationId xmlns:p14="http://schemas.microsoft.com/office/powerpoint/2010/main" val="3112671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B9317-8882-A4E9-520D-2C63C53B9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&amp; Constant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7F41C-26D5-BDA4-D265-64D373B9E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10509504" cy="841248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						(and even more pointers…) </a:t>
            </a:r>
          </a:p>
        </p:txBody>
      </p:sp>
      <p:pic>
        <p:nvPicPr>
          <p:cNvPr id="1026" name="Picture 2" descr="Sweating by 2a03_ - FrankerFaceZ">
            <a:extLst>
              <a:ext uri="{FF2B5EF4-FFF2-40B4-BE49-F238E27FC236}">
                <a16:creationId xmlns:a16="http://schemas.microsoft.com/office/drawing/2014/main" id="{3A400386-A6D3-D214-9D6C-91FDBDC30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094" y="3773424"/>
            <a:ext cx="116205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334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93367-C288-1270-CE63-D056C7C4B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39F8A-07C6-D04A-B0AD-89DCDC3E2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Storage</a:t>
            </a:r>
            <a:r>
              <a:rPr lang="en-US" dirty="0"/>
              <a:t> − Memory. </a:t>
            </a:r>
          </a:p>
          <a:p>
            <a:r>
              <a:rPr lang="en-US" b="1" dirty="0"/>
              <a:t>Default initial value </a:t>
            </a:r>
            <a:r>
              <a:rPr lang="en-US" dirty="0"/>
              <a:t>− 0/0.0/null character/NULL, depending on datatype.</a:t>
            </a:r>
          </a:p>
          <a:p>
            <a:r>
              <a:rPr lang="en-US" b="1" dirty="0"/>
              <a:t>Scope</a:t>
            </a:r>
            <a:r>
              <a:rPr lang="en-US" dirty="0"/>
              <a:t> − Local to the block in which the variable is defined. </a:t>
            </a:r>
          </a:p>
          <a:p>
            <a:r>
              <a:rPr lang="en-US" b="1" dirty="0"/>
              <a:t>Life</a:t>
            </a:r>
            <a:r>
              <a:rPr lang="en-US" dirty="0"/>
              <a:t> − Value of the variable persists between different function calls.</a:t>
            </a:r>
          </a:p>
          <a:p>
            <a:pPr marL="45720" indent="0">
              <a:buNone/>
            </a:pPr>
            <a:endParaRPr lang="en-US" dirty="0"/>
          </a:p>
          <a:p>
            <a:r>
              <a:rPr lang="en-US" dirty="0"/>
              <a:t>Useful because only one variable is created, and it is never destroyed until the program exits. This variable always holds the most recent value that was assigned to it. </a:t>
            </a:r>
          </a:p>
          <a:p>
            <a:r>
              <a:rPr lang="en-US" dirty="0"/>
              <a:t>Very handy if let’s say, you wanted to keep track of how many times the function was called, etc.  - But then why not use </a:t>
            </a:r>
            <a:r>
              <a:rPr lang="en-US" dirty="0" err="1"/>
              <a:t>globals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93409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F1B4C-F62E-1BE9-4324-3AA61A775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Static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15595-65FF-7151-8F77-E39889A55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901952"/>
            <a:ext cx="9509760" cy="4581144"/>
          </a:xfrm>
        </p:spPr>
        <p:txBody>
          <a:bodyPr>
            <a:normAutofit fontScale="85000" lnSpcReduction="20000"/>
          </a:bodyPr>
          <a:lstStyle/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void </a:t>
            </a:r>
            <a:r>
              <a:rPr lang="en-US" b="1" dirty="0" err="1">
                <a:latin typeface="Consolas" panose="020B0609020204030204" pitchFamily="49" charset="0"/>
              </a:rPr>
              <a:t>thisFunctionCounts</a:t>
            </a:r>
            <a:r>
              <a:rPr lang="en-US" b="1" dirty="0">
                <a:latin typeface="Consolas" panose="020B0609020204030204" pitchFamily="49" charset="0"/>
              </a:rPr>
              <a:t>() {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static int </a:t>
            </a:r>
            <a:r>
              <a:rPr lang="en-US" b="1" dirty="0" err="1">
                <a:latin typeface="Consolas" panose="020B0609020204030204" pitchFamily="49" charset="0"/>
              </a:rPr>
              <a:t>myVar</a:t>
            </a:r>
            <a:r>
              <a:rPr lang="en-US" b="1" dirty="0">
                <a:latin typeface="Consolas" panose="020B06090202040302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</a:t>
            </a:r>
            <a:r>
              <a:rPr lang="en-US" b="1" dirty="0" err="1">
                <a:latin typeface="Consolas" panose="020B0609020204030204" pitchFamily="49" charset="0"/>
              </a:rPr>
              <a:t>myVar</a:t>
            </a:r>
            <a:r>
              <a:rPr lang="en-US" b="1" dirty="0">
                <a:latin typeface="Consolas" panose="020B0609020204030204" pitchFamily="49" charset="0"/>
              </a:rPr>
              <a:t>++;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if(myVar%10 == 0) 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	</a:t>
            </a:r>
            <a:r>
              <a:rPr lang="en-US" b="1" dirty="0" err="1">
                <a:latin typeface="Consolas" panose="020B0609020204030204" pitchFamily="49" charset="0"/>
              </a:rPr>
              <a:t>printf</a:t>
            </a:r>
            <a:r>
              <a:rPr lang="en-US" b="1" dirty="0">
                <a:latin typeface="Consolas" panose="020B0609020204030204" pitchFamily="49" charset="0"/>
              </a:rPr>
              <a:t>("</a:t>
            </a:r>
            <a:r>
              <a:rPr lang="en-US" b="1" dirty="0" err="1">
                <a:latin typeface="Consolas" panose="020B0609020204030204" pitchFamily="49" charset="0"/>
              </a:rPr>
              <a:t>myVar</a:t>
            </a:r>
            <a:r>
              <a:rPr lang="en-US" b="1" dirty="0">
                <a:latin typeface="Consolas" panose="020B0609020204030204" pitchFamily="49" charset="0"/>
              </a:rPr>
              <a:t> is: %d\n", </a:t>
            </a:r>
            <a:r>
              <a:rPr lang="en-US" b="1" dirty="0" err="1">
                <a:latin typeface="Consolas" panose="020B0609020204030204" pitchFamily="49" charset="0"/>
              </a:rPr>
              <a:t>myVar</a:t>
            </a:r>
            <a:r>
              <a:rPr lang="en-US" b="1" dirty="0">
                <a:latin typeface="Consolas" panose="020B0609020204030204" pitchFamily="49" charset="0"/>
              </a:rPr>
              <a:t>);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}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 main() {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for (int </a:t>
            </a:r>
            <a:r>
              <a:rPr lang="en-US" b="1" dirty="0" err="1">
                <a:latin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</a:rPr>
              <a:t> = 0; </a:t>
            </a:r>
            <a:r>
              <a:rPr lang="en-US" b="1" dirty="0" err="1">
                <a:latin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</a:rPr>
              <a:t> &lt; 50; </a:t>
            </a:r>
            <a:r>
              <a:rPr lang="en-US" b="1" dirty="0" err="1">
                <a:latin typeface="Consolas" panose="020B0609020204030204" pitchFamily="49" charset="0"/>
              </a:rPr>
              <a:t>i</a:t>
            </a:r>
            <a:r>
              <a:rPr lang="en-US" b="1" dirty="0">
                <a:latin typeface="Consolas" panose="020B0609020204030204" pitchFamily="49" charset="0"/>
              </a:rPr>
              <a:t>++)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	</a:t>
            </a:r>
            <a:r>
              <a:rPr lang="en-US" b="1" dirty="0" err="1">
                <a:latin typeface="Consolas" panose="020B0609020204030204" pitchFamily="49" charset="0"/>
              </a:rPr>
              <a:t>thisFunctionCounts</a:t>
            </a:r>
            <a:r>
              <a:rPr lang="en-US" b="1" dirty="0">
                <a:latin typeface="Consolas" panose="020B0609020204030204" pitchFamily="49" charset="0"/>
              </a:rPr>
              <a:t>();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return 0;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52299-8014-1A81-BC19-61DCC867B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6986" y="4351814"/>
            <a:ext cx="4163800" cy="203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915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DFEEF-45F4-C9EB-2AB3-98998B012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Variables – </a:t>
            </a:r>
            <a:r>
              <a:rPr lang="en-US" sz="2400" dirty="0"/>
              <a:t>the Oxymoron of all Times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416A7-4CDC-BB88-D875-821452E249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adding </a:t>
            </a:r>
            <a:r>
              <a:rPr lang="en-US" b="1" dirty="0"/>
              <a:t>“const” </a:t>
            </a:r>
            <a:r>
              <a:rPr lang="en-US" dirty="0"/>
              <a:t>at the start of a variable declaration + initialization, we can make a variable constant.</a:t>
            </a:r>
          </a:p>
          <a:p>
            <a:r>
              <a:rPr lang="en-US" dirty="0"/>
              <a:t>You cannot make a constant variable without initializing it first. The compiler will not allow it.</a:t>
            </a:r>
          </a:p>
          <a:p>
            <a:pPr marL="45720" indent="0">
              <a:buNone/>
            </a:pPr>
            <a:r>
              <a:rPr lang="en-US" dirty="0"/>
              <a:t>	</a:t>
            </a:r>
            <a:r>
              <a:rPr lang="en-US" b="1" dirty="0">
                <a:latin typeface="Consolas" panose="020B0609020204030204" pitchFamily="49" charset="0"/>
              </a:rPr>
              <a:t>const int X;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//will cause error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const int Y = 99;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Y = Y++;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//will cause error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const char name[] = "Harry Potter";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name[0] = 'B';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//will cause error</a:t>
            </a:r>
          </a:p>
        </p:txBody>
      </p:sp>
    </p:spTree>
    <p:extLst>
      <p:ext uri="{BB962C8B-B14F-4D97-AF65-F5344CB8AC3E}">
        <p14:creationId xmlns:p14="http://schemas.microsoft.com/office/powerpoint/2010/main" val="2969379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E8298-4B99-7DDF-19CA-0D0F3C78A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and Const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D25C2-4743-29A7-4932-56362F7CC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There’s 4 ways the const keyword can interact with a pointer:</a:t>
            </a:r>
          </a:p>
          <a:p>
            <a:r>
              <a:rPr lang="en-US" b="1" dirty="0"/>
              <a:t>First:</a:t>
            </a:r>
            <a:r>
              <a:rPr lang="en-US" dirty="0"/>
              <a:t> They don’t – so, a normal pointer, no const in sight.</a:t>
            </a:r>
          </a:p>
          <a:p>
            <a:pPr lvl="1"/>
            <a:r>
              <a:rPr lang="en-US" dirty="0"/>
              <a:t>Non-Constant pointer to Non-Constant Data</a:t>
            </a:r>
          </a:p>
          <a:p>
            <a:r>
              <a:rPr lang="en-US" b="1" dirty="0"/>
              <a:t>Second:</a:t>
            </a:r>
          </a:p>
          <a:p>
            <a:pPr lvl="1"/>
            <a:r>
              <a:rPr lang="en-US" dirty="0"/>
              <a:t>Non-Constant Pointer to Constant Data</a:t>
            </a:r>
          </a:p>
          <a:p>
            <a:r>
              <a:rPr lang="en-US" b="1" dirty="0"/>
              <a:t>Third:</a:t>
            </a:r>
          </a:p>
          <a:p>
            <a:pPr lvl="1"/>
            <a:r>
              <a:rPr lang="en-US" dirty="0"/>
              <a:t>Constant Pointer to Non-Constant Data</a:t>
            </a:r>
          </a:p>
          <a:p>
            <a:r>
              <a:rPr lang="en-US" b="1" dirty="0"/>
              <a:t>Fourth:</a:t>
            </a:r>
          </a:p>
          <a:p>
            <a:pPr lvl="1"/>
            <a:r>
              <a:rPr lang="en-US" dirty="0"/>
              <a:t>Constant Pointer to Constant Data</a:t>
            </a:r>
          </a:p>
        </p:txBody>
      </p:sp>
    </p:spTree>
    <p:extLst>
      <p:ext uri="{BB962C8B-B14F-4D97-AF65-F5344CB8AC3E}">
        <p14:creationId xmlns:p14="http://schemas.microsoft.com/office/powerpoint/2010/main" val="2725753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AD0A2-10BF-443D-C856-9AE081195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Non-Constant pointer to Non-Constant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BC789-DEA4-97E2-B277-FE60075296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Basically, what we have already done with pointers so far.</a:t>
            </a:r>
          </a:p>
          <a:p>
            <a:r>
              <a:rPr lang="en-US" dirty="0"/>
              <a:t>You’re free to have the pointer point to anything + You can modify the value at the location that the pointer is pointing to.</a:t>
            </a:r>
          </a:p>
          <a:p>
            <a:endParaRPr lang="en-US" dirty="0"/>
          </a:p>
          <a:p>
            <a:pPr marL="45720" indent="0">
              <a:buNone/>
            </a:pPr>
            <a:r>
              <a:rPr lang="en-US" dirty="0"/>
              <a:t>	</a:t>
            </a:r>
            <a:r>
              <a:rPr lang="en-US" sz="2100" b="1" dirty="0">
                <a:latin typeface="Consolas" panose="020B0609020204030204" pitchFamily="49" charset="0"/>
              </a:rPr>
              <a:t>int ncData_1 = 10, ncData_2 = 20;</a:t>
            </a:r>
          </a:p>
          <a:p>
            <a:pPr marL="45720" indent="0">
              <a:buNone/>
            </a:pPr>
            <a:r>
              <a:rPr lang="en-US" sz="2100" b="1" dirty="0">
                <a:latin typeface="Consolas" panose="020B0609020204030204" pitchFamily="49" charset="0"/>
              </a:rPr>
              <a:t>	int* </a:t>
            </a:r>
            <a:r>
              <a:rPr lang="en-US" sz="2100" b="1" dirty="0" err="1">
                <a:latin typeface="Consolas" panose="020B0609020204030204" pitchFamily="49" charset="0"/>
              </a:rPr>
              <a:t>ncPtr</a:t>
            </a:r>
            <a:r>
              <a:rPr lang="en-US" sz="2100" b="1" dirty="0">
                <a:latin typeface="Consolas" panose="020B06090202040302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sz="2100" b="1" dirty="0">
                <a:latin typeface="Consolas" panose="020B0609020204030204" pitchFamily="49" charset="0"/>
              </a:rPr>
              <a:t>	</a:t>
            </a:r>
            <a:r>
              <a:rPr lang="en-US" sz="2100" b="1" dirty="0" err="1">
                <a:latin typeface="Consolas" panose="020B0609020204030204" pitchFamily="49" charset="0"/>
              </a:rPr>
              <a:t>ncPtr</a:t>
            </a:r>
            <a:r>
              <a:rPr lang="en-US" sz="2100" b="1" dirty="0">
                <a:latin typeface="Consolas" panose="020B0609020204030204" pitchFamily="49" charset="0"/>
              </a:rPr>
              <a:t> = &amp;ncData_1;</a:t>
            </a:r>
          </a:p>
          <a:p>
            <a:pPr marL="45720" indent="0">
              <a:buNone/>
            </a:pPr>
            <a:r>
              <a:rPr lang="en-US" sz="2100" b="1" dirty="0">
                <a:latin typeface="Consolas" panose="020B0609020204030204" pitchFamily="49" charset="0"/>
              </a:rPr>
              <a:t>	*</a:t>
            </a:r>
            <a:r>
              <a:rPr lang="en-US" sz="2100" b="1" dirty="0" err="1">
                <a:latin typeface="Consolas" panose="020B0609020204030204" pitchFamily="49" charset="0"/>
              </a:rPr>
              <a:t>ncPtr</a:t>
            </a:r>
            <a:r>
              <a:rPr lang="en-US" sz="2100" b="1" dirty="0">
                <a:latin typeface="Consolas" panose="020B0609020204030204" pitchFamily="49" charset="0"/>
              </a:rPr>
              <a:t> = 11; </a:t>
            </a:r>
          </a:p>
          <a:p>
            <a:pPr marL="45720" indent="0">
              <a:buNone/>
            </a:pPr>
            <a:r>
              <a:rPr lang="en-US" sz="2100" b="1" dirty="0">
                <a:latin typeface="Consolas" panose="020B0609020204030204" pitchFamily="49" charset="0"/>
              </a:rPr>
              <a:t>	</a:t>
            </a:r>
            <a:r>
              <a:rPr lang="en-US" sz="2100" b="1" dirty="0" err="1">
                <a:latin typeface="Consolas" panose="020B0609020204030204" pitchFamily="49" charset="0"/>
              </a:rPr>
              <a:t>ncPtr</a:t>
            </a:r>
            <a:r>
              <a:rPr lang="en-US" sz="2100" b="1" dirty="0">
                <a:latin typeface="Consolas" panose="020B0609020204030204" pitchFamily="49" charset="0"/>
              </a:rPr>
              <a:t> = &amp;ncData_2;</a:t>
            </a:r>
          </a:p>
          <a:p>
            <a:pPr marL="45720" indent="0">
              <a:buNone/>
            </a:pPr>
            <a:r>
              <a:rPr lang="en-US" sz="2100" b="1" dirty="0">
                <a:latin typeface="Consolas" panose="020B0609020204030204" pitchFamily="49" charset="0"/>
              </a:rPr>
              <a:t>	*</a:t>
            </a:r>
            <a:r>
              <a:rPr lang="en-US" sz="2100" b="1" dirty="0" err="1">
                <a:latin typeface="Consolas" panose="020B0609020204030204" pitchFamily="49" charset="0"/>
              </a:rPr>
              <a:t>ncPtr</a:t>
            </a:r>
            <a:r>
              <a:rPr lang="en-US" sz="2100" b="1" dirty="0">
                <a:latin typeface="Consolas" panose="020B0609020204030204" pitchFamily="49" charset="0"/>
              </a:rPr>
              <a:t> = 22; </a:t>
            </a:r>
          </a:p>
        </p:txBody>
      </p:sp>
    </p:spTree>
    <p:extLst>
      <p:ext uri="{BB962C8B-B14F-4D97-AF65-F5344CB8AC3E}">
        <p14:creationId xmlns:p14="http://schemas.microsoft.com/office/powerpoint/2010/main" val="205808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F92D4-1D3E-2E13-F265-15BEE0A5F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Non-Constant Pointer to Constant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5D2F7-9BEA-25B4-74F9-B2B86A3B0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Pointer can be modified to point to any other data, but the data to which it points cannot be modified through that pointer</a:t>
            </a:r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r>
              <a:rPr lang="en-US" dirty="0"/>
              <a:t>	</a:t>
            </a:r>
            <a:r>
              <a:rPr lang="en-US" b="1" dirty="0">
                <a:latin typeface="Consolas" panose="020B0609020204030204" pitchFamily="49" charset="0"/>
              </a:rPr>
              <a:t>const int* </a:t>
            </a:r>
            <a:r>
              <a:rPr lang="en-US" b="1" dirty="0" err="1">
                <a:latin typeface="Consolas" panose="020B0609020204030204" pitchFamily="49" charset="0"/>
              </a:rPr>
              <a:t>ptrToconstInt</a:t>
            </a:r>
            <a:r>
              <a:rPr lang="en-US" b="1" dirty="0">
                <a:latin typeface="Consolas" panose="020B06090202040302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const int cInt_1 = 100, cInt_2 = 200;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</a:t>
            </a:r>
            <a:r>
              <a:rPr lang="en-US" b="1" dirty="0" err="1">
                <a:latin typeface="Consolas" panose="020B0609020204030204" pitchFamily="49" charset="0"/>
              </a:rPr>
              <a:t>ptrToconstInt</a:t>
            </a:r>
            <a:r>
              <a:rPr lang="en-US" b="1" dirty="0">
                <a:latin typeface="Consolas" panose="020B0609020204030204" pitchFamily="49" charset="0"/>
              </a:rPr>
              <a:t> = &amp;cInt_1;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//*</a:t>
            </a:r>
            <a:r>
              <a:rPr lang="en-US" b="1" dirty="0" err="1">
                <a:latin typeface="Consolas" panose="020B0609020204030204" pitchFamily="49" charset="0"/>
              </a:rPr>
              <a:t>ptrToconstInt</a:t>
            </a:r>
            <a:r>
              <a:rPr lang="en-US" b="1" dirty="0">
                <a:latin typeface="Consolas" panose="020B0609020204030204" pitchFamily="49" charset="0"/>
              </a:rPr>
              <a:t> = 1;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//will cause error 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</a:t>
            </a:r>
            <a:r>
              <a:rPr lang="en-US" b="1" dirty="0" err="1">
                <a:latin typeface="Consolas" panose="020B0609020204030204" pitchFamily="49" charset="0"/>
              </a:rPr>
              <a:t>ptrToconstInt</a:t>
            </a:r>
            <a:r>
              <a:rPr lang="en-US" b="1" dirty="0">
                <a:latin typeface="Consolas" panose="020B0609020204030204" pitchFamily="49" charset="0"/>
              </a:rPr>
              <a:t> = &amp;cInt_2;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//*</a:t>
            </a:r>
            <a:r>
              <a:rPr lang="en-US" b="1" dirty="0" err="1">
                <a:latin typeface="Consolas" panose="020B0609020204030204" pitchFamily="49" charset="0"/>
              </a:rPr>
              <a:t>ptrToconstInt</a:t>
            </a:r>
            <a:r>
              <a:rPr lang="en-US" b="1" dirty="0">
                <a:latin typeface="Consolas" panose="020B0609020204030204" pitchFamily="49" charset="0"/>
              </a:rPr>
              <a:t> = 1;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//will cause error</a:t>
            </a:r>
          </a:p>
        </p:txBody>
      </p:sp>
    </p:spTree>
    <p:extLst>
      <p:ext uri="{BB962C8B-B14F-4D97-AF65-F5344CB8AC3E}">
        <p14:creationId xmlns:p14="http://schemas.microsoft.com/office/powerpoint/2010/main" val="977648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1477E-6927-B45D-267D-FA9A174B2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Pointer to Non-Constant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55FEF-7D81-F114-3268-CDA3D98E6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points to the same memory location, but the data at that location can be modified through the pointer</a:t>
            </a:r>
          </a:p>
          <a:p>
            <a:endParaRPr lang="en-US" dirty="0"/>
          </a:p>
          <a:p>
            <a:pPr marL="45720" indent="0">
              <a:buNone/>
            </a:pPr>
            <a:r>
              <a:rPr lang="en-US" dirty="0"/>
              <a:t>	</a:t>
            </a:r>
            <a:r>
              <a:rPr lang="en-US" b="1" dirty="0">
                <a:latin typeface="Consolas" panose="020B0609020204030204" pitchFamily="49" charset="0"/>
              </a:rPr>
              <a:t>int* const </a:t>
            </a:r>
            <a:r>
              <a:rPr lang="en-US" b="1" dirty="0" err="1">
                <a:latin typeface="Consolas" panose="020B0609020204030204" pitchFamily="49" charset="0"/>
              </a:rPr>
              <a:t>constPtrToNCInt</a:t>
            </a:r>
            <a:r>
              <a:rPr lang="en-US" b="1" dirty="0">
                <a:latin typeface="Consolas" panose="020B0609020204030204" pitchFamily="49" charset="0"/>
              </a:rPr>
              <a:t> = &amp;ncData_1;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*</a:t>
            </a:r>
            <a:r>
              <a:rPr lang="en-US" b="1" dirty="0" err="1">
                <a:latin typeface="Consolas" panose="020B0609020204030204" pitchFamily="49" charset="0"/>
              </a:rPr>
              <a:t>constPtrToNCInt</a:t>
            </a:r>
            <a:r>
              <a:rPr lang="en-US" b="1" dirty="0">
                <a:latin typeface="Consolas" panose="020B0609020204030204" pitchFamily="49" charset="0"/>
              </a:rPr>
              <a:t> = 2000; 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</a:t>
            </a:r>
            <a:r>
              <a:rPr lang="en-US" b="1" dirty="0" err="1">
                <a:latin typeface="Consolas" panose="020B0609020204030204" pitchFamily="49" charset="0"/>
              </a:rPr>
              <a:t>constPtrToNCInt</a:t>
            </a:r>
            <a:r>
              <a:rPr lang="en-US" b="1" dirty="0">
                <a:latin typeface="Consolas" panose="020B0609020204030204" pitchFamily="49" charset="0"/>
              </a:rPr>
              <a:t> = &amp;ncData_2;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//will cause error</a:t>
            </a:r>
          </a:p>
        </p:txBody>
      </p:sp>
    </p:spTree>
    <p:extLst>
      <p:ext uri="{BB962C8B-B14F-4D97-AF65-F5344CB8AC3E}">
        <p14:creationId xmlns:p14="http://schemas.microsoft.com/office/powerpoint/2010/main" val="2174274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D2522-7CA4-658D-73F1-FA8E84224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Pointer to Constant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0CEE9-A74C-94C0-CFDB-C1FBC87DE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points to the same memory location, and the data at that location cannot be modified via the pointer</a:t>
            </a:r>
          </a:p>
          <a:p>
            <a:endParaRPr lang="en-US" dirty="0"/>
          </a:p>
          <a:p>
            <a:pPr marL="45720" indent="0">
              <a:buNone/>
            </a:pPr>
            <a:r>
              <a:rPr lang="en-US" dirty="0"/>
              <a:t>	</a:t>
            </a:r>
            <a:r>
              <a:rPr lang="en-US" b="1" dirty="0">
                <a:latin typeface="Consolas" panose="020B0609020204030204" pitchFamily="49" charset="0"/>
              </a:rPr>
              <a:t>const int* const </a:t>
            </a:r>
            <a:r>
              <a:rPr lang="en-US" b="1" dirty="0" err="1">
                <a:latin typeface="Consolas" panose="020B0609020204030204" pitchFamily="49" charset="0"/>
              </a:rPr>
              <a:t>constPtrToConstInt</a:t>
            </a:r>
            <a:r>
              <a:rPr lang="en-US" b="1" dirty="0">
                <a:latin typeface="Consolas" panose="020B0609020204030204" pitchFamily="49" charset="0"/>
              </a:rPr>
              <a:t> = &amp;cInt_1;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</a:t>
            </a:r>
            <a:r>
              <a:rPr lang="en-US" b="1" dirty="0" err="1">
                <a:latin typeface="Consolas" panose="020B0609020204030204" pitchFamily="49" charset="0"/>
              </a:rPr>
              <a:t>constPtrToConstInt</a:t>
            </a:r>
            <a:r>
              <a:rPr lang="en-US" b="1" dirty="0">
                <a:latin typeface="Consolas" panose="020B0609020204030204" pitchFamily="49" charset="0"/>
              </a:rPr>
              <a:t> = &amp;cInt_2;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//will cause error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*</a:t>
            </a:r>
            <a:r>
              <a:rPr lang="en-US" b="1" dirty="0" err="1">
                <a:latin typeface="Consolas" panose="020B0609020204030204" pitchFamily="49" charset="0"/>
              </a:rPr>
              <a:t>constPtrToConstInt</a:t>
            </a:r>
            <a:r>
              <a:rPr lang="en-US" b="1" dirty="0">
                <a:latin typeface="Consolas" panose="020B0609020204030204" pitchFamily="49" charset="0"/>
              </a:rPr>
              <a:t> = 99;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//will cause error</a:t>
            </a:r>
          </a:p>
        </p:txBody>
      </p:sp>
    </p:spTree>
    <p:extLst>
      <p:ext uri="{BB962C8B-B14F-4D97-AF65-F5344CB8AC3E}">
        <p14:creationId xmlns:p14="http://schemas.microsoft.com/office/powerpoint/2010/main" val="206954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08DEA-5E2B-2897-C6ED-6B7A3173A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4EC20-8F3A-3429-16FE-DE7450C34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make arguments constant as well!</a:t>
            </a:r>
          </a:p>
          <a:p>
            <a:r>
              <a:rPr lang="en-US" dirty="0"/>
              <a:t>This ensure that you don’t accidentally modify the argument in the function body.</a:t>
            </a:r>
          </a:p>
          <a:p>
            <a:r>
              <a:rPr lang="en-US" dirty="0"/>
              <a:t>Especially useful if you are accepting things by reference, because it would change the value of the variable in the main function as well.</a:t>
            </a:r>
          </a:p>
        </p:txBody>
      </p:sp>
    </p:spTree>
    <p:extLst>
      <p:ext uri="{BB962C8B-B14F-4D97-AF65-F5344CB8AC3E}">
        <p14:creationId xmlns:p14="http://schemas.microsoft.com/office/powerpoint/2010/main" val="673384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4E33F-7EAA-DD8F-9CF6-BBAAD7E4B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const Arguments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F6FFF-2E95-2F14-5503-99515873C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void sum_1(int* a, int* b, int* sum){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*a = *a + *b;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*sum = *a;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}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void sum_2(const int* a, const int* b, int* sum){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*a = *a + *b;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//will cause error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*sum = *a + *b;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188146-487C-C1AE-288E-334CE37F1F7F}"/>
              </a:ext>
            </a:extLst>
          </p:cNvPr>
          <p:cNvSpPr txBox="1"/>
          <p:nvPr/>
        </p:nvSpPr>
        <p:spPr>
          <a:xfrm>
            <a:off x="7467600" y="1755648"/>
            <a:ext cx="3383280" cy="2031325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  <a:prstDash val="sysDot"/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Function call from main:</a:t>
            </a:r>
          </a:p>
          <a:p>
            <a:endParaRPr lang="en-US" b="1" dirty="0">
              <a:solidFill>
                <a:schemeClr val="tx2"/>
              </a:solidFill>
            </a:endParaRPr>
          </a:p>
          <a:p>
            <a:r>
              <a:rPr lang="en-US" b="1" dirty="0">
                <a:solidFill>
                  <a:schemeClr val="tx2"/>
                </a:solidFill>
              </a:rPr>
              <a:t>int a = 10, b = 99, sum = 0;</a:t>
            </a:r>
          </a:p>
          <a:p>
            <a:r>
              <a:rPr lang="en-US" b="1" dirty="0">
                <a:solidFill>
                  <a:schemeClr val="tx2"/>
                </a:solidFill>
              </a:rPr>
              <a:t>sum_1(&amp;a, &amp;b, &amp;sum);</a:t>
            </a:r>
          </a:p>
          <a:p>
            <a:r>
              <a:rPr lang="en-US" b="1" dirty="0">
                <a:solidFill>
                  <a:schemeClr val="tx2"/>
                </a:solidFill>
              </a:rPr>
              <a:t>a = 10, b = 99, sum = 0; </a:t>
            </a:r>
          </a:p>
          <a:p>
            <a:r>
              <a:rPr lang="en-US" b="1" dirty="0">
                <a:solidFill>
                  <a:schemeClr val="tx2"/>
                </a:solidFill>
              </a:rPr>
              <a:t>sum_2(&amp;a, &amp;b, &amp;sum);</a:t>
            </a:r>
          </a:p>
          <a:p>
            <a:endParaRPr lang="en-US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97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478221-713E-AA14-A551-86D6B4CCF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A775AF-CA7B-1082-89EE-EC1BAC012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… a what now?</a:t>
            </a:r>
          </a:p>
        </p:txBody>
      </p:sp>
    </p:spTree>
    <p:extLst>
      <p:ext uri="{BB962C8B-B14F-4D97-AF65-F5344CB8AC3E}">
        <p14:creationId xmlns:p14="http://schemas.microsoft.com/office/powerpoint/2010/main" val="264241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0561-42D2-DF4F-1F6F-5727D16E5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Function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63078-5EF4-E9E1-FB9E-2C6015824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pointer which keeps address of a function is known as function pointer.</a:t>
            </a:r>
          </a:p>
          <a:p>
            <a:endParaRPr lang="en-US" dirty="0"/>
          </a:p>
          <a:p>
            <a:pPr marL="45720" indent="0" algn="ctr">
              <a:buNone/>
            </a:pPr>
            <a:r>
              <a:rPr lang="en-US" sz="2800" b="1" dirty="0">
                <a:latin typeface="Consolas" panose="020B0609020204030204" pitchFamily="49" charset="0"/>
              </a:rPr>
              <a:t>void (*</a:t>
            </a:r>
            <a:r>
              <a:rPr lang="en-US" sz="2800" b="1" dirty="0" err="1">
                <a:latin typeface="Consolas" panose="020B0609020204030204" pitchFamily="49" charset="0"/>
              </a:rPr>
              <a:t>ptr</a:t>
            </a:r>
            <a:r>
              <a:rPr lang="en-US" sz="2800" b="1" dirty="0">
                <a:latin typeface="Consolas" panose="020B0609020204030204" pitchFamily="49" charset="0"/>
              </a:rPr>
              <a:t>)();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B00E6BCA-5B73-425E-F4EF-1A22C8B31D87}"/>
              </a:ext>
            </a:extLst>
          </p:cNvPr>
          <p:cNvSpPr/>
          <p:nvPr/>
        </p:nvSpPr>
        <p:spPr>
          <a:xfrm rot="16200000">
            <a:off x="6253908" y="2908380"/>
            <a:ext cx="147480" cy="1188720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80D04-B375-9099-41B0-48BEE2A61ADF}"/>
              </a:ext>
            </a:extLst>
          </p:cNvPr>
          <p:cNvSpPr txBox="1"/>
          <p:nvPr/>
        </p:nvSpPr>
        <p:spPr>
          <a:xfrm>
            <a:off x="5440680" y="3704659"/>
            <a:ext cx="1856232" cy="369332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  <a:prstDash val="sysDot"/>
          </a:ln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A Pointer</a:t>
            </a: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61CB3D3D-2971-C8FC-810D-64CF87CA3789}"/>
              </a:ext>
            </a:extLst>
          </p:cNvPr>
          <p:cNvCxnSpPr/>
          <p:nvPr/>
        </p:nvCxnSpPr>
        <p:spPr>
          <a:xfrm rot="10800000" flipV="1">
            <a:off x="3630168" y="3154679"/>
            <a:ext cx="923544" cy="811085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35A2E4F7-449D-63BD-2544-734962312556}"/>
              </a:ext>
            </a:extLst>
          </p:cNvPr>
          <p:cNvCxnSpPr>
            <a:cxnSpLocks/>
          </p:cNvCxnSpPr>
          <p:nvPr/>
        </p:nvCxnSpPr>
        <p:spPr>
          <a:xfrm>
            <a:off x="7141464" y="3153341"/>
            <a:ext cx="1600200" cy="1048829"/>
          </a:xfrm>
          <a:prstGeom prst="curved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2CA1B63-4FA9-E12A-D4A7-0EE61D5499B8}"/>
              </a:ext>
            </a:extLst>
          </p:cNvPr>
          <p:cNvSpPr txBox="1"/>
          <p:nvPr/>
        </p:nvSpPr>
        <p:spPr>
          <a:xfrm>
            <a:off x="1773935" y="3781099"/>
            <a:ext cx="1856232" cy="369332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  <a:prstDash val="sysDot"/>
          </a:ln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Return type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B454D9-FD26-F35C-1F59-74B6ED781C96}"/>
              </a:ext>
            </a:extLst>
          </p:cNvPr>
          <p:cNvSpPr txBox="1"/>
          <p:nvPr/>
        </p:nvSpPr>
        <p:spPr>
          <a:xfrm>
            <a:off x="8741664" y="4073991"/>
            <a:ext cx="1856232" cy="369332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  <a:prstDash val="sysDot"/>
          </a:ln>
        </p:spPr>
        <p:txBody>
          <a:bodyPr wrap="square" rtlCol="0" anchor="ctr" anchorCtr="1">
            <a:sp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Argument List </a:t>
            </a:r>
          </a:p>
        </p:txBody>
      </p:sp>
    </p:spTree>
    <p:extLst>
      <p:ext uri="{BB962C8B-B14F-4D97-AF65-F5344CB8AC3E}">
        <p14:creationId xmlns:p14="http://schemas.microsoft.com/office/powerpoint/2010/main" val="1300837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11E7A-FE8F-0A93-4583-82ADF177A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Pointers – How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91A22-7E86-5D13-6188-26A522007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Let’s say we have these three functions:</a:t>
            </a:r>
          </a:p>
          <a:p>
            <a:pPr marL="45720" indent="0">
              <a:buNone/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b="1" dirty="0">
                <a:latin typeface="Consolas" panose="020B0609020204030204" pitchFamily="49" charset="0"/>
              </a:rPr>
              <a:t>void </a:t>
            </a:r>
            <a:r>
              <a:rPr lang="en-US" b="1" dirty="0" err="1">
                <a:latin typeface="Consolas" panose="020B0609020204030204" pitchFamily="49" charset="0"/>
              </a:rPr>
              <a:t>myFunction</a:t>
            </a:r>
            <a:r>
              <a:rPr lang="en-US" b="1" dirty="0">
                <a:latin typeface="Consolas" panose="020B0609020204030204" pitchFamily="49" charset="0"/>
              </a:rPr>
              <a:t>() {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	</a:t>
            </a:r>
            <a:r>
              <a:rPr lang="en-US" b="1" dirty="0" err="1">
                <a:latin typeface="Consolas" panose="020B0609020204030204" pitchFamily="49" charset="0"/>
              </a:rPr>
              <a:t>printf</a:t>
            </a:r>
            <a:r>
              <a:rPr lang="en-US" b="1" dirty="0">
                <a:latin typeface="Consolas" panose="020B0609020204030204" pitchFamily="49" charset="0"/>
              </a:rPr>
              <a:t>("This is My Function\n");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}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char* </a:t>
            </a:r>
            <a:r>
              <a:rPr lang="en-US" b="1" dirty="0" err="1">
                <a:latin typeface="Consolas" panose="020B0609020204030204" pitchFamily="49" charset="0"/>
              </a:rPr>
              <a:t>getUniName</a:t>
            </a:r>
            <a:r>
              <a:rPr lang="en-US" b="1" dirty="0">
                <a:latin typeface="Consolas" panose="020B0609020204030204" pitchFamily="49" charset="0"/>
              </a:rPr>
              <a:t>(){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	return "FAST-NUCES";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}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int </a:t>
            </a:r>
            <a:r>
              <a:rPr lang="en-US" b="1" dirty="0" err="1">
                <a:latin typeface="Consolas" panose="020B0609020204030204" pitchFamily="49" charset="0"/>
              </a:rPr>
              <a:t>calculateSum</a:t>
            </a:r>
            <a:r>
              <a:rPr lang="en-US" b="1" dirty="0">
                <a:latin typeface="Consolas" panose="020B0609020204030204" pitchFamily="49" charset="0"/>
              </a:rPr>
              <a:t> (int a, int b) {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	return </a:t>
            </a:r>
            <a:r>
              <a:rPr lang="en-US" b="1" dirty="0" err="1">
                <a:latin typeface="Consolas" panose="020B0609020204030204" pitchFamily="49" charset="0"/>
              </a:rPr>
              <a:t>a+b</a:t>
            </a:r>
            <a:r>
              <a:rPr lang="en-US" b="1" dirty="0">
                <a:latin typeface="Consolas" panose="020B06090202040302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47007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E928E-96F2-BF94-796C-F36FE032C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Pointers – How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29888-CD37-9E93-D0B8-79F424A84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Note that the signature should match the signature of the function that you want to make the function pointer for.</a:t>
            </a:r>
            <a:endParaRPr lang="en-US" b="1" dirty="0">
              <a:latin typeface="Consolas" panose="020B0609020204030204" pitchFamily="49" charset="0"/>
            </a:endParaRPr>
          </a:p>
          <a:p>
            <a:pPr marL="45720" indent="0">
              <a:buNone/>
            </a:pPr>
            <a:endParaRPr lang="en-US" b="1" dirty="0"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void (*ptr1)();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// the function pointer for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myFunction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ptr1 = &amp;</a:t>
            </a:r>
            <a:r>
              <a:rPr lang="en-US" b="1" dirty="0" err="1">
                <a:latin typeface="Consolas" panose="020B0609020204030204" pitchFamily="49" charset="0"/>
              </a:rPr>
              <a:t>myFunction</a:t>
            </a:r>
            <a:r>
              <a:rPr lang="en-US" b="1" dirty="0">
                <a:latin typeface="Consolas" panose="020B06090202040302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(*ptr1)();</a:t>
            </a:r>
          </a:p>
        </p:txBody>
      </p:sp>
    </p:spTree>
    <p:extLst>
      <p:ext uri="{BB962C8B-B14F-4D97-AF65-F5344CB8AC3E}">
        <p14:creationId xmlns:p14="http://schemas.microsoft.com/office/powerpoint/2010/main" val="3644193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255AA-4C0E-C7C4-2AFB-2F8CCB451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Pointers – How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090F7-9411-7359-EF68-EFC41EFE0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r>
              <a:rPr lang="en-US" dirty="0"/>
              <a:t>	</a:t>
            </a:r>
            <a:r>
              <a:rPr lang="en-US" b="1" dirty="0">
                <a:latin typeface="Consolas" panose="020B0609020204030204" pitchFamily="49" charset="0"/>
              </a:rPr>
              <a:t>char* (*ptr2)();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// the function pointer for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getUniName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ptr2 = &amp;</a:t>
            </a:r>
            <a:r>
              <a:rPr lang="en-US" b="1" dirty="0" err="1">
                <a:latin typeface="Consolas" panose="020B0609020204030204" pitchFamily="49" charset="0"/>
              </a:rPr>
              <a:t>getUniName</a:t>
            </a:r>
            <a:r>
              <a:rPr lang="en-US" b="1" dirty="0">
                <a:latin typeface="Consolas" panose="020B06090202040302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</a:t>
            </a:r>
            <a:r>
              <a:rPr lang="en-US" b="1" dirty="0" err="1">
                <a:latin typeface="Consolas" panose="020B0609020204030204" pitchFamily="49" charset="0"/>
              </a:rPr>
              <a:t>printf</a:t>
            </a:r>
            <a:r>
              <a:rPr lang="en-US" b="1" dirty="0">
                <a:latin typeface="Consolas" panose="020B0609020204030204" pitchFamily="49" charset="0"/>
              </a:rPr>
              <a:t>("%s\n",(*ptr2)());</a:t>
            </a:r>
          </a:p>
        </p:txBody>
      </p:sp>
    </p:spTree>
    <p:extLst>
      <p:ext uri="{BB962C8B-B14F-4D97-AF65-F5344CB8AC3E}">
        <p14:creationId xmlns:p14="http://schemas.microsoft.com/office/powerpoint/2010/main" val="3296454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36859-4408-C623-EC05-F84363835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Pointers – How to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240AA-07F3-AA5F-FA8D-46CC415B1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r>
              <a:rPr lang="en-US" dirty="0"/>
              <a:t>	</a:t>
            </a:r>
            <a:r>
              <a:rPr lang="en-US" b="1" dirty="0">
                <a:latin typeface="Consolas" panose="020B0609020204030204" pitchFamily="49" charset="0"/>
              </a:rPr>
              <a:t>int (*ptr3)(</a:t>
            </a:r>
            <a:r>
              <a:rPr lang="en-US" b="1" dirty="0" err="1">
                <a:latin typeface="Consolas" panose="020B0609020204030204" pitchFamily="49" charset="0"/>
              </a:rPr>
              <a:t>int,int</a:t>
            </a:r>
            <a:r>
              <a:rPr lang="en-US" b="1" dirty="0">
                <a:latin typeface="Consolas" panose="020B0609020204030204" pitchFamily="49" charset="0"/>
              </a:rPr>
              <a:t>); 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en-US" sz="1800" b="1" dirty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the function pointer for </a:t>
            </a:r>
            <a:r>
              <a:rPr lang="en-US" sz="1800" b="1" dirty="0" err="1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calculateSum</a:t>
            </a:r>
            <a:endParaRPr lang="en-US" b="1" dirty="0">
              <a:solidFill>
                <a:schemeClr val="accent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ptr3 = &amp;</a:t>
            </a:r>
            <a:r>
              <a:rPr lang="en-US" b="1" dirty="0" err="1">
                <a:latin typeface="Consolas" panose="020B0609020204030204" pitchFamily="49" charset="0"/>
              </a:rPr>
              <a:t>calculateSum</a:t>
            </a:r>
            <a:r>
              <a:rPr lang="en-US" b="1" dirty="0">
                <a:latin typeface="Consolas" panose="020B0609020204030204" pitchFamily="49" charset="0"/>
              </a:rPr>
              <a:t>; 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</a:t>
            </a:r>
            <a:r>
              <a:rPr lang="en-US" b="1" dirty="0" err="1">
                <a:latin typeface="Consolas" panose="020B0609020204030204" pitchFamily="49" charset="0"/>
              </a:rPr>
              <a:t>printf</a:t>
            </a:r>
            <a:r>
              <a:rPr lang="en-US" b="1" dirty="0">
                <a:latin typeface="Consolas" panose="020B0609020204030204" pitchFamily="49" charset="0"/>
              </a:rPr>
              <a:t>("Sum is: %d\n", ptr3(3,4));</a:t>
            </a:r>
          </a:p>
        </p:txBody>
      </p:sp>
    </p:spTree>
    <p:extLst>
      <p:ext uri="{BB962C8B-B14F-4D97-AF65-F5344CB8AC3E}">
        <p14:creationId xmlns:p14="http://schemas.microsoft.com/office/powerpoint/2010/main" val="625111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EDDB9-8C4C-5515-47EE-221BD6908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Callback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B3D2D-C78D-5F5E-BE95-9D107A46C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901952"/>
            <a:ext cx="9509760" cy="4488688"/>
          </a:xfrm>
        </p:spPr>
        <p:txBody>
          <a:bodyPr>
            <a:normAutofit fontScale="92500" lnSpcReduction="10000"/>
          </a:bodyPr>
          <a:lstStyle/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 </a:t>
            </a:r>
            <a:r>
              <a:rPr lang="en-US" b="1" dirty="0" err="1">
                <a:latin typeface="Consolas" panose="020B0609020204030204" pitchFamily="49" charset="0"/>
              </a:rPr>
              <a:t>calculateSum</a:t>
            </a:r>
            <a:r>
              <a:rPr lang="en-US" b="1" dirty="0">
                <a:latin typeface="Consolas" panose="020B0609020204030204" pitchFamily="49" charset="0"/>
              </a:rPr>
              <a:t> (int a, int b) {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return </a:t>
            </a:r>
            <a:r>
              <a:rPr lang="en-US" b="1" dirty="0" err="1">
                <a:latin typeface="Consolas" panose="020B0609020204030204" pitchFamily="49" charset="0"/>
              </a:rPr>
              <a:t>a+b</a:t>
            </a:r>
            <a:r>
              <a:rPr lang="en-US" b="1" dirty="0">
                <a:latin typeface="Consolas" panose="020B06090202040302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}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int </a:t>
            </a:r>
            <a:r>
              <a:rPr lang="en-US" b="1" dirty="0" err="1">
                <a:latin typeface="Consolas" panose="020B0609020204030204" pitchFamily="49" charset="0"/>
              </a:rPr>
              <a:t>calculateDifference</a:t>
            </a:r>
            <a:r>
              <a:rPr lang="en-US" b="1" dirty="0">
                <a:latin typeface="Consolas" panose="020B0609020204030204" pitchFamily="49" charset="0"/>
              </a:rPr>
              <a:t> (int a, int b) {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return a-b;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}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void </a:t>
            </a:r>
            <a:r>
              <a:rPr lang="en-US" b="1" dirty="0" err="1">
                <a:latin typeface="Consolas" panose="020B0609020204030204" pitchFamily="49" charset="0"/>
              </a:rPr>
              <a:t>performOperation</a:t>
            </a:r>
            <a:r>
              <a:rPr lang="en-US" b="1" dirty="0">
                <a:latin typeface="Consolas" panose="020B0609020204030204" pitchFamily="49" charset="0"/>
              </a:rPr>
              <a:t> (int a, int b, int (*operation)(</a:t>
            </a:r>
            <a:r>
              <a:rPr lang="en-US" b="1" dirty="0" err="1">
                <a:latin typeface="Consolas" panose="020B0609020204030204" pitchFamily="49" charset="0"/>
              </a:rPr>
              <a:t>int,int</a:t>
            </a:r>
            <a:r>
              <a:rPr lang="en-US" b="1" dirty="0">
                <a:latin typeface="Consolas" panose="020B0609020204030204" pitchFamily="49" charset="0"/>
              </a:rPr>
              <a:t>)) {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	int result = operation(a, b);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    </a:t>
            </a:r>
            <a:r>
              <a:rPr lang="en-US" b="1" dirty="0" err="1">
                <a:latin typeface="Consolas" panose="020B0609020204030204" pitchFamily="49" charset="0"/>
              </a:rPr>
              <a:t>printf</a:t>
            </a:r>
            <a:r>
              <a:rPr lang="en-US" b="1" dirty="0">
                <a:latin typeface="Consolas" panose="020B0609020204030204" pitchFamily="49" charset="0"/>
              </a:rPr>
              <a:t>("Result: %d\n", result);</a:t>
            </a:r>
          </a:p>
          <a:p>
            <a:pPr marL="45720" indent="0">
              <a:buNone/>
            </a:pPr>
            <a:r>
              <a:rPr lang="en-US" b="1" dirty="0">
                <a:latin typeface="Consolas" panose="020B0609020204030204" pitchFamily="49" charset="0"/>
              </a:rPr>
              <a:t>}</a:t>
            </a:r>
          </a:p>
          <a:p>
            <a:pPr marL="45720" indent="0">
              <a:buNone/>
            </a:pP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B916D8-97D3-FB39-85FB-A9FE0B1D70D6}"/>
              </a:ext>
            </a:extLst>
          </p:cNvPr>
          <p:cNvSpPr txBox="1"/>
          <p:nvPr/>
        </p:nvSpPr>
        <p:spPr>
          <a:xfrm>
            <a:off x="6583680" y="1901952"/>
            <a:ext cx="5431536" cy="1200329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  <a:prstDash val="sysDot"/>
          </a:ln>
        </p:spPr>
        <p:txBody>
          <a:bodyPr wrap="square" rtlCol="0" anchor="ctr" anchorCtr="1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Function call from main:</a:t>
            </a:r>
          </a:p>
          <a:p>
            <a:endParaRPr lang="en-US" b="1" dirty="0">
              <a:solidFill>
                <a:schemeClr val="tx2"/>
              </a:solidFill>
            </a:endParaRPr>
          </a:p>
          <a:p>
            <a:r>
              <a:rPr lang="en-US" b="1">
                <a:solidFill>
                  <a:schemeClr val="tx2"/>
                </a:solidFill>
              </a:rPr>
              <a:t>performOperation</a:t>
            </a:r>
            <a:r>
              <a:rPr lang="en-US" b="1" dirty="0">
                <a:solidFill>
                  <a:schemeClr val="tx2"/>
                </a:solidFill>
              </a:rPr>
              <a:t>(5, 3, </a:t>
            </a:r>
            <a:r>
              <a:rPr lang="en-US" b="1" dirty="0" err="1">
                <a:solidFill>
                  <a:schemeClr val="tx2"/>
                </a:solidFill>
              </a:rPr>
              <a:t>calculateSum</a:t>
            </a:r>
            <a:r>
              <a:rPr lang="en-US" b="1" dirty="0">
                <a:solidFill>
                  <a:schemeClr val="tx2"/>
                </a:solidFill>
              </a:rPr>
              <a:t>);</a:t>
            </a:r>
          </a:p>
          <a:p>
            <a:r>
              <a:rPr lang="en-US" b="1" dirty="0" err="1">
                <a:solidFill>
                  <a:schemeClr val="tx2"/>
                </a:solidFill>
              </a:rPr>
              <a:t>performOperation</a:t>
            </a:r>
            <a:r>
              <a:rPr lang="en-US" b="1" dirty="0">
                <a:solidFill>
                  <a:schemeClr val="tx2"/>
                </a:solidFill>
              </a:rPr>
              <a:t>(5, 3, </a:t>
            </a:r>
            <a:r>
              <a:rPr lang="en-US" b="1" dirty="0" err="1">
                <a:solidFill>
                  <a:schemeClr val="tx2"/>
                </a:solidFill>
              </a:rPr>
              <a:t>calculateDifference</a:t>
            </a:r>
            <a:r>
              <a:rPr lang="en-US" b="1" dirty="0">
                <a:solidFill>
                  <a:schemeClr val="tx2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931966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735C5-7579-3AA8-BBED-69F9C2F9D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use Function Pointers?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29F30-3837-24C6-94AF-AAFE0D3D6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may not use these right now, but they will become very relevant later, when you learn about callback functions.</a:t>
            </a:r>
          </a:p>
          <a:p>
            <a:r>
              <a:rPr lang="en-US" dirty="0"/>
              <a:t>Callback functions (a function passed as an argument) are used for:</a:t>
            </a:r>
          </a:p>
          <a:p>
            <a:pPr lvl="1"/>
            <a:r>
              <a:rPr lang="en-US" b="1" dirty="0"/>
              <a:t>Asynchronous Operations</a:t>
            </a:r>
            <a:r>
              <a:rPr lang="en-US" dirty="0"/>
              <a:t> – In web applications, when fetching data from web APIs. The callback function is only called when the data is allocated successfully.</a:t>
            </a:r>
          </a:p>
          <a:p>
            <a:pPr lvl="1"/>
            <a:r>
              <a:rPr lang="en-US" b="1" dirty="0"/>
              <a:t>Event handling </a:t>
            </a:r>
            <a:r>
              <a:rPr lang="en-US" dirty="0"/>
              <a:t>– When you click a button, the function associated with that click is a callback. The browser "calls back" your function when the specific event (the click) occurs.</a:t>
            </a:r>
          </a:p>
          <a:p>
            <a:pPr lvl="1"/>
            <a:r>
              <a:rPr lang="en-US" b="1" dirty="0"/>
              <a:t>Data processing:</a:t>
            </a:r>
            <a:r>
              <a:rPr lang="en-US" dirty="0"/>
              <a:t> A function might take an array of data and a callback function to perform a specific operation on each item in the array, such as calculating a sum or transforming each element.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3D2DFD5-E61A-573F-B578-60DB5BAD0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1F1F1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Event handling: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rgbClr val="E6E8F0"/>
                </a:solidFill>
                <a:effectLst/>
                <a:latin typeface="Google Sans"/>
              </a:rPr>
              <a:t> When you click a button, the function associated with that click is a callback. The browser "calls back" your function when the specific event (the click) occurs.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99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5CD05-BCF8-D687-5A67-0C21DF2D4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Pointers – Other 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A4A61-098A-9F5B-091B-68D70F6FF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Dynamically choosing which function to call. OR, updating the function pointer to point to a different function, when specific criteria are met.</a:t>
            </a:r>
          </a:p>
          <a:p>
            <a:r>
              <a:rPr lang="en-US" dirty="0"/>
              <a:t>Can make use of function pointers to make customizable algorithms.</a:t>
            </a:r>
          </a:p>
          <a:p>
            <a:r>
              <a:rPr lang="en-US" dirty="0"/>
              <a:t>Can place a function pointer inside a struct, making your struct be able to call functions by using the pointer.</a:t>
            </a:r>
          </a:p>
        </p:txBody>
      </p:sp>
    </p:spTree>
    <p:extLst>
      <p:ext uri="{BB962C8B-B14F-4D97-AF65-F5344CB8AC3E}">
        <p14:creationId xmlns:p14="http://schemas.microsoft.com/office/powerpoint/2010/main" val="1512312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29741-FCB8-9F39-0B95-708BC982F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Fin.</a:t>
            </a:r>
          </a:p>
        </p:txBody>
      </p:sp>
    </p:spTree>
    <p:extLst>
      <p:ext uri="{BB962C8B-B14F-4D97-AF65-F5344CB8AC3E}">
        <p14:creationId xmlns:p14="http://schemas.microsoft.com/office/powerpoint/2010/main" val="1124819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ubbles design templat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alpha val="80000"/>
              </a:schemeClr>
            </a:gs>
            <a:gs pos="0">
              <a:schemeClr val="phClr">
                <a:lumMod val="40000"/>
                <a:lumOff val="60000"/>
                <a:alpha val="80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lumMod val="20000"/>
                <a:lumOff val="80000"/>
                <a:alpha val="59000"/>
              </a:schemeClr>
            </a:gs>
            <a:gs pos="40000">
              <a:schemeClr val="phClr">
                <a:lumMod val="20000"/>
                <a:lumOff val="80000"/>
                <a:alpha val="66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ubbles design slides.potx" id="{791C1007-8C16-4095-A382-97B1C9AA36B9}" vid="{20473F13-1D64-4A4A-9CE1-7C3468AE82BE}"/>
    </a:ext>
  </a:extLst>
</a:theme>
</file>

<file path=ppt/theme/theme2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Bubbles design slides</Template>
  <TotalTime>1344</TotalTime>
  <Words>2655</Words>
  <Application>Microsoft Office PowerPoint</Application>
  <PresentationFormat>Widescreen</PresentationFormat>
  <Paragraphs>300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Century Gothic</vt:lpstr>
      <vt:lpstr>Consolas</vt:lpstr>
      <vt:lpstr>Courier New</vt:lpstr>
      <vt:lpstr>Google Sans</vt:lpstr>
      <vt:lpstr>Bubbles design template</vt:lpstr>
      <vt:lpstr>Programming Fundamentals</vt:lpstr>
      <vt:lpstr>Structures in C</vt:lpstr>
      <vt:lpstr>The ‘struct’ Keyword</vt:lpstr>
      <vt:lpstr>Example – Course Struct</vt:lpstr>
      <vt:lpstr>How to Use this Struct?</vt:lpstr>
      <vt:lpstr>The ‘typedef’ Keyword</vt:lpstr>
      <vt:lpstr>Accessing Data Members of Struct</vt:lpstr>
      <vt:lpstr>Accessing Data Members of Struct</vt:lpstr>
      <vt:lpstr>Arrays of Structs</vt:lpstr>
      <vt:lpstr>Arrays of Structs</vt:lpstr>
      <vt:lpstr>Passing ‘struct’ to Functions</vt:lpstr>
      <vt:lpstr>Passing ‘struct’ Array to Functions</vt:lpstr>
      <vt:lpstr>Struct Pointers</vt:lpstr>
      <vt:lpstr>Pointers to ITC and PF Variables</vt:lpstr>
      <vt:lpstr>Extracting values from Struct Pointers</vt:lpstr>
      <vt:lpstr>The ‘-&gt;’ Operator</vt:lpstr>
      <vt:lpstr>Equivalency between (*ptr).X and ptr-&gt;X</vt:lpstr>
      <vt:lpstr>Dynamically Allocating Structs</vt:lpstr>
      <vt:lpstr>Static &amp; Constant</vt:lpstr>
      <vt:lpstr>Static Variables</vt:lpstr>
      <vt:lpstr>Example of Static Variables</vt:lpstr>
      <vt:lpstr>Constant Variables – the Oxymoron of all Times</vt:lpstr>
      <vt:lpstr>Pointers and Const Keyword</vt:lpstr>
      <vt:lpstr>Non-Constant pointer to Non-Constant Data</vt:lpstr>
      <vt:lpstr>Non-Constant Pointer to Constant Data</vt:lpstr>
      <vt:lpstr>Constant Pointer to Non-Constant Data</vt:lpstr>
      <vt:lpstr>Constant Pointer to Constant Data</vt:lpstr>
      <vt:lpstr>Constant Arguments</vt:lpstr>
      <vt:lpstr>Example – const Arguments</vt:lpstr>
      <vt:lpstr>Function Pointer</vt:lpstr>
      <vt:lpstr>A Function Pointer</vt:lpstr>
      <vt:lpstr>Function Pointers – How to Use</vt:lpstr>
      <vt:lpstr>Function Pointers – How to Use</vt:lpstr>
      <vt:lpstr>Function Pointers – How to Use</vt:lpstr>
      <vt:lpstr>Function Pointers – How to Use</vt:lpstr>
      <vt:lpstr>Callback Function</vt:lpstr>
      <vt:lpstr>Why do we use Function Pointers?</vt:lpstr>
      <vt:lpstr>Function Pointers – Other Uses</vt:lpstr>
      <vt:lpstr>Fin.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Abeeha Sattar</dc:creator>
  <cp:lastModifiedBy>Abeeha Sattar</cp:lastModifiedBy>
  <cp:revision>375</cp:revision>
  <dcterms:created xsi:type="dcterms:W3CDTF">2025-08-15T04:59:41Z</dcterms:created>
  <dcterms:modified xsi:type="dcterms:W3CDTF">2025-12-05T09:58:33Z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74069200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