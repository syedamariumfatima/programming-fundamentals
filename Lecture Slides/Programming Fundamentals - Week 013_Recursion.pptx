
<file path=[Content_Types].xml><?xml version="1.0" encoding="utf-8"?>
<Types xmlns="http://schemas.openxmlformats.org/package/2006/content-types">
  <Default Extension="gif" ContentType="image/gif"/>
  <Default Extension="jpg" ContentType="image/unknown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notesMasterIdLst>
    <p:notesMasterId r:id="rId23"/>
  </p:notesMasterIdLst>
  <p:handoutMasterIdLst>
    <p:handoutMasterId r:id="rId24"/>
  </p:handoutMasterIdLst>
  <p:sldIdLst>
    <p:sldId id="256" r:id="rId2"/>
    <p:sldId id="266" r:id="rId3"/>
    <p:sldId id="267" r:id="rId4"/>
    <p:sldId id="268" r:id="rId5"/>
    <p:sldId id="265" r:id="rId6"/>
    <p:sldId id="269" r:id="rId7"/>
    <p:sldId id="270" r:id="rId8"/>
    <p:sldId id="263" r:id="rId9"/>
    <p:sldId id="271" r:id="rId10"/>
    <p:sldId id="272" r:id="rId11"/>
    <p:sldId id="273" r:id="rId12"/>
    <p:sldId id="274" r:id="rId13"/>
    <p:sldId id="275" r:id="rId14"/>
    <p:sldId id="277" r:id="rId15"/>
    <p:sldId id="276" r:id="rId16"/>
    <p:sldId id="278" r:id="rId17"/>
    <p:sldId id="279" r:id="rId18"/>
    <p:sldId id="280" r:id="rId19"/>
    <p:sldId id="281" r:id="rId20"/>
    <p:sldId id="282" r:id="rId21"/>
    <p:sldId id="264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612" y="10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76" d="100"/>
          <a:sy n="76" d="100"/>
        </p:scale>
        <p:origin x="1680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D2DDA-69D8-473F-A583-B6774B31A77B}" type="datetimeFigureOut">
              <a:rPr lang="en-US"/>
              <a:t>11/13/2025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392CCB-FF08-4D29-8DA3-E1FD86044808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6215331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1F6DFB-6833-46E4-B515-70E0D9178056}" type="datetimeFigureOut">
              <a:rPr lang="en-US"/>
              <a:t>11/13/2025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8706C7-F2C3-48B6-8A22-C484D800B5D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95068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-2" y="295863"/>
            <a:ext cx="12188827" cy="6323264"/>
            <a:chOff x="-2" y="295863"/>
            <a:chExt cx="12188827" cy="6323264"/>
          </a:xfrm>
        </p:grpSpPr>
        <p:sp>
          <p:nvSpPr>
            <p:cNvPr id="33" name="Rectangle 32"/>
            <p:cNvSpPr/>
            <p:nvPr/>
          </p:nvSpPr>
          <p:spPr>
            <a:xfrm>
              <a:off x="-1" y="1905000"/>
              <a:ext cx="12188826" cy="3200400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50000"/>
                  </a:schemeClr>
                </a:gs>
                <a:gs pos="0">
                  <a:schemeClr val="accent1">
                    <a:lumMod val="60000"/>
                    <a:lumOff val="40000"/>
                    <a:alpha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-2" y="1795132"/>
              <a:ext cx="12188826" cy="73152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80000"/>
                  </a:schemeClr>
                </a:gs>
                <a:gs pos="0">
                  <a:schemeClr val="accent1">
                    <a:lumMod val="60000"/>
                    <a:lumOff val="40000"/>
                    <a:alpha val="8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-2" y="5142116"/>
              <a:ext cx="12188826" cy="73152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80000"/>
                  </a:schemeClr>
                </a:gs>
                <a:gs pos="0">
                  <a:schemeClr val="accent1">
                    <a:lumMod val="60000"/>
                    <a:lumOff val="40000"/>
                    <a:alpha val="8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36" name="Oval 2"/>
            <p:cNvSpPr>
              <a:spLocks noChangeArrowheads="1"/>
            </p:cNvSpPr>
            <p:nvPr/>
          </p:nvSpPr>
          <p:spPr bwMode="grayWhite">
            <a:xfrm>
              <a:off x="534293" y="5791419"/>
              <a:ext cx="716336" cy="739723"/>
            </a:xfrm>
            <a:prstGeom prst="ellipse">
              <a:avLst/>
            </a:prstGeom>
            <a:noFill/>
            <a:ln w="12700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" name="Oval 3"/>
            <p:cNvSpPr>
              <a:spLocks noChangeArrowheads="1"/>
            </p:cNvSpPr>
            <p:nvPr/>
          </p:nvSpPr>
          <p:spPr bwMode="grayWhite">
            <a:xfrm>
              <a:off x="696482" y="5958903"/>
              <a:ext cx="106437" cy="109912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" name="Oval 5"/>
            <p:cNvSpPr>
              <a:spLocks noChangeArrowheads="1"/>
            </p:cNvSpPr>
            <p:nvPr/>
          </p:nvSpPr>
          <p:spPr bwMode="grayWhite">
            <a:xfrm>
              <a:off x="213400" y="5778215"/>
              <a:ext cx="310863" cy="321012"/>
            </a:xfrm>
            <a:prstGeom prst="ellipse">
              <a:avLst/>
            </a:prstGeom>
            <a:noFill/>
            <a:ln w="12700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" name="Oval 6"/>
            <p:cNvSpPr>
              <a:spLocks noChangeArrowheads="1"/>
            </p:cNvSpPr>
            <p:nvPr/>
          </p:nvSpPr>
          <p:spPr bwMode="grayWhite">
            <a:xfrm>
              <a:off x="284358" y="5851489"/>
              <a:ext cx="40547" cy="41871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" name="Oval 8"/>
            <p:cNvSpPr>
              <a:spLocks noChangeArrowheads="1"/>
            </p:cNvSpPr>
            <p:nvPr/>
          </p:nvSpPr>
          <p:spPr bwMode="grayWhite">
            <a:xfrm>
              <a:off x="10486137" y="5404864"/>
              <a:ext cx="473052" cy="488496"/>
            </a:xfrm>
            <a:prstGeom prst="ellipse">
              <a:avLst/>
            </a:prstGeom>
            <a:noFill/>
            <a:ln w="12700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" name="Oval 9"/>
            <p:cNvSpPr>
              <a:spLocks noChangeArrowheads="1"/>
            </p:cNvSpPr>
            <p:nvPr/>
          </p:nvSpPr>
          <p:spPr bwMode="grayWhite">
            <a:xfrm>
              <a:off x="10594263" y="5516520"/>
              <a:ext cx="65889" cy="68041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" name="Oval 11"/>
            <p:cNvSpPr>
              <a:spLocks noChangeArrowheads="1"/>
            </p:cNvSpPr>
            <p:nvPr/>
          </p:nvSpPr>
          <p:spPr bwMode="grayWhite">
            <a:xfrm>
              <a:off x="6575012" y="6214373"/>
              <a:ext cx="391957" cy="404754"/>
            </a:xfrm>
            <a:prstGeom prst="ellipse">
              <a:avLst/>
            </a:prstGeom>
            <a:noFill/>
            <a:ln w="12700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" name="Oval 12"/>
            <p:cNvSpPr>
              <a:spLocks noChangeArrowheads="1"/>
            </p:cNvSpPr>
            <p:nvPr/>
          </p:nvSpPr>
          <p:spPr bwMode="grayWhite">
            <a:xfrm>
              <a:off x="6664554" y="6306838"/>
              <a:ext cx="54063" cy="5582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4" name="Oval 14"/>
            <p:cNvSpPr>
              <a:spLocks noChangeArrowheads="1"/>
            </p:cNvSpPr>
            <p:nvPr/>
          </p:nvSpPr>
          <p:spPr bwMode="grayWhite">
            <a:xfrm>
              <a:off x="3520863" y="5733822"/>
              <a:ext cx="391957" cy="404754"/>
            </a:xfrm>
            <a:prstGeom prst="ellipse">
              <a:avLst/>
            </a:prstGeom>
            <a:noFill/>
            <a:ln w="12700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5" name="Oval 15"/>
            <p:cNvSpPr>
              <a:spLocks noChangeArrowheads="1"/>
            </p:cNvSpPr>
            <p:nvPr/>
          </p:nvSpPr>
          <p:spPr bwMode="grayWhite">
            <a:xfrm>
              <a:off x="3610405" y="5826287"/>
              <a:ext cx="54063" cy="5582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" name="Oval 17"/>
            <p:cNvSpPr>
              <a:spLocks noChangeArrowheads="1"/>
            </p:cNvSpPr>
            <p:nvPr/>
          </p:nvSpPr>
          <p:spPr bwMode="grayWhite">
            <a:xfrm>
              <a:off x="5845161" y="295863"/>
              <a:ext cx="716336" cy="739723"/>
            </a:xfrm>
            <a:prstGeom prst="ellipse">
              <a:avLst/>
            </a:prstGeom>
            <a:noFill/>
            <a:ln w="12700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7" name="Oval 18"/>
            <p:cNvSpPr>
              <a:spLocks noChangeArrowheads="1"/>
            </p:cNvSpPr>
            <p:nvPr/>
          </p:nvSpPr>
          <p:spPr bwMode="grayWhite">
            <a:xfrm>
              <a:off x="6007350" y="463347"/>
              <a:ext cx="106437" cy="109912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" name="Oval 20"/>
            <p:cNvSpPr>
              <a:spLocks noChangeArrowheads="1"/>
            </p:cNvSpPr>
            <p:nvPr/>
          </p:nvSpPr>
          <p:spPr bwMode="grayWhite">
            <a:xfrm>
              <a:off x="5439688" y="630832"/>
              <a:ext cx="391957" cy="404754"/>
            </a:xfrm>
            <a:prstGeom prst="ellipse">
              <a:avLst/>
            </a:prstGeom>
            <a:noFill/>
            <a:ln w="12700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" name="Oval 21"/>
            <p:cNvSpPr>
              <a:spLocks noChangeArrowheads="1"/>
            </p:cNvSpPr>
            <p:nvPr/>
          </p:nvSpPr>
          <p:spPr bwMode="grayWhite">
            <a:xfrm>
              <a:off x="5529230" y="723297"/>
              <a:ext cx="54063" cy="5582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" name="Oval 23"/>
            <p:cNvSpPr>
              <a:spLocks noChangeArrowheads="1"/>
            </p:cNvSpPr>
            <p:nvPr/>
          </p:nvSpPr>
          <p:spPr bwMode="grayWhite">
            <a:xfrm>
              <a:off x="6575012" y="295863"/>
              <a:ext cx="391957" cy="404754"/>
            </a:xfrm>
            <a:prstGeom prst="ellipse">
              <a:avLst/>
            </a:prstGeom>
            <a:noFill/>
            <a:ln w="12700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" name="Oval 24"/>
            <p:cNvSpPr>
              <a:spLocks noChangeArrowheads="1"/>
            </p:cNvSpPr>
            <p:nvPr/>
          </p:nvSpPr>
          <p:spPr bwMode="grayWhite">
            <a:xfrm>
              <a:off x="6664554" y="388328"/>
              <a:ext cx="54063" cy="5582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" name="Oval 26"/>
            <p:cNvSpPr>
              <a:spLocks noChangeArrowheads="1"/>
            </p:cNvSpPr>
            <p:nvPr/>
          </p:nvSpPr>
          <p:spPr bwMode="grayWhite">
            <a:xfrm>
              <a:off x="11218217" y="589639"/>
              <a:ext cx="554146" cy="572239"/>
            </a:xfrm>
            <a:prstGeom prst="ellipse">
              <a:avLst/>
            </a:prstGeom>
            <a:noFill/>
            <a:ln w="12700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" name="Oval 27"/>
            <p:cNvSpPr>
              <a:spLocks noChangeArrowheads="1"/>
            </p:cNvSpPr>
            <p:nvPr/>
          </p:nvSpPr>
          <p:spPr bwMode="grayWhite">
            <a:xfrm>
              <a:off x="11344927" y="720486"/>
              <a:ext cx="79405" cy="8199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" name="Oval 29"/>
            <p:cNvSpPr>
              <a:spLocks noChangeArrowheads="1"/>
            </p:cNvSpPr>
            <p:nvPr/>
          </p:nvSpPr>
          <p:spPr bwMode="grayWhite">
            <a:xfrm>
              <a:off x="11312827" y="1372978"/>
              <a:ext cx="229768" cy="237270"/>
            </a:xfrm>
            <a:prstGeom prst="ellipse">
              <a:avLst/>
            </a:prstGeom>
            <a:noFill/>
            <a:ln w="12700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" name="Oval 30"/>
            <p:cNvSpPr>
              <a:spLocks noChangeArrowheads="1"/>
            </p:cNvSpPr>
            <p:nvPr/>
          </p:nvSpPr>
          <p:spPr bwMode="grayWhite">
            <a:xfrm>
              <a:off x="11366890" y="1428806"/>
              <a:ext cx="27032" cy="27914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6" name="Oval 32"/>
            <p:cNvSpPr>
              <a:spLocks noChangeArrowheads="1"/>
            </p:cNvSpPr>
            <p:nvPr/>
          </p:nvSpPr>
          <p:spPr bwMode="grayWhite">
            <a:xfrm>
              <a:off x="1303864" y="669938"/>
              <a:ext cx="554146" cy="572239"/>
            </a:xfrm>
            <a:prstGeom prst="ellipse">
              <a:avLst/>
            </a:prstGeom>
            <a:noFill/>
            <a:ln w="12700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" name="Oval 33"/>
            <p:cNvSpPr>
              <a:spLocks noChangeArrowheads="1"/>
            </p:cNvSpPr>
            <p:nvPr/>
          </p:nvSpPr>
          <p:spPr bwMode="grayWhite">
            <a:xfrm>
              <a:off x="1428885" y="799041"/>
              <a:ext cx="81095" cy="83742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8" name="Oval 35"/>
            <p:cNvSpPr>
              <a:spLocks noChangeArrowheads="1"/>
            </p:cNvSpPr>
            <p:nvPr/>
          </p:nvSpPr>
          <p:spPr bwMode="grayWhite">
            <a:xfrm>
              <a:off x="1871526" y="837422"/>
              <a:ext cx="391957" cy="404754"/>
            </a:xfrm>
            <a:prstGeom prst="ellipse">
              <a:avLst/>
            </a:prstGeom>
            <a:noFill/>
            <a:ln w="12700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" name="Oval 36"/>
            <p:cNvSpPr>
              <a:spLocks noChangeArrowheads="1"/>
            </p:cNvSpPr>
            <p:nvPr/>
          </p:nvSpPr>
          <p:spPr bwMode="grayWhite">
            <a:xfrm>
              <a:off x="1961068" y="929887"/>
              <a:ext cx="54063" cy="5582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5400" y="2079812"/>
            <a:ext cx="9601200" cy="1724092"/>
          </a:xfrm>
        </p:spPr>
        <p:txBody>
          <a:bodyPr anchor="b"/>
          <a:lstStyle>
            <a:lvl1pPr algn="ctr"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5400" y="3959352"/>
            <a:ext cx="9601200" cy="914400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223D7-2A27-4B34-A31C-02090805ABAC}" type="datetime1">
              <a:rPr lang="en-US" smtClean="0"/>
              <a:t>11/13/2025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914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C7548-FD58-4384-A951-C87160C229EB}" type="datetime1">
              <a:rPr lang="en-US" smtClean="0"/>
              <a:t>11/13/2025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496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2130552"/>
            <a:ext cx="9601200" cy="2359152"/>
          </a:xfrm>
        </p:spPr>
        <p:txBody>
          <a:bodyPr anchor="b">
            <a:normAutofit/>
          </a:bodyPr>
          <a:lstStyle>
            <a:lvl1pPr algn="ctr">
              <a:defRPr sz="54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572000"/>
            <a:ext cx="9601200" cy="841248"/>
          </a:xfrm>
        </p:spPr>
        <p:txBody>
          <a:bodyPr anchor="t"/>
          <a:lstStyle>
            <a:lvl1pPr marL="0" indent="0" algn="ctr">
              <a:spcBef>
                <a:spcPts val="0"/>
              </a:spcBef>
              <a:buNone/>
              <a:defRPr sz="20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13194-3577-4D3C-A927-FE879CBA54D5}" type="datetime1">
              <a:rPr lang="en-US" smtClean="0"/>
              <a:t>11/13/2025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801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1341120" y="1901952"/>
            <a:ext cx="4572000" cy="412394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/>
            </a:lvl5pPr>
            <a:lvl6pPr>
              <a:defRPr/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we</a:t>
            </a:r>
          </a:p>
          <a:p>
            <a:pPr lvl="5"/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78880" y="1901952"/>
            <a:ext cx="4572000" cy="412394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DC53B-D6DF-4D88-8598-DAA646F1ABC6}" type="datetime1">
              <a:rPr lang="en-US" smtClean="0"/>
              <a:t>11/13/2025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210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1120" y="466344"/>
            <a:ext cx="9509760" cy="12344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41120" y="1837464"/>
            <a:ext cx="4572000" cy="766588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2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41120" y="2740732"/>
            <a:ext cx="4572000" cy="328884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78880" y="1837464"/>
            <a:ext cx="4572000" cy="766588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2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78880" y="2740732"/>
            <a:ext cx="4572000" cy="328884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13985-7297-49C2-8AF7-445853E5DC92}" type="datetime1">
              <a:rPr lang="en-US" smtClean="0"/>
              <a:t>11/13/2025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009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7CB2E-E929-49CA-BA6D-3C562126F566}" type="datetime1">
              <a:rPr lang="en-US" smtClean="0"/>
              <a:t>11/13/2025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8368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 flipV="1">
            <a:off x="1585" y="0"/>
            <a:ext cx="12188827" cy="377952"/>
            <a:chOff x="-1" y="6480048"/>
            <a:chExt cx="12188827" cy="377952"/>
          </a:xfrm>
        </p:grpSpPr>
        <p:sp>
          <p:nvSpPr>
            <p:cNvPr id="6" name="Rectangle 5"/>
            <p:cNvSpPr/>
            <p:nvPr/>
          </p:nvSpPr>
          <p:spPr>
            <a:xfrm>
              <a:off x="0" y="6583680"/>
              <a:ext cx="12188826" cy="274320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50000"/>
                  </a:schemeClr>
                </a:gs>
                <a:gs pos="0">
                  <a:schemeClr val="accent1">
                    <a:lumMod val="60000"/>
                    <a:lumOff val="40000"/>
                    <a:alpha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-1" y="6480048"/>
              <a:ext cx="12188826" cy="73152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80000"/>
                  </a:schemeClr>
                </a:gs>
                <a:gs pos="0">
                  <a:schemeClr val="accent1">
                    <a:lumMod val="60000"/>
                    <a:lumOff val="40000"/>
                    <a:alpha val="8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</p:grp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7CFE0-ED18-4B5C-AA30-B675E1042721}" type="datetime1">
              <a:rPr lang="en-US" smtClean="0"/>
              <a:t>11/13/2025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049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 flipV="1">
            <a:off x="1585" y="0"/>
            <a:ext cx="12188827" cy="377952"/>
            <a:chOff x="-1" y="6480048"/>
            <a:chExt cx="12188827" cy="377952"/>
          </a:xfrm>
        </p:grpSpPr>
        <p:sp>
          <p:nvSpPr>
            <p:cNvPr id="9" name="Rectangle 8"/>
            <p:cNvSpPr/>
            <p:nvPr/>
          </p:nvSpPr>
          <p:spPr>
            <a:xfrm>
              <a:off x="0" y="6583680"/>
              <a:ext cx="12188826" cy="274320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50000"/>
                  </a:schemeClr>
                </a:gs>
                <a:gs pos="0">
                  <a:schemeClr val="accent1">
                    <a:lumMod val="60000"/>
                    <a:lumOff val="40000"/>
                    <a:alpha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-1" y="6480048"/>
              <a:ext cx="12188826" cy="73152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80000"/>
                  </a:schemeClr>
                </a:gs>
                <a:gs pos="0">
                  <a:schemeClr val="accent1">
                    <a:lumMod val="60000"/>
                    <a:lumOff val="40000"/>
                    <a:alpha val="8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70648" y="2350008"/>
            <a:ext cx="4206240" cy="1993392"/>
          </a:xfrm>
        </p:spPr>
        <p:txBody>
          <a:bodyPr anchor="b">
            <a:normAutofit/>
          </a:bodyPr>
          <a:lstStyle>
            <a:lvl1pPr>
              <a:defRPr sz="34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58952"/>
            <a:ext cx="6629400" cy="5330952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70648" y="4361688"/>
            <a:ext cx="4206240" cy="1728216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3BAAB-3A39-450E-9B38-6FB42E71A3AF}" type="datetime1">
              <a:rPr lang="en-US" smtClean="0"/>
              <a:t>11/13/2025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565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 flipV="1">
            <a:off x="1585" y="0"/>
            <a:ext cx="12188827" cy="377952"/>
            <a:chOff x="-1" y="6480048"/>
            <a:chExt cx="12188827" cy="377952"/>
          </a:xfrm>
        </p:grpSpPr>
        <p:sp>
          <p:nvSpPr>
            <p:cNvPr id="9" name="Rectangle 8"/>
            <p:cNvSpPr/>
            <p:nvPr/>
          </p:nvSpPr>
          <p:spPr>
            <a:xfrm>
              <a:off x="0" y="6583680"/>
              <a:ext cx="12188826" cy="274320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50000"/>
                  </a:schemeClr>
                </a:gs>
                <a:gs pos="0">
                  <a:schemeClr val="accent1">
                    <a:lumMod val="60000"/>
                    <a:lumOff val="40000"/>
                    <a:alpha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-1" y="6480048"/>
              <a:ext cx="12188826" cy="73152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80000"/>
                  </a:schemeClr>
                </a:gs>
                <a:gs pos="0">
                  <a:schemeClr val="accent1">
                    <a:lumMod val="60000"/>
                    <a:lumOff val="40000"/>
                    <a:alpha val="8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70648" y="2350008"/>
            <a:ext cx="4206240" cy="1993392"/>
          </a:xfrm>
        </p:spPr>
        <p:txBody>
          <a:bodyPr anchor="b">
            <a:normAutofit/>
          </a:bodyPr>
          <a:lstStyle>
            <a:lvl1pPr>
              <a:defRPr sz="34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150811" y="506104"/>
            <a:ext cx="6858002" cy="5843016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70648" y="4361688"/>
            <a:ext cx="4206240" cy="1728216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E0331-03F7-4310-9C27-C65B2378D791}" type="datetime1">
              <a:rPr lang="en-US" smtClean="0"/>
              <a:t>11/13/2025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572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2F1F3-2254-4E04-B960-C1DB42B67330}" type="datetime1">
              <a:rPr lang="en-US" smtClean="0"/>
              <a:t>11/13/2025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702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274638"/>
            <a:ext cx="26289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274638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D0DE7-A14C-48CB-AB8E-D3357522F5F2}" type="datetime1">
              <a:rPr lang="en-US" smtClean="0"/>
              <a:t>11/13/2025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529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" name="Group 162"/>
          <p:cNvGrpSpPr/>
          <p:nvPr/>
        </p:nvGrpSpPr>
        <p:grpSpPr>
          <a:xfrm>
            <a:off x="7873" y="-19258"/>
            <a:ext cx="12188953" cy="6869723"/>
            <a:chOff x="7873" y="-19258"/>
            <a:chExt cx="12188953" cy="6869723"/>
          </a:xfrm>
        </p:grpSpPr>
        <p:sp>
          <p:nvSpPr>
            <p:cNvPr id="10" name="Rectangle 9"/>
            <p:cNvSpPr/>
            <p:nvPr/>
          </p:nvSpPr>
          <p:spPr>
            <a:xfrm>
              <a:off x="7873" y="-19258"/>
              <a:ext cx="12188952" cy="6858000"/>
            </a:xfrm>
            <a:prstGeom prst="rect">
              <a:avLst/>
            </a:prstGeom>
            <a:gradFill>
              <a:gsLst>
                <a:gs pos="0">
                  <a:schemeClr val="accent1">
                    <a:lumMod val="20000"/>
                    <a:lumOff val="80000"/>
                  </a:schemeClr>
                </a:gs>
                <a:gs pos="74000">
                  <a:schemeClr val="accent1">
                    <a:lumMod val="40000"/>
                    <a:lumOff val="6000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9" name="Group 8"/>
            <p:cNvGrpSpPr/>
            <p:nvPr/>
          </p:nvGrpSpPr>
          <p:grpSpPr>
            <a:xfrm>
              <a:off x="7999" y="6472513"/>
              <a:ext cx="12188827" cy="377952"/>
              <a:chOff x="-1" y="6480048"/>
              <a:chExt cx="12188827" cy="377952"/>
            </a:xfrm>
          </p:grpSpPr>
          <p:sp>
            <p:nvSpPr>
              <p:cNvPr id="7" name="Rectangle 6"/>
              <p:cNvSpPr/>
              <p:nvPr/>
            </p:nvSpPr>
            <p:spPr>
              <a:xfrm>
                <a:off x="0" y="6583680"/>
                <a:ext cx="12188826" cy="274320"/>
              </a:xfrm>
              <a:prstGeom prst="rect">
                <a:avLst/>
              </a:prstGeom>
              <a:gradFill flip="none" rotWithShape="1">
                <a:gsLst>
                  <a:gs pos="100000">
                    <a:schemeClr val="accent1">
                      <a:alpha val="50000"/>
                    </a:schemeClr>
                  </a:gs>
                  <a:gs pos="0">
                    <a:schemeClr val="accent1">
                      <a:lumMod val="60000"/>
                      <a:lumOff val="40000"/>
                      <a:alpha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/>
              </a:p>
            </p:txBody>
          </p:sp>
          <p:sp>
            <p:nvSpPr>
              <p:cNvPr id="8" name="Rectangle 7"/>
              <p:cNvSpPr/>
              <p:nvPr/>
            </p:nvSpPr>
            <p:spPr>
              <a:xfrm>
                <a:off x="-1" y="6480048"/>
                <a:ext cx="12188826" cy="73152"/>
              </a:xfrm>
              <a:prstGeom prst="rect">
                <a:avLst/>
              </a:prstGeom>
              <a:gradFill flip="none" rotWithShape="1">
                <a:gsLst>
                  <a:gs pos="100000">
                    <a:schemeClr val="accent1">
                      <a:alpha val="80000"/>
                    </a:schemeClr>
                  </a:gs>
                  <a:gs pos="0">
                    <a:schemeClr val="accent1">
                      <a:lumMod val="60000"/>
                      <a:lumOff val="40000"/>
                      <a:alpha val="8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/>
              </a:p>
            </p:txBody>
          </p:sp>
        </p:grpSp>
        <p:grpSp>
          <p:nvGrpSpPr>
            <p:cNvPr id="48" name="Group 47" hidden="1"/>
            <p:cNvGrpSpPr/>
            <p:nvPr/>
          </p:nvGrpSpPr>
          <p:grpSpPr>
            <a:xfrm>
              <a:off x="14350" y="-7605"/>
              <a:ext cx="11722100" cy="6536383"/>
              <a:chOff x="6350" y="6350"/>
              <a:chExt cx="11722100" cy="6536383"/>
            </a:xfrm>
          </p:grpSpPr>
          <p:grpSp>
            <p:nvGrpSpPr>
              <p:cNvPr id="11" name="Group 9"/>
              <p:cNvGrpSpPr>
                <a:grpSpLocks/>
              </p:cNvGrpSpPr>
              <p:nvPr/>
            </p:nvGrpSpPr>
            <p:grpSpPr bwMode="auto">
              <a:xfrm>
                <a:off x="6350" y="5340350"/>
                <a:ext cx="673100" cy="673100"/>
                <a:chOff x="4" y="3364"/>
                <a:chExt cx="424" cy="424"/>
              </a:xfrm>
            </p:grpSpPr>
            <p:sp>
              <p:nvSpPr>
                <p:cNvPr id="45" name="Oval 7"/>
                <p:cNvSpPr>
                  <a:spLocks noChangeArrowheads="1"/>
                </p:cNvSpPr>
                <p:nvPr/>
              </p:nvSpPr>
              <p:spPr bwMode="grayWhite">
                <a:xfrm>
                  <a:off x="4" y="3364"/>
                  <a:ext cx="424" cy="424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6" name="Oval 8"/>
                <p:cNvSpPr>
                  <a:spLocks noChangeArrowheads="1"/>
                </p:cNvSpPr>
                <p:nvPr/>
              </p:nvSpPr>
              <p:spPr bwMode="grayWhite">
                <a:xfrm>
                  <a:off x="100" y="3460"/>
                  <a:ext cx="63" cy="63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2" name="Group 12"/>
              <p:cNvGrpSpPr>
                <a:grpSpLocks/>
              </p:cNvGrpSpPr>
              <p:nvPr/>
            </p:nvGrpSpPr>
            <p:grpSpPr bwMode="auto">
              <a:xfrm>
                <a:off x="539750" y="5873750"/>
                <a:ext cx="292100" cy="292100"/>
                <a:chOff x="340" y="3700"/>
                <a:chExt cx="184" cy="184"/>
              </a:xfrm>
            </p:grpSpPr>
            <p:sp>
              <p:nvSpPr>
                <p:cNvPr id="43" name="Oval 10"/>
                <p:cNvSpPr>
                  <a:spLocks noChangeArrowheads="1"/>
                </p:cNvSpPr>
                <p:nvPr/>
              </p:nvSpPr>
              <p:spPr bwMode="grayWhite">
                <a:xfrm>
                  <a:off x="340" y="3700"/>
                  <a:ext cx="184" cy="184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4" name="Oval 11"/>
                <p:cNvSpPr>
                  <a:spLocks noChangeArrowheads="1"/>
                </p:cNvSpPr>
                <p:nvPr/>
              </p:nvSpPr>
              <p:spPr bwMode="grayWhite">
                <a:xfrm>
                  <a:off x="382" y="3742"/>
                  <a:ext cx="24" cy="24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3" name="Group 15"/>
              <p:cNvGrpSpPr>
                <a:grpSpLocks/>
              </p:cNvGrpSpPr>
              <p:nvPr/>
            </p:nvGrpSpPr>
            <p:grpSpPr bwMode="auto">
              <a:xfrm>
                <a:off x="131763" y="6038850"/>
                <a:ext cx="444500" cy="444500"/>
                <a:chOff x="83" y="3804"/>
                <a:chExt cx="280" cy="280"/>
              </a:xfrm>
            </p:grpSpPr>
            <p:sp>
              <p:nvSpPr>
                <p:cNvPr id="41" name="Oval 13"/>
                <p:cNvSpPr>
                  <a:spLocks noChangeArrowheads="1"/>
                </p:cNvSpPr>
                <p:nvPr/>
              </p:nvSpPr>
              <p:spPr bwMode="grayWhite">
                <a:xfrm>
                  <a:off x="83" y="3804"/>
                  <a:ext cx="280" cy="280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2" name="Oval 14"/>
                <p:cNvSpPr>
                  <a:spLocks noChangeArrowheads="1"/>
                </p:cNvSpPr>
                <p:nvPr/>
              </p:nvSpPr>
              <p:spPr bwMode="grayWhite">
                <a:xfrm>
                  <a:off x="147" y="3868"/>
                  <a:ext cx="39" cy="39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4" name="Group 18"/>
              <p:cNvGrpSpPr>
                <a:grpSpLocks/>
              </p:cNvGrpSpPr>
              <p:nvPr/>
            </p:nvGrpSpPr>
            <p:grpSpPr bwMode="auto">
              <a:xfrm>
                <a:off x="2476500" y="6174433"/>
                <a:ext cx="368300" cy="368300"/>
                <a:chOff x="1560" y="4076"/>
                <a:chExt cx="232" cy="232"/>
              </a:xfrm>
            </p:grpSpPr>
            <p:sp>
              <p:nvSpPr>
                <p:cNvPr id="39" name="Oval 16"/>
                <p:cNvSpPr>
                  <a:spLocks noChangeArrowheads="1"/>
                </p:cNvSpPr>
                <p:nvPr/>
              </p:nvSpPr>
              <p:spPr bwMode="grayWhite">
                <a:xfrm>
                  <a:off x="1560" y="4076"/>
                  <a:ext cx="232" cy="232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0" name="Oval 17"/>
                <p:cNvSpPr>
                  <a:spLocks noChangeArrowheads="1"/>
                </p:cNvSpPr>
                <p:nvPr/>
              </p:nvSpPr>
              <p:spPr bwMode="grayWhite">
                <a:xfrm>
                  <a:off x="1613" y="4129"/>
                  <a:ext cx="32" cy="32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5" name="Group 21"/>
              <p:cNvGrpSpPr>
                <a:grpSpLocks/>
              </p:cNvGrpSpPr>
              <p:nvPr/>
            </p:nvGrpSpPr>
            <p:grpSpPr bwMode="auto">
              <a:xfrm>
                <a:off x="6350" y="4425950"/>
                <a:ext cx="368300" cy="368300"/>
                <a:chOff x="4" y="2788"/>
                <a:chExt cx="232" cy="232"/>
              </a:xfrm>
            </p:grpSpPr>
            <p:sp>
              <p:nvSpPr>
                <p:cNvPr id="37" name="Oval 19"/>
                <p:cNvSpPr>
                  <a:spLocks noChangeArrowheads="1"/>
                </p:cNvSpPr>
                <p:nvPr/>
              </p:nvSpPr>
              <p:spPr bwMode="grayWhite">
                <a:xfrm>
                  <a:off x="4" y="2788"/>
                  <a:ext cx="232" cy="232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8" name="Oval 20"/>
                <p:cNvSpPr>
                  <a:spLocks noChangeArrowheads="1"/>
                </p:cNvSpPr>
                <p:nvPr/>
              </p:nvSpPr>
              <p:spPr bwMode="grayWhite">
                <a:xfrm>
                  <a:off x="57" y="2841"/>
                  <a:ext cx="32" cy="32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6" name="Group 24"/>
              <p:cNvGrpSpPr>
                <a:grpSpLocks/>
              </p:cNvGrpSpPr>
              <p:nvPr/>
            </p:nvGrpSpPr>
            <p:grpSpPr bwMode="auto">
              <a:xfrm>
                <a:off x="10674350" y="5808663"/>
                <a:ext cx="673100" cy="673100"/>
                <a:chOff x="4132" y="3844"/>
                <a:chExt cx="424" cy="424"/>
              </a:xfrm>
            </p:grpSpPr>
            <p:sp>
              <p:nvSpPr>
                <p:cNvPr id="35" name="Oval 22"/>
                <p:cNvSpPr>
                  <a:spLocks noChangeArrowheads="1"/>
                </p:cNvSpPr>
                <p:nvPr/>
              </p:nvSpPr>
              <p:spPr bwMode="grayWhite">
                <a:xfrm>
                  <a:off x="4132" y="3844"/>
                  <a:ext cx="424" cy="424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6" name="Oval 23"/>
                <p:cNvSpPr>
                  <a:spLocks noChangeArrowheads="1"/>
                </p:cNvSpPr>
                <p:nvPr/>
              </p:nvSpPr>
              <p:spPr bwMode="grayWhite">
                <a:xfrm>
                  <a:off x="4228" y="3940"/>
                  <a:ext cx="63" cy="63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7" name="Group 27"/>
              <p:cNvGrpSpPr>
                <a:grpSpLocks/>
              </p:cNvGrpSpPr>
              <p:nvPr/>
            </p:nvGrpSpPr>
            <p:grpSpPr bwMode="auto">
              <a:xfrm>
                <a:off x="10293350" y="6113463"/>
                <a:ext cx="368300" cy="368300"/>
                <a:chOff x="3892" y="4036"/>
                <a:chExt cx="232" cy="232"/>
              </a:xfrm>
            </p:grpSpPr>
            <p:sp>
              <p:nvSpPr>
                <p:cNvPr id="33" name="Oval 25"/>
                <p:cNvSpPr>
                  <a:spLocks noChangeArrowheads="1"/>
                </p:cNvSpPr>
                <p:nvPr/>
              </p:nvSpPr>
              <p:spPr bwMode="grayWhite">
                <a:xfrm>
                  <a:off x="3892" y="4036"/>
                  <a:ext cx="232" cy="232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" name="Oval 26"/>
                <p:cNvSpPr>
                  <a:spLocks noChangeArrowheads="1"/>
                </p:cNvSpPr>
                <p:nvPr/>
              </p:nvSpPr>
              <p:spPr bwMode="grayWhite">
                <a:xfrm>
                  <a:off x="3945" y="4089"/>
                  <a:ext cx="32" cy="32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8" name="Group 30"/>
              <p:cNvGrpSpPr>
                <a:grpSpLocks/>
              </p:cNvGrpSpPr>
              <p:nvPr/>
            </p:nvGrpSpPr>
            <p:grpSpPr bwMode="auto">
              <a:xfrm>
                <a:off x="11360150" y="5808663"/>
                <a:ext cx="368300" cy="368300"/>
                <a:chOff x="4564" y="3844"/>
                <a:chExt cx="232" cy="232"/>
              </a:xfrm>
            </p:grpSpPr>
            <p:sp>
              <p:nvSpPr>
                <p:cNvPr id="31" name="Oval 28"/>
                <p:cNvSpPr>
                  <a:spLocks noChangeArrowheads="1"/>
                </p:cNvSpPr>
                <p:nvPr/>
              </p:nvSpPr>
              <p:spPr bwMode="grayWhite">
                <a:xfrm>
                  <a:off x="4564" y="3844"/>
                  <a:ext cx="232" cy="232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2" name="Oval 29"/>
                <p:cNvSpPr>
                  <a:spLocks noChangeArrowheads="1"/>
                </p:cNvSpPr>
                <p:nvPr/>
              </p:nvSpPr>
              <p:spPr bwMode="grayWhite">
                <a:xfrm>
                  <a:off x="4617" y="3897"/>
                  <a:ext cx="32" cy="32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9" name="Group 33"/>
              <p:cNvGrpSpPr>
                <a:grpSpLocks/>
              </p:cNvGrpSpPr>
              <p:nvPr/>
            </p:nvGrpSpPr>
            <p:grpSpPr bwMode="auto">
              <a:xfrm>
                <a:off x="11087100" y="1901952"/>
                <a:ext cx="520700" cy="520700"/>
                <a:chOff x="5420" y="1139"/>
                <a:chExt cx="328" cy="328"/>
              </a:xfrm>
            </p:grpSpPr>
            <p:sp>
              <p:nvSpPr>
                <p:cNvPr id="29" name="Oval 31"/>
                <p:cNvSpPr>
                  <a:spLocks noChangeArrowheads="1"/>
                </p:cNvSpPr>
                <p:nvPr/>
              </p:nvSpPr>
              <p:spPr bwMode="grayWhite">
                <a:xfrm>
                  <a:off x="5420" y="1139"/>
                  <a:ext cx="328" cy="328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0" name="Oval 32"/>
                <p:cNvSpPr>
                  <a:spLocks noChangeArrowheads="1"/>
                </p:cNvSpPr>
                <p:nvPr/>
              </p:nvSpPr>
              <p:spPr bwMode="grayWhite">
                <a:xfrm>
                  <a:off x="5495" y="1214"/>
                  <a:ext cx="47" cy="47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20" name="Group 36"/>
              <p:cNvGrpSpPr>
                <a:grpSpLocks/>
              </p:cNvGrpSpPr>
              <p:nvPr/>
            </p:nvGrpSpPr>
            <p:grpSpPr bwMode="auto">
              <a:xfrm>
                <a:off x="11176000" y="2614739"/>
                <a:ext cx="215900" cy="215900"/>
                <a:chOff x="5476" y="1588"/>
                <a:chExt cx="136" cy="136"/>
              </a:xfrm>
            </p:grpSpPr>
            <p:sp>
              <p:nvSpPr>
                <p:cNvPr id="27" name="Oval 34"/>
                <p:cNvSpPr>
                  <a:spLocks noChangeArrowheads="1"/>
                </p:cNvSpPr>
                <p:nvPr/>
              </p:nvSpPr>
              <p:spPr bwMode="grayWhite">
                <a:xfrm>
                  <a:off x="5476" y="1588"/>
                  <a:ext cx="136" cy="136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8" name="Oval 35"/>
                <p:cNvSpPr>
                  <a:spLocks noChangeArrowheads="1"/>
                </p:cNvSpPr>
                <p:nvPr/>
              </p:nvSpPr>
              <p:spPr bwMode="grayWhite">
                <a:xfrm>
                  <a:off x="5508" y="1620"/>
                  <a:ext cx="16" cy="16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21" name="Group 39"/>
              <p:cNvGrpSpPr>
                <a:grpSpLocks/>
              </p:cNvGrpSpPr>
              <p:nvPr/>
            </p:nvGrpSpPr>
            <p:grpSpPr bwMode="auto">
              <a:xfrm>
                <a:off x="1377950" y="6350"/>
                <a:ext cx="520700" cy="520700"/>
                <a:chOff x="868" y="4"/>
                <a:chExt cx="328" cy="328"/>
              </a:xfrm>
            </p:grpSpPr>
            <p:sp>
              <p:nvSpPr>
                <p:cNvPr id="25" name="Oval 37"/>
                <p:cNvSpPr>
                  <a:spLocks noChangeArrowheads="1"/>
                </p:cNvSpPr>
                <p:nvPr/>
              </p:nvSpPr>
              <p:spPr bwMode="grayWhite">
                <a:xfrm>
                  <a:off x="868" y="4"/>
                  <a:ext cx="328" cy="328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6" name="Oval 38"/>
                <p:cNvSpPr>
                  <a:spLocks noChangeArrowheads="1"/>
                </p:cNvSpPr>
                <p:nvPr/>
              </p:nvSpPr>
              <p:spPr bwMode="grayWhite">
                <a:xfrm>
                  <a:off x="942" y="78"/>
                  <a:ext cx="48" cy="48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22" name="Group 42"/>
              <p:cNvGrpSpPr>
                <a:grpSpLocks/>
              </p:cNvGrpSpPr>
              <p:nvPr/>
            </p:nvGrpSpPr>
            <p:grpSpPr bwMode="auto">
              <a:xfrm>
                <a:off x="1911350" y="158750"/>
                <a:ext cx="368300" cy="368300"/>
                <a:chOff x="1204" y="100"/>
                <a:chExt cx="232" cy="232"/>
              </a:xfrm>
            </p:grpSpPr>
            <p:sp>
              <p:nvSpPr>
                <p:cNvPr id="23" name="Oval 40"/>
                <p:cNvSpPr>
                  <a:spLocks noChangeArrowheads="1"/>
                </p:cNvSpPr>
                <p:nvPr/>
              </p:nvSpPr>
              <p:spPr bwMode="grayWhite">
                <a:xfrm>
                  <a:off x="1204" y="100"/>
                  <a:ext cx="232" cy="232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4" name="Oval 41"/>
                <p:cNvSpPr>
                  <a:spLocks noChangeArrowheads="1"/>
                </p:cNvSpPr>
                <p:nvPr/>
              </p:nvSpPr>
              <p:spPr bwMode="grayWhite">
                <a:xfrm>
                  <a:off x="1257" y="153"/>
                  <a:ext cx="32" cy="32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162" name="Group 161"/>
            <p:cNvGrpSpPr/>
            <p:nvPr/>
          </p:nvGrpSpPr>
          <p:grpSpPr>
            <a:xfrm>
              <a:off x="14350" y="-7605"/>
              <a:ext cx="11722100" cy="6536383"/>
              <a:chOff x="14350" y="-7605"/>
              <a:chExt cx="11722100" cy="6536383"/>
            </a:xfrm>
          </p:grpSpPr>
          <p:grpSp>
            <p:nvGrpSpPr>
              <p:cNvPr id="86" name="Group 85"/>
              <p:cNvGrpSpPr/>
              <p:nvPr/>
            </p:nvGrpSpPr>
            <p:grpSpPr>
              <a:xfrm>
                <a:off x="14350" y="5326395"/>
                <a:ext cx="673100" cy="673100"/>
                <a:chOff x="14350" y="5326395"/>
                <a:chExt cx="673100" cy="673100"/>
              </a:xfrm>
            </p:grpSpPr>
            <p:sp>
              <p:nvSpPr>
                <p:cNvPr id="83" name="Oval 7"/>
                <p:cNvSpPr>
                  <a:spLocks noChangeArrowheads="1"/>
                </p:cNvSpPr>
                <p:nvPr/>
              </p:nvSpPr>
              <p:spPr bwMode="grayWhite">
                <a:xfrm>
                  <a:off x="14350" y="5326395"/>
                  <a:ext cx="673100" cy="673100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4" name="Oval 8"/>
                <p:cNvSpPr>
                  <a:spLocks noChangeArrowheads="1"/>
                </p:cNvSpPr>
                <p:nvPr/>
              </p:nvSpPr>
              <p:spPr bwMode="grayWhite">
                <a:xfrm>
                  <a:off x="166750" y="5478795"/>
                  <a:ext cx="100013" cy="100013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87" name="Group 86"/>
              <p:cNvGrpSpPr/>
              <p:nvPr/>
            </p:nvGrpSpPr>
            <p:grpSpPr>
              <a:xfrm>
                <a:off x="547750" y="5859795"/>
                <a:ext cx="292100" cy="292100"/>
                <a:chOff x="547750" y="5859795"/>
                <a:chExt cx="292100" cy="292100"/>
              </a:xfrm>
            </p:grpSpPr>
            <p:sp>
              <p:nvSpPr>
                <p:cNvPr id="81" name="Oval 10"/>
                <p:cNvSpPr>
                  <a:spLocks noChangeArrowheads="1"/>
                </p:cNvSpPr>
                <p:nvPr/>
              </p:nvSpPr>
              <p:spPr bwMode="grayWhite">
                <a:xfrm>
                  <a:off x="547750" y="5859795"/>
                  <a:ext cx="292100" cy="292100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" name="Oval 11"/>
                <p:cNvSpPr>
                  <a:spLocks noChangeArrowheads="1"/>
                </p:cNvSpPr>
                <p:nvPr/>
              </p:nvSpPr>
              <p:spPr bwMode="grayWhite">
                <a:xfrm>
                  <a:off x="614425" y="5926470"/>
                  <a:ext cx="38100" cy="381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88" name="Group 87"/>
              <p:cNvGrpSpPr/>
              <p:nvPr/>
            </p:nvGrpSpPr>
            <p:grpSpPr>
              <a:xfrm>
                <a:off x="139763" y="6024895"/>
                <a:ext cx="444500" cy="444500"/>
                <a:chOff x="139763" y="6024895"/>
                <a:chExt cx="444500" cy="444500"/>
              </a:xfrm>
            </p:grpSpPr>
            <p:sp>
              <p:nvSpPr>
                <p:cNvPr id="79" name="Oval 13"/>
                <p:cNvSpPr>
                  <a:spLocks noChangeArrowheads="1"/>
                </p:cNvSpPr>
                <p:nvPr/>
              </p:nvSpPr>
              <p:spPr bwMode="grayWhite">
                <a:xfrm>
                  <a:off x="139763" y="6024895"/>
                  <a:ext cx="444500" cy="444500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0" name="Oval 14"/>
                <p:cNvSpPr>
                  <a:spLocks noChangeArrowheads="1"/>
                </p:cNvSpPr>
                <p:nvPr/>
              </p:nvSpPr>
              <p:spPr bwMode="grayWhite">
                <a:xfrm>
                  <a:off x="241363" y="6126495"/>
                  <a:ext cx="61913" cy="61913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89" name="Group 88"/>
              <p:cNvGrpSpPr/>
              <p:nvPr/>
            </p:nvGrpSpPr>
            <p:grpSpPr>
              <a:xfrm>
                <a:off x="2484500" y="6160478"/>
                <a:ext cx="368300" cy="368300"/>
                <a:chOff x="2484500" y="6160478"/>
                <a:chExt cx="368300" cy="368300"/>
              </a:xfrm>
            </p:grpSpPr>
            <p:sp>
              <p:nvSpPr>
                <p:cNvPr id="77" name="Oval 16"/>
                <p:cNvSpPr>
                  <a:spLocks noChangeArrowheads="1"/>
                </p:cNvSpPr>
                <p:nvPr/>
              </p:nvSpPr>
              <p:spPr bwMode="grayWhite">
                <a:xfrm>
                  <a:off x="2484500" y="6160478"/>
                  <a:ext cx="368300" cy="368300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8" name="Oval 17"/>
                <p:cNvSpPr>
                  <a:spLocks noChangeArrowheads="1"/>
                </p:cNvSpPr>
                <p:nvPr/>
              </p:nvSpPr>
              <p:spPr bwMode="grayWhite">
                <a:xfrm>
                  <a:off x="2568638" y="6244616"/>
                  <a:ext cx="50800" cy="508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0" name="Group 89"/>
              <p:cNvGrpSpPr/>
              <p:nvPr/>
            </p:nvGrpSpPr>
            <p:grpSpPr>
              <a:xfrm>
                <a:off x="14350" y="4411995"/>
                <a:ext cx="368300" cy="368300"/>
                <a:chOff x="14350" y="4411995"/>
                <a:chExt cx="368300" cy="368300"/>
              </a:xfrm>
            </p:grpSpPr>
            <p:sp>
              <p:nvSpPr>
                <p:cNvPr id="75" name="Oval 19"/>
                <p:cNvSpPr>
                  <a:spLocks noChangeArrowheads="1"/>
                </p:cNvSpPr>
                <p:nvPr/>
              </p:nvSpPr>
              <p:spPr bwMode="grayWhite">
                <a:xfrm>
                  <a:off x="14350" y="4411995"/>
                  <a:ext cx="368300" cy="368300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6" name="Oval 20"/>
                <p:cNvSpPr>
                  <a:spLocks noChangeArrowheads="1"/>
                </p:cNvSpPr>
                <p:nvPr/>
              </p:nvSpPr>
              <p:spPr bwMode="grayWhite">
                <a:xfrm>
                  <a:off x="98488" y="4496133"/>
                  <a:ext cx="50800" cy="508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1" name="Group 90"/>
              <p:cNvGrpSpPr/>
              <p:nvPr/>
            </p:nvGrpSpPr>
            <p:grpSpPr>
              <a:xfrm>
                <a:off x="10682350" y="5794708"/>
                <a:ext cx="673100" cy="673100"/>
                <a:chOff x="10682350" y="5794708"/>
                <a:chExt cx="673100" cy="673100"/>
              </a:xfrm>
            </p:grpSpPr>
            <p:sp>
              <p:nvSpPr>
                <p:cNvPr id="73" name="Oval 22"/>
                <p:cNvSpPr>
                  <a:spLocks noChangeArrowheads="1"/>
                </p:cNvSpPr>
                <p:nvPr/>
              </p:nvSpPr>
              <p:spPr bwMode="grayWhite">
                <a:xfrm>
                  <a:off x="10682350" y="5794708"/>
                  <a:ext cx="673100" cy="673100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4" name="Oval 23"/>
                <p:cNvSpPr>
                  <a:spLocks noChangeArrowheads="1"/>
                </p:cNvSpPr>
                <p:nvPr/>
              </p:nvSpPr>
              <p:spPr bwMode="grayWhite">
                <a:xfrm>
                  <a:off x="10834750" y="5947108"/>
                  <a:ext cx="100013" cy="100013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2" name="Group 91"/>
              <p:cNvGrpSpPr/>
              <p:nvPr/>
            </p:nvGrpSpPr>
            <p:grpSpPr>
              <a:xfrm>
                <a:off x="10301350" y="6099508"/>
                <a:ext cx="368300" cy="368300"/>
                <a:chOff x="10301350" y="6099508"/>
                <a:chExt cx="368300" cy="368300"/>
              </a:xfrm>
            </p:grpSpPr>
            <p:sp>
              <p:nvSpPr>
                <p:cNvPr id="71" name="Oval 25"/>
                <p:cNvSpPr>
                  <a:spLocks noChangeArrowheads="1"/>
                </p:cNvSpPr>
                <p:nvPr/>
              </p:nvSpPr>
              <p:spPr bwMode="grayWhite">
                <a:xfrm>
                  <a:off x="10301350" y="6099508"/>
                  <a:ext cx="368300" cy="368300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2" name="Oval 26"/>
                <p:cNvSpPr>
                  <a:spLocks noChangeArrowheads="1"/>
                </p:cNvSpPr>
                <p:nvPr/>
              </p:nvSpPr>
              <p:spPr bwMode="grayWhite">
                <a:xfrm>
                  <a:off x="10385488" y="6183646"/>
                  <a:ext cx="50800" cy="508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3" name="Group 92"/>
              <p:cNvGrpSpPr/>
              <p:nvPr/>
            </p:nvGrpSpPr>
            <p:grpSpPr>
              <a:xfrm>
                <a:off x="11368150" y="5794708"/>
                <a:ext cx="368300" cy="368300"/>
                <a:chOff x="11368150" y="5794708"/>
                <a:chExt cx="368300" cy="368300"/>
              </a:xfrm>
            </p:grpSpPr>
            <p:sp>
              <p:nvSpPr>
                <p:cNvPr id="69" name="Oval 28"/>
                <p:cNvSpPr>
                  <a:spLocks noChangeArrowheads="1"/>
                </p:cNvSpPr>
                <p:nvPr/>
              </p:nvSpPr>
              <p:spPr bwMode="grayWhite">
                <a:xfrm>
                  <a:off x="11368150" y="5794708"/>
                  <a:ext cx="368300" cy="368300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0" name="Oval 29"/>
                <p:cNvSpPr>
                  <a:spLocks noChangeArrowheads="1"/>
                </p:cNvSpPr>
                <p:nvPr/>
              </p:nvSpPr>
              <p:spPr bwMode="grayWhite">
                <a:xfrm>
                  <a:off x="11452288" y="5878846"/>
                  <a:ext cx="50800" cy="508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4" name="Group 93"/>
              <p:cNvGrpSpPr/>
              <p:nvPr/>
            </p:nvGrpSpPr>
            <p:grpSpPr>
              <a:xfrm>
                <a:off x="11095100" y="1887997"/>
                <a:ext cx="520700" cy="520700"/>
                <a:chOff x="11095100" y="1887997"/>
                <a:chExt cx="520700" cy="520700"/>
              </a:xfrm>
            </p:grpSpPr>
            <p:sp>
              <p:nvSpPr>
                <p:cNvPr id="67" name="Oval 31"/>
                <p:cNvSpPr>
                  <a:spLocks noChangeArrowheads="1"/>
                </p:cNvSpPr>
                <p:nvPr/>
              </p:nvSpPr>
              <p:spPr bwMode="grayWhite">
                <a:xfrm>
                  <a:off x="11095100" y="1887997"/>
                  <a:ext cx="520700" cy="520700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8" name="Oval 32"/>
                <p:cNvSpPr>
                  <a:spLocks noChangeArrowheads="1"/>
                </p:cNvSpPr>
                <p:nvPr/>
              </p:nvSpPr>
              <p:spPr bwMode="grayWhite">
                <a:xfrm>
                  <a:off x="11214163" y="2007060"/>
                  <a:ext cx="74613" cy="74613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5" name="Group 94"/>
              <p:cNvGrpSpPr/>
              <p:nvPr/>
            </p:nvGrpSpPr>
            <p:grpSpPr>
              <a:xfrm>
                <a:off x="11184000" y="2600784"/>
                <a:ext cx="215900" cy="215900"/>
                <a:chOff x="11184000" y="2600784"/>
                <a:chExt cx="215900" cy="215900"/>
              </a:xfrm>
            </p:grpSpPr>
            <p:sp>
              <p:nvSpPr>
                <p:cNvPr id="65" name="Oval 34"/>
                <p:cNvSpPr>
                  <a:spLocks noChangeArrowheads="1"/>
                </p:cNvSpPr>
                <p:nvPr/>
              </p:nvSpPr>
              <p:spPr bwMode="grayWhite">
                <a:xfrm>
                  <a:off x="11184000" y="2600784"/>
                  <a:ext cx="215900" cy="215900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6" name="Oval 35"/>
                <p:cNvSpPr>
                  <a:spLocks noChangeArrowheads="1"/>
                </p:cNvSpPr>
                <p:nvPr/>
              </p:nvSpPr>
              <p:spPr bwMode="grayWhite">
                <a:xfrm>
                  <a:off x="11234800" y="2651584"/>
                  <a:ext cx="25400" cy="254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60" name="Group 159"/>
              <p:cNvGrpSpPr/>
              <p:nvPr/>
            </p:nvGrpSpPr>
            <p:grpSpPr>
              <a:xfrm>
                <a:off x="1385950" y="-7605"/>
                <a:ext cx="520700" cy="520700"/>
                <a:chOff x="1385950" y="-7605"/>
                <a:chExt cx="520700" cy="520700"/>
              </a:xfrm>
            </p:grpSpPr>
            <p:sp>
              <p:nvSpPr>
                <p:cNvPr id="63" name="Oval 37"/>
                <p:cNvSpPr>
                  <a:spLocks noChangeArrowheads="1"/>
                </p:cNvSpPr>
                <p:nvPr/>
              </p:nvSpPr>
              <p:spPr bwMode="grayWhite">
                <a:xfrm>
                  <a:off x="1385950" y="-7605"/>
                  <a:ext cx="520700" cy="520700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4" name="Oval 38"/>
                <p:cNvSpPr>
                  <a:spLocks noChangeArrowheads="1"/>
                </p:cNvSpPr>
                <p:nvPr/>
              </p:nvSpPr>
              <p:spPr bwMode="grayWhite">
                <a:xfrm>
                  <a:off x="1503425" y="109870"/>
                  <a:ext cx="76200" cy="762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61" name="Group 160"/>
              <p:cNvGrpSpPr/>
              <p:nvPr/>
            </p:nvGrpSpPr>
            <p:grpSpPr>
              <a:xfrm>
                <a:off x="1919350" y="144795"/>
                <a:ext cx="368300" cy="368300"/>
                <a:chOff x="1919350" y="144795"/>
                <a:chExt cx="368300" cy="368300"/>
              </a:xfrm>
            </p:grpSpPr>
            <p:sp>
              <p:nvSpPr>
                <p:cNvPr id="61" name="Oval 40"/>
                <p:cNvSpPr>
                  <a:spLocks noChangeArrowheads="1"/>
                </p:cNvSpPr>
                <p:nvPr/>
              </p:nvSpPr>
              <p:spPr bwMode="grayWhite">
                <a:xfrm>
                  <a:off x="1919350" y="144795"/>
                  <a:ext cx="368300" cy="368300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2" name="Oval 41"/>
                <p:cNvSpPr>
                  <a:spLocks noChangeArrowheads="1"/>
                </p:cNvSpPr>
                <p:nvPr/>
              </p:nvSpPr>
              <p:spPr bwMode="grayWhite">
                <a:xfrm>
                  <a:off x="2003488" y="228933"/>
                  <a:ext cx="50800" cy="508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41120" y="467360"/>
            <a:ext cx="9509760" cy="123342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41120" y="1901952"/>
            <a:ext cx="9509760" cy="41276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41120" y="6598763"/>
            <a:ext cx="7159752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75776" y="6598763"/>
            <a:ext cx="960120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513C09FF-A05A-44B7-B7F9-9715502B619B}" type="datetime1">
              <a:rPr lang="en-US" smtClean="0"/>
              <a:pPr/>
              <a:t>11/13/2025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10800" y="6598763"/>
            <a:ext cx="640080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FC749032-2A07-4AE8-BA90-74324CAE0C8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658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4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accent2">
            <a:lumMod val="75000"/>
          </a:schemeClr>
        </a:buClr>
        <a:buSzPct val="80000"/>
        <a:buFont typeface="Courier New" panose="02070309020205020404" pitchFamily="49" charset="0"/>
        <a:buChar char="o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>
            <a:lumMod val="75000"/>
          </a:schemeClr>
        </a:buClr>
        <a:buSzPct val="80000"/>
        <a:buFont typeface="Courier New" panose="02070309020205020404" pitchFamily="49" charset="0"/>
        <a:buChar char="o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2">
            <a:lumMod val="75000"/>
          </a:schemeClr>
        </a:buClr>
        <a:buSzPct val="80000"/>
        <a:buFont typeface="Courier New" panose="02070309020205020404" pitchFamily="49" charset="0"/>
        <a:buChar char="o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123444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2">
            <a:lumMod val="75000"/>
          </a:schemeClr>
        </a:buClr>
        <a:buSzPct val="80000"/>
        <a:buFont typeface="Courier New" panose="02070309020205020404" pitchFamily="49" charset="0"/>
        <a:buChar char="o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2">
            <a:lumMod val="75000"/>
          </a:schemeClr>
        </a:buClr>
        <a:buSzPct val="80000"/>
        <a:buFont typeface="Courier New" panose="02070309020205020404" pitchFamily="49" charset="0"/>
        <a:buChar char="o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187452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2">
            <a:lumMod val="75000"/>
          </a:schemeClr>
        </a:buClr>
        <a:buSzPct val="80000"/>
        <a:buFont typeface="Courier New" panose="02070309020205020404" pitchFamily="49" charset="0"/>
        <a:buChar char="o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9456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2">
            <a:lumMod val="75000"/>
          </a:schemeClr>
        </a:buClr>
        <a:buSzPct val="80000"/>
        <a:buFont typeface="Courier New" panose="02070309020205020404" pitchFamily="49" charset="0"/>
        <a:buChar char="o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51460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2">
            <a:lumMod val="75000"/>
          </a:schemeClr>
        </a:buClr>
        <a:buSzPct val="80000"/>
        <a:buFont typeface="Courier New" panose="02070309020205020404" pitchFamily="49" charset="0"/>
        <a:buChar char="o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606040" indent="0" algn="l" defTabSz="914400" rtl="0" eaLnBrk="1" latinLnBrk="0" hangingPunct="1">
        <a:lnSpc>
          <a:spcPct val="90000"/>
        </a:lnSpc>
        <a:spcBef>
          <a:spcPts val="800"/>
        </a:spcBef>
        <a:buClr>
          <a:schemeClr val="accent2">
            <a:lumMod val="75000"/>
          </a:schemeClr>
        </a:buClr>
        <a:buSzPct val="80000"/>
        <a:buFont typeface="Courier New" panose="02070309020205020404" pitchFamily="49" charset="0"/>
        <a:buNone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yongdanielliang.github.io/animation/web/Stack.html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stack-visualizer-wheat.vercel.app/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towersofhanoi.info/Animate.aspx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Programming Fundamentals</a:t>
            </a: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Week – 01</a:t>
            </a:r>
          </a:p>
          <a:p>
            <a:endParaRPr lang="en-US" dirty="0"/>
          </a:p>
          <a:p>
            <a:r>
              <a:rPr lang="en-US" sz="1400" dirty="0"/>
              <a:t>by Abeeha Sattar</a:t>
            </a:r>
          </a:p>
        </p:txBody>
      </p:sp>
    </p:spTree>
    <p:extLst>
      <p:ext uri="{BB962C8B-B14F-4D97-AF65-F5344CB8AC3E}">
        <p14:creationId xmlns:p14="http://schemas.microsoft.com/office/powerpoint/2010/main" val="3998018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C168D-BC01-ECF5-208C-7634ACC0B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Nested Function Calls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2F72DA-AA66-0E1B-BC87-C468C3894A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1646" y="1901952"/>
            <a:ext cx="6101862" cy="4630733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Calling a function from the body of another function.</a:t>
            </a:r>
          </a:p>
          <a:p>
            <a:pPr marL="45720" indent="0">
              <a:buNone/>
            </a:pPr>
            <a:r>
              <a:rPr lang="en-US" dirty="0">
                <a:latin typeface="Consolas" panose="020B0609020204030204" pitchFamily="49" charset="0"/>
              </a:rPr>
              <a:t>float sum (float </a:t>
            </a:r>
            <a:r>
              <a:rPr lang="en-US" dirty="0" err="1">
                <a:latin typeface="Consolas" panose="020B0609020204030204" pitchFamily="49" charset="0"/>
              </a:rPr>
              <a:t>arr</a:t>
            </a:r>
            <a:r>
              <a:rPr lang="en-US" dirty="0">
                <a:latin typeface="Consolas" panose="020B0609020204030204" pitchFamily="49" charset="0"/>
              </a:rPr>
              <a:t>[], int size) {</a:t>
            </a:r>
          </a:p>
          <a:p>
            <a:pPr marL="45720" indent="0">
              <a:buNone/>
            </a:pPr>
            <a:r>
              <a:rPr lang="en-US" dirty="0">
                <a:latin typeface="Consolas" panose="020B0609020204030204" pitchFamily="49" charset="0"/>
              </a:rPr>
              <a:t>	float sum;</a:t>
            </a:r>
          </a:p>
          <a:p>
            <a:pPr marL="45720" indent="0">
              <a:buNone/>
            </a:pPr>
            <a:r>
              <a:rPr lang="en-US" dirty="0">
                <a:latin typeface="Consolas" panose="020B0609020204030204" pitchFamily="49" charset="0"/>
              </a:rPr>
              <a:t>	for (int 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 = 0; 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&lt; size; 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++)</a:t>
            </a:r>
          </a:p>
          <a:p>
            <a:pPr marL="45720" indent="0">
              <a:buNone/>
            </a:pPr>
            <a:r>
              <a:rPr lang="en-US" dirty="0">
                <a:latin typeface="Consolas" panose="020B0609020204030204" pitchFamily="49" charset="0"/>
              </a:rPr>
              <a:t>		sum +=</a:t>
            </a:r>
            <a:r>
              <a:rPr lang="en-US" dirty="0" err="1">
                <a:latin typeface="Consolas" panose="020B0609020204030204" pitchFamily="49" charset="0"/>
              </a:rPr>
              <a:t>arr</a:t>
            </a:r>
            <a:r>
              <a:rPr lang="en-US" dirty="0">
                <a:latin typeface="Consolas" panose="020B0609020204030204" pitchFamily="49" charset="0"/>
              </a:rPr>
              <a:t>[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];</a:t>
            </a:r>
          </a:p>
          <a:p>
            <a:pPr marL="45720" indent="0">
              <a:buNone/>
            </a:pPr>
            <a:r>
              <a:rPr lang="en-US" dirty="0">
                <a:latin typeface="Consolas" panose="020B0609020204030204" pitchFamily="49" charset="0"/>
              </a:rPr>
              <a:t>	return sum;</a:t>
            </a:r>
          </a:p>
          <a:p>
            <a:pPr marL="45720" indent="0">
              <a:buNone/>
            </a:pPr>
            <a:r>
              <a:rPr lang="en-US" dirty="0">
                <a:latin typeface="Consolas" panose="020B0609020204030204" pitchFamily="49" charset="0"/>
              </a:rPr>
              <a:t>}</a:t>
            </a:r>
          </a:p>
          <a:p>
            <a:pPr marL="45720" indent="0">
              <a:buNone/>
            </a:pPr>
            <a:r>
              <a:rPr lang="en-US" dirty="0">
                <a:latin typeface="Consolas" panose="020B0609020204030204" pitchFamily="49" charset="0"/>
              </a:rPr>
              <a:t>float average(float </a:t>
            </a:r>
            <a:r>
              <a:rPr lang="en-US" dirty="0" err="1">
                <a:latin typeface="Consolas" panose="020B0609020204030204" pitchFamily="49" charset="0"/>
              </a:rPr>
              <a:t>arr</a:t>
            </a:r>
            <a:r>
              <a:rPr lang="en-US" dirty="0">
                <a:latin typeface="Consolas" panose="020B0609020204030204" pitchFamily="49" charset="0"/>
              </a:rPr>
              <a:t>[], int size) {</a:t>
            </a:r>
          </a:p>
          <a:p>
            <a:pPr marL="45720" indent="0">
              <a:buNone/>
            </a:pPr>
            <a:r>
              <a:rPr lang="en-US" dirty="0">
                <a:latin typeface="Consolas" panose="020B0609020204030204" pitchFamily="49" charset="0"/>
              </a:rPr>
              <a:t>	float avg = sum(</a:t>
            </a:r>
            <a:r>
              <a:rPr lang="en-US" dirty="0" err="1">
                <a:latin typeface="Consolas" panose="020B0609020204030204" pitchFamily="49" charset="0"/>
              </a:rPr>
              <a:t>arr</a:t>
            </a:r>
            <a:r>
              <a:rPr lang="en-US" dirty="0">
                <a:latin typeface="Consolas" panose="020B0609020204030204" pitchFamily="49" charset="0"/>
              </a:rPr>
              <a:t>, size)/size;</a:t>
            </a:r>
          </a:p>
          <a:p>
            <a:pPr marL="45720" indent="0">
              <a:buNone/>
            </a:pPr>
            <a:r>
              <a:rPr lang="en-US" dirty="0">
                <a:latin typeface="Consolas" panose="020B0609020204030204" pitchFamily="49" charset="0"/>
              </a:rPr>
              <a:t>	return avg;</a:t>
            </a:r>
          </a:p>
          <a:p>
            <a:pPr marL="45720" indent="0">
              <a:buNone/>
            </a:pPr>
            <a:r>
              <a:rPr lang="en-US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81FFB1-CEF4-7A88-1B76-08A885DC5440}"/>
              </a:ext>
            </a:extLst>
          </p:cNvPr>
          <p:cNvSpPr txBox="1"/>
          <p:nvPr/>
        </p:nvSpPr>
        <p:spPr>
          <a:xfrm>
            <a:off x="5943600" y="3340154"/>
            <a:ext cx="6248400" cy="1754326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US" dirty="0">
                <a:solidFill>
                  <a:schemeClr val="tx2"/>
                </a:solidFill>
                <a:latin typeface="Consolas" panose="020B0609020204030204" pitchFamily="49" charset="0"/>
              </a:rPr>
              <a:t>int main() {</a:t>
            </a:r>
          </a:p>
          <a:p>
            <a:r>
              <a:rPr lang="en-US" dirty="0">
                <a:solidFill>
                  <a:schemeClr val="tx2"/>
                </a:solidFill>
                <a:latin typeface="Consolas" panose="020B0609020204030204" pitchFamily="49" charset="0"/>
              </a:rPr>
              <a:t>	float </a:t>
            </a:r>
            <a:r>
              <a:rPr lang="en-US" dirty="0" err="1">
                <a:solidFill>
                  <a:schemeClr val="tx2"/>
                </a:solidFill>
                <a:latin typeface="Consolas" panose="020B0609020204030204" pitchFamily="49" charset="0"/>
              </a:rPr>
              <a:t>myArr</a:t>
            </a:r>
            <a:r>
              <a:rPr lang="en-US" dirty="0">
                <a:solidFill>
                  <a:schemeClr val="tx2"/>
                </a:solidFill>
                <a:latin typeface="Consolas" panose="020B0609020204030204" pitchFamily="49" charset="0"/>
              </a:rPr>
              <a:t>[] = {1,2,3,4,5,6,7,8,9,9.5};</a:t>
            </a:r>
          </a:p>
          <a:p>
            <a:r>
              <a:rPr lang="en-US" dirty="0">
                <a:solidFill>
                  <a:schemeClr val="tx2"/>
                </a:solidFill>
                <a:latin typeface="Consolas" panose="020B0609020204030204" pitchFamily="49" charset="0"/>
              </a:rPr>
              <a:t>	</a:t>
            </a:r>
            <a:r>
              <a:rPr lang="en-US" dirty="0" err="1">
                <a:solidFill>
                  <a:schemeClr val="tx2"/>
                </a:solidFill>
                <a:latin typeface="Consolas" panose="020B0609020204030204" pitchFamily="49" charset="0"/>
              </a:rPr>
              <a:t>printf</a:t>
            </a:r>
            <a:r>
              <a:rPr lang="en-US" dirty="0">
                <a:solidFill>
                  <a:schemeClr val="tx2"/>
                </a:solidFill>
                <a:latin typeface="Consolas" panose="020B0609020204030204" pitchFamily="49" charset="0"/>
              </a:rPr>
              <a:t>("%.2f", average(</a:t>
            </a:r>
            <a:r>
              <a:rPr lang="en-US" dirty="0" err="1">
                <a:solidFill>
                  <a:schemeClr val="tx2"/>
                </a:solidFill>
                <a:latin typeface="Consolas" panose="020B0609020204030204" pitchFamily="49" charset="0"/>
              </a:rPr>
              <a:t>myArr</a:t>
            </a:r>
            <a:r>
              <a:rPr lang="en-US" dirty="0">
                <a:solidFill>
                  <a:schemeClr val="tx2"/>
                </a:solidFill>
                <a:latin typeface="Consolas" panose="020B0609020204030204" pitchFamily="49" charset="0"/>
              </a:rPr>
              <a:t>, 10));</a:t>
            </a:r>
          </a:p>
          <a:p>
            <a:r>
              <a:rPr lang="en-US" dirty="0">
                <a:solidFill>
                  <a:schemeClr val="tx2"/>
                </a:solidFill>
                <a:latin typeface="Consolas" panose="020B0609020204030204" pitchFamily="49" charset="0"/>
              </a:rPr>
              <a:t>	</a:t>
            </a:r>
          </a:p>
          <a:p>
            <a:r>
              <a:rPr lang="en-US" dirty="0">
                <a:solidFill>
                  <a:schemeClr val="tx2"/>
                </a:solidFill>
                <a:latin typeface="Consolas" panose="020B0609020204030204" pitchFamily="49" charset="0"/>
              </a:rPr>
              <a:t>	return 0;</a:t>
            </a:r>
          </a:p>
          <a:p>
            <a:r>
              <a:rPr lang="en-US" dirty="0">
                <a:solidFill>
                  <a:schemeClr val="tx2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63863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F5B6E-D70F-03A9-9FA3-B7F835391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is it handled behind the scenes?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8540EB-E9E5-56A7-EE04-D383C3624F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b="1" dirty="0"/>
              <a:t>Call Stack</a:t>
            </a:r>
            <a:r>
              <a:rPr lang="en-US" dirty="0"/>
              <a:t>!!</a:t>
            </a:r>
          </a:p>
          <a:p>
            <a:r>
              <a:rPr lang="en-US" dirty="0"/>
              <a:t>It’s used to manage function calls, arguments and local variables.</a:t>
            </a:r>
          </a:p>
          <a:p>
            <a:r>
              <a:rPr lang="en-US" dirty="0"/>
              <a:t>Before we  do anything let’s talk about stacks!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5FFF33-5CCD-C73F-29E3-B3B5B58212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8541" y="3429000"/>
            <a:ext cx="5065698" cy="287415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19099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46FBC-4F76-3526-E465-32BB1AC3B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a Stack?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A96FD8-73D0-CFAF-C6F2-F1AB9056BB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It’s a data structure that operates in a “LIFO” manner (Last-In-First-Out).</a:t>
            </a:r>
          </a:p>
          <a:p>
            <a:r>
              <a:rPr lang="en-US" dirty="0"/>
              <a:t>It doesn’t allow you to access it’s elements randomly.</a:t>
            </a:r>
          </a:p>
          <a:p>
            <a:endParaRPr lang="en-US" dirty="0"/>
          </a:p>
          <a:p>
            <a:r>
              <a:rPr lang="en-US" dirty="0"/>
              <a:t>You can add or “PUSH” things on top of the stack.</a:t>
            </a:r>
          </a:p>
          <a:p>
            <a:r>
              <a:rPr lang="en-US" dirty="0"/>
              <a:t>You can remove or “POP” things out of top of the stack.</a:t>
            </a:r>
          </a:p>
          <a:p>
            <a:r>
              <a:rPr lang="en-US" dirty="0"/>
              <a:t>You can look at or “PEEK” at the top of the stack.</a:t>
            </a:r>
          </a:p>
          <a:p>
            <a:r>
              <a:rPr lang="en-US" dirty="0"/>
              <a:t>You cannot interact with anything that is not at the top of the stack.</a:t>
            </a:r>
          </a:p>
          <a:p>
            <a:r>
              <a:rPr lang="en-US" dirty="0"/>
              <a:t>Visualization: </a:t>
            </a:r>
            <a:r>
              <a:rPr lang="en-US" sz="1800" dirty="0">
                <a:solidFill>
                  <a:schemeClr val="accent2">
                    <a:lumMod val="75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https://yongdanielliang.github.io/animation/web/Stack.html</a:t>
            </a:r>
            <a:endParaRPr lang="en-US" sz="1800" dirty="0">
              <a:solidFill>
                <a:schemeClr val="accent2">
                  <a:lumMod val="75000"/>
                </a:schemeClr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8991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97ABB4F-BD11-E58E-FA8D-0334E3109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is the call stack?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5D59002-001F-EE5A-4B17-3BB31B633B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Let’s first see how memory is handled in C.</a:t>
            </a:r>
          </a:p>
          <a:p>
            <a:endParaRPr lang="en-US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424F461-DBA7-4DD2-09F9-9987DEFD8A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0712696"/>
              </p:ext>
            </p:extLst>
          </p:nvPr>
        </p:nvGraphicFramePr>
        <p:xfrm>
          <a:off x="3613637" y="2465950"/>
          <a:ext cx="3464171" cy="3688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64171">
                  <a:extLst>
                    <a:ext uri="{9D8B030D-6E8A-4147-A177-3AD203B41FA5}">
                      <a16:colId xmlns:a16="http://schemas.microsoft.com/office/drawing/2014/main" val="38793296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Command Line Arguments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73182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Stack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74386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(stack expands downwards)</a:t>
                      </a:r>
                    </a:p>
                    <a:p>
                      <a:pPr algn="ctr"/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↓</a:t>
                      </a:r>
                    </a:p>
                    <a:p>
                      <a:pPr algn="ctr"/>
                      <a:endParaRPr lang="en-US" dirty="0">
                        <a:solidFill>
                          <a:schemeClr val="tx2"/>
                        </a:solidFill>
                      </a:endParaRPr>
                    </a:p>
                    <a:p>
                      <a:pPr algn="ctr"/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↑</a:t>
                      </a:r>
                    </a:p>
                    <a:p>
                      <a:pPr algn="ctr"/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(heap expands upwards)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223261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Heap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05137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Uninitialized Data (</a:t>
                      </a:r>
                      <a:r>
                        <a:rPr lang="en-US" dirty="0" err="1">
                          <a:solidFill>
                            <a:schemeClr val="tx2"/>
                          </a:solidFill>
                        </a:rPr>
                        <a:t>bss</a:t>
                      </a:r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0609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Initialized Data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72554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Text/Code Segment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90183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0671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43923-AF72-80C6-1658-0E51C682D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Layout of a C Program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BBDD11-873E-97BC-5D12-15FB9E798F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Text Segment:</a:t>
            </a:r>
          </a:p>
          <a:p>
            <a:pPr lvl="1"/>
            <a:r>
              <a:rPr lang="en-US" dirty="0"/>
              <a:t>It contains the executable code for the program – functions, and other instructions	</a:t>
            </a:r>
          </a:p>
          <a:p>
            <a:pPr lvl="1"/>
            <a:r>
              <a:rPr lang="en-US" dirty="0"/>
              <a:t>Read-Only – you don’t want the function to accidentally get changed during execution</a:t>
            </a:r>
          </a:p>
          <a:p>
            <a:r>
              <a:rPr lang="en-US" dirty="0"/>
              <a:t>Data Segment:</a:t>
            </a:r>
          </a:p>
          <a:p>
            <a:pPr lvl="1"/>
            <a:r>
              <a:rPr lang="en-US" dirty="0"/>
              <a:t>Contains initialized and uninitialized data segments. </a:t>
            </a:r>
          </a:p>
          <a:p>
            <a:pPr lvl="1"/>
            <a:r>
              <a:rPr lang="en-US" dirty="0"/>
              <a:t>Contains global and static variables.</a:t>
            </a:r>
          </a:p>
          <a:p>
            <a:pPr lvl="1"/>
            <a:r>
              <a:rPr lang="en-US" dirty="0"/>
              <a:t>If a variable is initialized it goes into the initialized data segment, otherwise it goes to the uninitialized one.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2917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61F9F8-8CC2-2C63-1F02-D4F944196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D5374-B030-6C77-D6B0-9B8131AFA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Layout of a C Program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B8E57E-10CD-8D6F-6B0E-2AE6365651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Heap Segment:</a:t>
            </a:r>
          </a:p>
          <a:p>
            <a:pPr lvl="1"/>
            <a:r>
              <a:rPr lang="en-US" dirty="0"/>
              <a:t>Dynamically allocated things go here.</a:t>
            </a:r>
          </a:p>
          <a:p>
            <a:pPr lvl="1"/>
            <a:r>
              <a:rPr lang="en-US" dirty="0"/>
              <a:t>We manage memory by using free(), malloc(), </a:t>
            </a:r>
            <a:r>
              <a:rPr lang="en-US" dirty="0" err="1"/>
              <a:t>realloc</a:t>
            </a:r>
            <a:r>
              <a:rPr lang="en-US" dirty="0"/>
              <a:t>(), etc.</a:t>
            </a:r>
          </a:p>
          <a:p>
            <a:r>
              <a:rPr lang="en-US" dirty="0"/>
              <a:t>Stack Segment:</a:t>
            </a:r>
          </a:p>
          <a:p>
            <a:pPr lvl="1"/>
            <a:r>
              <a:rPr lang="en-US" dirty="0"/>
              <a:t>Stores the local variables, function parameters, return addresses for the function call.</a:t>
            </a:r>
          </a:p>
          <a:p>
            <a:pPr lvl="1"/>
            <a:r>
              <a:rPr lang="en-US" dirty="0"/>
              <a:t>Whenever a function is called, it creates a frame in the stack with all of the above information</a:t>
            </a:r>
          </a:p>
          <a:p>
            <a:r>
              <a:rPr lang="en-US" dirty="0"/>
              <a:t>Command Line Arguments:</a:t>
            </a:r>
          </a:p>
          <a:p>
            <a:pPr lvl="1"/>
            <a:r>
              <a:rPr lang="en-US" dirty="0"/>
              <a:t>If you run the program using CLI and pass some arguments to the main function, those arguments are stored here.</a:t>
            </a:r>
          </a:p>
        </p:txBody>
      </p:sp>
    </p:spTree>
    <p:extLst>
      <p:ext uri="{BB962C8B-B14F-4D97-AF65-F5344CB8AC3E}">
        <p14:creationId xmlns:p14="http://schemas.microsoft.com/office/powerpoint/2010/main" val="2433323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4C06E-CCB9-B4F2-CDC5-80B171935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Recursion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F5C9FA1-3207-F827-DC1E-7DBF72F240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508" t="195" r="1986" b="-195"/>
          <a:stretch>
            <a:fillRect/>
          </a:stretch>
        </p:blipFill>
        <p:spPr>
          <a:xfrm>
            <a:off x="7310849" y="1700784"/>
            <a:ext cx="4881151" cy="4786923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BD57D05-421F-B1CF-3915-7349F0347B36}"/>
              </a:ext>
            </a:extLst>
          </p:cNvPr>
          <p:cNvSpPr txBox="1"/>
          <p:nvPr/>
        </p:nvSpPr>
        <p:spPr>
          <a:xfrm>
            <a:off x="1094936" y="2373650"/>
            <a:ext cx="4681949" cy="3693319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1">
            <a:sp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A function calling itself is recursion.</a:t>
            </a:r>
          </a:p>
          <a:p>
            <a:endParaRPr lang="en-US" dirty="0">
              <a:solidFill>
                <a:schemeClr val="tx2"/>
              </a:solidFill>
            </a:endParaRPr>
          </a:p>
          <a:p>
            <a:endParaRPr lang="en-US" dirty="0">
              <a:solidFill>
                <a:schemeClr val="tx2"/>
              </a:solidFill>
            </a:endParaRPr>
          </a:p>
          <a:p>
            <a:r>
              <a:rPr lang="en-US" dirty="0">
                <a:solidFill>
                  <a:schemeClr val="tx2"/>
                </a:solidFill>
              </a:rPr>
              <a:t>void </a:t>
            </a:r>
            <a:r>
              <a:rPr lang="en-US" dirty="0" err="1">
                <a:solidFill>
                  <a:schemeClr val="tx2"/>
                </a:solidFill>
              </a:rPr>
              <a:t>isthisRecursion</a:t>
            </a:r>
            <a:r>
              <a:rPr lang="en-US" dirty="0">
                <a:solidFill>
                  <a:schemeClr val="tx2"/>
                </a:solidFill>
              </a:rPr>
              <a:t>(){</a:t>
            </a:r>
          </a:p>
          <a:p>
            <a:r>
              <a:rPr lang="en-US" dirty="0">
                <a:solidFill>
                  <a:schemeClr val="tx2"/>
                </a:solidFill>
              </a:rPr>
              <a:t>	</a:t>
            </a:r>
            <a:r>
              <a:rPr lang="en-US" dirty="0" err="1">
                <a:solidFill>
                  <a:schemeClr val="tx2"/>
                </a:solidFill>
              </a:rPr>
              <a:t>isthisRecursion</a:t>
            </a:r>
            <a:r>
              <a:rPr lang="en-US" dirty="0">
                <a:solidFill>
                  <a:schemeClr val="tx2"/>
                </a:solidFill>
              </a:rPr>
              <a:t>();</a:t>
            </a:r>
          </a:p>
          <a:p>
            <a:r>
              <a:rPr lang="en-US" dirty="0">
                <a:solidFill>
                  <a:schemeClr val="tx2"/>
                </a:solidFill>
              </a:rPr>
              <a:t>}</a:t>
            </a:r>
          </a:p>
          <a:p>
            <a:endParaRPr lang="en-US" dirty="0">
              <a:solidFill>
                <a:schemeClr val="tx2"/>
              </a:solidFill>
            </a:endParaRPr>
          </a:p>
          <a:p>
            <a:r>
              <a:rPr lang="en-US" dirty="0">
                <a:solidFill>
                  <a:schemeClr val="tx2"/>
                </a:solidFill>
              </a:rPr>
              <a:t>int main () {</a:t>
            </a:r>
          </a:p>
          <a:p>
            <a:r>
              <a:rPr lang="en-US" dirty="0">
                <a:solidFill>
                  <a:schemeClr val="tx2"/>
                </a:solidFill>
              </a:rPr>
              <a:t>	 </a:t>
            </a:r>
            <a:r>
              <a:rPr lang="en-US" dirty="0" err="1">
                <a:solidFill>
                  <a:schemeClr val="tx2"/>
                </a:solidFill>
              </a:rPr>
              <a:t>isthisRecursion</a:t>
            </a:r>
            <a:r>
              <a:rPr lang="en-US" dirty="0">
                <a:solidFill>
                  <a:schemeClr val="tx2"/>
                </a:solidFill>
              </a:rPr>
              <a:t>();</a:t>
            </a:r>
          </a:p>
          <a:p>
            <a:r>
              <a:rPr lang="en-US" dirty="0">
                <a:solidFill>
                  <a:schemeClr val="tx2"/>
                </a:solidFill>
              </a:rPr>
              <a:t>}</a:t>
            </a:r>
          </a:p>
          <a:p>
            <a:endParaRPr lang="en-US" dirty="0">
              <a:solidFill>
                <a:schemeClr val="tx2"/>
              </a:solidFill>
            </a:endParaRPr>
          </a:p>
          <a:p>
            <a:endParaRPr lang="en-US" dirty="0">
              <a:solidFill>
                <a:schemeClr val="tx2"/>
              </a:solidFill>
            </a:endParaRPr>
          </a:p>
          <a:p>
            <a:endParaRPr 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4435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352E9-6B4C-EE08-F68E-69E4D778D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89BE22-9A16-BB05-F15F-A62A3B2E4E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1120" y="1901952"/>
            <a:ext cx="9509760" cy="4419717"/>
          </a:xfrm>
        </p:spPr>
        <p:txBody>
          <a:bodyPr/>
          <a:lstStyle/>
          <a:p>
            <a:r>
              <a:rPr lang="en-US" dirty="0"/>
              <a:t>The good </a:t>
            </a:r>
            <a:r>
              <a:rPr lang="en-US" dirty="0" err="1"/>
              <a:t>ol</a:t>
            </a:r>
            <a:r>
              <a:rPr lang="en-US" dirty="0"/>
              <a:t>’ factorial:</a:t>
            </a:r>
          </a:p>
          <a:p>
            <a:endParaRPr lang="en-US" dirty="0"/>
          </a:p>
          <a:p>
            <a:r>
              <a:rPr lang="en-US" dirty="0"/>
              <a:t>Calculate the factorial of 5.</a:t>
            </a:r>
          </a:p>
          <a:p>
            <a:r>
              <a:rPr lang="en-US" dirty="0"/>
              <a:t>5! = ???</a:t>
            </a:r>
          </a:p>
          <a:p>
            <a:r>
              <a:rPr lang="en-US" dirty="0"/>
              <a:t>5! = 5*4*3*2*1</a:t>
            </a:r>
          </a:p>
          <a:p>
            <a:r>
              <a:rPr lang="en-US" dirty="0"/>
              <a:t>Or… </a:t>
            </a:r>
          </a:p>
          <a:p>
            <a:pPr lvl="1"/>
            <a:r>
              <a:rPr lang="en-US" dirty="0"/>
              <a:t>5! = 5*4! = 5*4*3! = 5*4*3*2! = 5*4*3*2*1! = 5*4*3*2*1</a:t>
            </a:r>
          </a:p>
        </p:txBody>
      </p:sp>
    </p:spTree>
    <p:extLst>
      <p:ext uri="{BB962C8B-B14F-4D97-AF65-F5344CB8AC3E}">
        <p14:creationId xmlns:p14="http://schemas.microsoft.com/office/powerpoint/2010/main" val="14929517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2BFA6-AB83-4C7D-5A50-4DA499466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Factorials </a:t>
            </a:r>
            <a:r>
              <a:rPr lang="en-US" dirty="0" err="1"/>
              <a:t>contd</a:t>
            </a:r>
            <a:r>
              <a:rPr lang="en-US" dirty="0"/>
              <a:t>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833842-D6BE-6AA6-DE97-7AAB3E4251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45720" indent="0">
              <a:buNone/>
            </a:pPr>
            <a:r>
              <a:rPr lang="en-US" dirty="0"/>
              <a:t>fac(5) = 5*fac(4)</a:t>
            </a:r>
          </a:p>
          <a:p>
            <a:pPr marL="1325880" lvl="4" indent="0">
              <a:buNone/>
            </a:pPr>
            <a:r>
              <a:rPr lang="en-US" sz="2000" dirty="0"/>
              <a:t>fac(4) = 4*fac(3)</a:t>
            </a:r>
          </a:p>
          <a:p>
            <a:pPr marL="2286000" lvl="7" indent="0">
              <a:buNone/>
            </a:pPr>
            <a:r>
              <a:rPr lang="en-US" sz="2000" dirty="0"/>
              <a:t>     fac(3) = 3*fac(2)</a:t>
            </a:r>
          </a:p>
          <a:p>
            <a:pPr marL="45720" indent="0">
              <a:buNone/>
            </a:pPr>
            <a:r>
              <a:rPr lang="en-US" dirty="0"/>
              <a:t>				    fac(2) = 2*fac(1)</a:t>
            </a:r>
          </a:p>
          <a:p>
            <a:pPr marL="45720" indent="0">
              <a:buNone/>
            </a:pPr>
            <a:r>
              <a:rPr lang="en-US" dirty="0"/>
              <a:t>					          fac(1) = 1</a:t>
            </a:r>
          </a:p>
          <a:p>
            <a:pPr marL="45720" indent="0">
              <a:buNone/>
            </a:pPr>
            <a:endParaRPr lang="en-US" dirty="0"/>
          </a:p>
          <a:p>
            <a:pPr marL="45720" indent="0">
              <a:buNone/>
            </a:pPr>
            <a:r>
              <a:rPr lang="en-US" dirty="0"/>
              <a:t>We can generalize it as:</a:t>
            </a:r>
          </a:p>
          <a:p>
            <a:pPr marL="45720" indent="0">
              <a:buNone/>
            </a:pPr>
            <a:r>
              <a:rPr lang="en-US" dirty="0"/>
              <a:t>	fac(n) = n*fac(n-1) 		- You always need a stop condition.</a:t>
            </a:r>
          </a:p>
          <a:p>
            <a:pPr marL="45720" indent="0">
              <a:buNone/>
            </a:pPr>
            <a:r>
              <a:rPr lang="en-US" dirty="0"/>
              <a:t>					  We stop when n becomes 1.</a:t>
            </a:r>
          </a:p>
          <a:p>
            <a:pPr marL="4572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239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D3E31-D409-6BB6-0F43-78250EAD1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for Factorial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E1F89E-9F3A-3D6C-D3EF-6457307F96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" indent="0">
              <a:buNone/>
            </a:pPr>
            <a:r>
              <a:rPr lang="en-US" dirty="0"/>
              <a:t>int factorial( int n) { </a:t>
            </a:r>
          </a:p>
          <a:p>
            <a:pPr marL="45720" indent="0">
              <a:buNone/>
            </a:pPr>
            <a:r>
              <a:rPr lang="en-US" dirty="0"/>
              <a:t>	if (n==1) // Base case </a:t>
            </a:r>
          </a:p>
          <a:p>
            <a:pPr marL="45720" indent="0">
              <a:buNone/>
            </a:pPr>
            <a:r>
              <a:rPr lang="en-US" dirty="0"/>
              <a:t>		return 1; </a:t>
            </a:r>
          </a:p>
          <a:p>
            <a:pPr marL="45720" indent="0">
              <a:buNone/>
            </a:pPr>
            <a:r>
              <a:rPr lang="en-US" dirty="0"/>
              <a:t>	else // Recursive Case </a:t>
            </a:r>
          </a:p>
          <a:p>
            <a:pPr marL="45720" indent="0">
              <a:buNone/>
            </a:pPr>
            <a:r>
              <a:rPr lang="en-US" dirty="0"/>
              <a:t>		return n * factorial(n-1); </a:t>
            </a:r>
          </a:p>
          <a:p>
            <a:pPr marL="4572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2382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30EC8-1A4F-F25D-F7FB-DF8A288DD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Now let’s see how the stack works for this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4A44C7-67FD-1DC0-58EE-2973706DFF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1120" y="1828800"/>
            <a:ext cx="6607126" cy="4561840"/>
          </a:xfrm>
        </p:spPr>
        <p:txBody>
          <a:bodyPr/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https://stack-visualizer-wheat.vercel.app/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US" dirty="0"/>
              <a:t>Stuff is pushed into the stack in this order:</a:t>
            </a:r>
          </a:p>
          <a:p>
            <a:pPr lvl="1"/>
            <a:r>
              <a:rPr lang="en-US" sz="2400" dirty="0"/>
              <a:t>main: fac(5)</a:t>
            </a:r>
          </a:p>
          <a:p>
            <a:pPr lvl="1"/>
            <a:r>
              <a:rPr lang="en-US" sz="2400" dirty="0"/>
              <a:t>fac(5) : 5*fac(4)</a:t>
            </a:r>
          </a:p>
          <a:p>
            <a:pPr lvl="1"/>
            <a:r>
              <a:rPr lang="en-US" sz="2400" dirty="0"/>
              <a:t>fac(4) : 4*fac(3)</a:t>
            </a:r>
          </a:p>
          <a:p>
            <a:pPr lvl="1"/>
            <a:r>
              <a:rPr lang="en-US" sz="2400" dirty="0"/>
              <a:t>fac(3) : 3*fac(2)</a:t>
            </a:r>
          </a:p>
          <a:p>
            <a:pPr lvl="1"/>
            <a:r>
              <a:rPr lang="en-US" sz="2400" dirty="0"/>
              <a:t>fac(2) : 2*fac(1)</a:t>
            </a:r>
          </a:p>
          <a:p>
            <a:pPr lvl="1"/>
            <a:r>
              <a:rPr lang="en-US" sz="2400" dirty="0"/>
              <a:t>fac(1) : 1</a:t>
            </a:r>
          </a:p>
          <a:p>
            <a:r>
              <a:rPr lang="en-US" dirty="0"/>
              <a:t>Stuff is popped from the stack in the reverse order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867980C-3702-7574-0D74-B4F14F19D253}"/>
              </a:ext>
            </a:extLst>
          </p:cNvPr>
          <p:cNvSpPr txBox="1"/>
          <p:nvPr/>
        </p:nvSpPr>
        <p:spPr>
          <a:xfrm>
            <a:off x="4873869" y="2770892"/>
            <a:ext cx="3074377" cy="2677656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1">
            <a:spAutoFit/>
          </a:bodyPr>
          <a:lstStyle/>
          <a:p>
            <a:pPr marL="285750" indent="-285750">
              <a:buFont typeface="Wingdings" panose="05000000000000000000" pitchFamily="2" charset="2"/>
              <a:buChar char="à"/>
            </a:pPr>
            <a:r>
              <a:rPr lang="en-US" sz="2800" dirty="0">
                <a:solidFill>
                  <a:schemeClr val="tx2"/>
                </a:solidFill>
                <a:sym typeface="Wingdings" panose="05000000000000000000" pitchFamily="2" charset="2"/>
              </a:rPr>
              <a:t>receives 120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en-US" sz="2800" dirty="0">
                <a:solidFill>
                  <a:schemeClr val="tx2"/>
                </a:solidFill>
                <a:sym typeface="Wingdings" panose="05000000000000000000" pitchFamily="2" charset="2"/>
              </a:rPr>
              <a:t>returns 5*24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en-US" sz="2800" dirty="0">
                <a:solidFill>
                  <a:schemeClr val="tx2"/>
                </a:solidFill>
                <a:sym typeface="Wingdings" panose="05000000000000000000" pitchFamily="2" charset="2"/>
              </a:rPr>
              <a:t>returns 4*6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en-US" sz="2800" dirty="0">
                <a:solidFill>
                  <a:schemeClr val="tx2"/>
                </a:solidFill>
                <a:sym typeface="Wingdings" panose="05000000000000000000" pitchFamily="2" charset="2"/>
              </a:rPr>
              <a:t>returns 3*2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en-US" sz="2800" dirty="0">
                <a:solidFill>
                  <a:schemeClr val="tx2"/>
                </a:solidFill>
                <a:sym typeface="Wingdings" panose="05000000000000000000" pitchFamily="2" charset="2"/>
              </a:rPr>
              <a:t>returns 2*1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en-US" sz="2800" dirty="0">
                <a:solidFill>
                  <a:schemeClr val="tx2"/>
                </a:solidFill>
                <a:sym typeface="Wingdings" panose="05000000000000000000" pitchFamily="2" charset="2"/>
              </a:rPr>
              <a:t>returns 1</a:t>
            </a:r>
          </a:p>
        </p:txBody>
      </p:sp>
    </p:spTree>
    <p:extLst>
      <p:ext uri="{BB962C8B-B14F-4D97-AF65-F5344CB8AC3E}">
        <p14:creationId xmlns:p14="http://schemas.microsoft.com/office/powerpoint/2010/main" val="3984299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B4A88-4B0D-5879-9F57-4A64B0DEC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Try something simple for yourselves: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04DE1F-73C1-D75C-C8EC-76D8242484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can replicate things you have already done with loops, but instead with recursion.</a:t>
            </a:r>
          </a:p>
          <a:p>
            <a:r>
              <a:rPr lang="en-US" dirty="0"/>
              <a:t>Simplest thing you can try:</a:t>
            </a:r>
          </a:p>
          <a:p>
            <a:pPr lvl="1"/>
            <a:r>
              <a:rPr lang="en-US" dirty="0"/>
              <a:t>Write numbers from 1 to N, where N is provided by the user.</a:t>
            </a:r>
          </a:p>
          <a:p>
            <a:pPr lvl="1"/>
            <a:r>
              <a:rPr lang="en-US" dirty="0"/>
              <a:t>Write the table of N, where N is provided by the user.</a:t>
            </a:r>
          </a:p>
          <a:p>
            <a:pPr lvl="1"/>
            <a:endParaRPr lang="en-US" dirty="0"/>
          </a:p>
          <a:p>
            <a:r>
              <a:rPr lang="en-US" dirty="0"/>
              <a:t>Something new, the Fibonacci sequence. In this sequence, the n</a:t>
            </a:r>
            <a:r>
              <a:rPr lang="en-US" baseline="30000" dirty="0"/>
              <a:t>th</a:t>
            </a:r>
            <a:r>
              <a:rPr lang="en-US" dirty="0"/>
              <a:t> term is the sum of its preceding two terms.</a:t>
            </a:r>
          </a:p>
          <a:p>
            <a:r>
              <a:rPr lang="en-US" dirty="0"/>
              <a:t>0, 1, 1, 2, 3, 5, 8, 13, 21, …</a:t>
            </a:r>
          </a:p>
          <a:p>
            <a:pPr lvl="1"/>
            <a:r>
              <a:rPr lang="en-US" dirty="0"/>
              <a:t>What’s the base case here? What’s the recursive case?</a:t>
            </a:r>
          </a:p>
        </p:txBody>
      </p:sp>
    </p:spTree>
    <p:extLst>
      <p:ext uri="{BB962C8B-B14F-4D97-AF65-F5344CB8AC3E}">
        <p14:creationId xmlns:p14="http://schemas.microsoft.com/office/powerpoint/2010/main" val="1754141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D3E83-9DE2-2071-F333-E666A224AB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Getting the n</a:t>
            </a:r>
            <a:r>
              <a:rPr lang="en-US" baseline="30000" dirty="0"/>
              <a:t>th</a:t>
            </a:r>
            <a:r>
              <a:rPr lang="en-US" dirty="0"/>
              <a:t> Term in the Sequence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84E3BB-3D2C-23BA-CA88-A3782C76DA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45720" indent="0">
              <a:buNone/>
            </a:pPr>
            <a:r>
              <a:rPr lang="en-US" dirty="0"/>
              <a:t>int </a:t>
            </a:r>
            <a:r>
              <a:rPr lang="en-US" dirty="0" err="1"/>
              <a:t>fibonacci</a:t>
            </a:r>
            <a:r>
              <a:rPr lang="en-US" dirty="0"/>
              <a:t>(int num) {</a:t>
            </a:r>
          </a:p>
          <a:p>
            <a:pPr marL="45720" indent="0">
              <a:buNone/>
            </a:pPr>
            <a:r>
              <a:rPr lang="en-US" dirty="0"/>
              <a:t>	if (num == 1) {					</a:t>
            </a:r>
          </a:p>
          <a:p>
            <a:pPr marL="45720" indent="0">
              <a:buNone/>
            </a:pPr>
            <a:r>
              <a:rPr lang="en-US" dirty="0"/>
              <a:t>		return 0;</a:t>
            </a:r>
          </a:p>
          <a:p>
            <a:pPr marL="45720" indent="0">
              <a:buNone/>
            </a:pPr>
            <a:r>
              <a:rPr lang="en-US" dirty="0"/>
              <a:t>	} else if (num == 2) {</a:t>
            </a:r>
          </a:p>
          <a:p>
            <a:pPr marL="45720" indent="0">
              <a:buNone/>
            </a:pPr>
            <a:r>
              <a:rPr lang="en-US" dirty="0"/>
              <a:t>		return 1;</a:t>
            </a:r>
          </a:p>
          <a:p>
            <a:pPr marL="45720" indent="0">
              <a:buNone/>
            </a:pPr>
            <a:r>
              <a:rPr lang="en-US" dirty="0"/>
              <a:t>	} else {</a:t>
            </a:r>
          </a:p>
          <a:p>
            <a:pPr marL="45720" indent="0">
              <a:buNone/>
            </a:pPr>
            <a:r>
              <a:rPr lang="en-US" dirty="0"/>
              <a:t>		return </a:t>
            </a:r>
            <a:r>
              <a:rPr lang="en-US" dirty="0" err="1"/>
              <a:t>fibonacci</a:t>
            </a:r>
            <a:r>
              <a:rPr lang="en-US" dirty="0"/>
              <a:t>(num-1) + </a:t>
            </a:r>
            <a:r>
              <a:rPr lang="en-US" dirty="0" err="1"/>
              <a:t>fibonacci</a:t>
            </a:r>
            <a:r>
              <a:rPr lang="en-US" dirty="0"/>
              <a:t>(num-2);		</a:t>
            </a:r>
          </a:p>
          <a:p>
            <a:pPr marL="45720" indent="0">
              <a:buNone/>
            </a:pPr>
            <a:r>
              <a:rPr lang="en-US" dirty="0"/>
              <a:t>	}</a:t>
            </a:r>
          </a:p>
          <a:p>
            <a:pPr marL="4572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74640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3A66A-A086-1FED-CB41-F79827802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print the sequence recursively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C3A05-7E0D-41ED-919E-BFD5B3FB92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" indent="0">
              <a:buNone/>
            </a:pPr>
            <a:r>
              <a:rPr lang="en-US" dirty="0"/>
              <a:t>void </a:t>
            </a:r>
            <a:r>
              <a:rPr lang="en-US" dirty="0" err="1"/>
              <a:t>printFibonacci</a:t>
            </a:r>
            <a:r>
              <a:rPr lang="en-US" dirty="0"/>
              <a:t>(int n, int a, int b) {</a:t>
            </a:r>
          </a:p>
          <a:p>
            <a:pPr marL="45720" indent="0">
              <a:buNone/>
            </a:pPr>
            <a:r>
              <a:rPr lang="en-US" dirty="0"/>
              <a:t>	if (n == 0) //base case</a:t>
            </a:r>
          </a:p>
          <a:p>
            <a:pPr marL="45720" indent="0">
              <a:buNone/>
            </a:pPr>
            <a:r>
              <a:rPr lang="en-US" dirty="0"/>
              <a:t>		return ;	</a:t>
            </a:r>
          </a:p>
          <a:p>
            <a:pPr marL="45720" indent="0">
              <a:buNone/>
            </a:pPr>
            <a:r>
              <a:rPr lang="en-US" dirty="0"/>
              <a:t>	</a:t>
            </a:r>
            <a:r>
              <a:rPr lang="en-US" dirty="0" err="1"/>
              <a:t>printf</a:t>
            </a:r>
            <a:r>
              <a:rPr lang="en-US" dirty="0"/>
              <a:t>("%d ", a);</a:t>
            </a:r>
          </a:p>
          <a:p>
            <a:pPr marL="45720" indent="0">
              <a:buNone/>
            </a:pPr>
            <a:r>
              <a:rPr lang="en-US" dirty="0"/>
              <a:t>	</a:t>
            </a:r>
            <a:r>
              <a:rPr lang="en-US" dirty="0" err="1"/>
              <a:t>printFibonacci</a:t>
            </a:r>
            <a:r>
              <a:rPr lang="en-US" dirty="0"/>
              <a:t>(n - 1, b, a + b);  //recursive call</a:t>
            </a:r>
          </a:p>
          <a:p>
            <a:pPr marL="4572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80067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094A1-6D5B-8E66-CFBD-BDF57C32C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Now one of the Classic Problems…</a:t>
            </a:r>
            <a:br>
              <a:rPr lang="en-US" dirty="0"/>
            </a:br>
            <a:r>
              <a:rPr lang="en-US" dirty="0"/>
              <a:t>Towers of Hanoi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2CEE2B1-CE41-BFA3-952B-FAFBD2D987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41438" y="2058905"/>
            <a:ext cx="9509125" cy="381333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24D0114-0AED-C015-A5CF-1B8477686C31}"/>
              </a:ext>
            </a:extLst>
          </p:cNvPr>
          <p:cNvSpPr txBox="1"/>
          <p:nvPr/>
        </p:nvSpPr>
        <p:spPr>
          <a:xfrm>
            <a:off x="1341438" y="6093069"/>
            <a:ext cx="9509125" cy="378069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1">
            <a:spAutoFit/>
          </a:bodyPr>
          <a:lstStyle/>
          <a:p>
            <a:r>
              <a:rPr lang="en-US" dirty="0">
                <a:solidFill>
                  <a:schemeClr val="accent2">
                    <a:lumMod val="5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https://towersofhanoi.info/Animate.aspx</a:t>
            </a:r>
            <a:endParaRPr lang="en-US" dirty="0">
              <a:solidFill>
                <a:schemeClr val="accent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7920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FDC47-DC89-42CC-BB12-4DC9618F2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Rules for the Game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50E6D7-FE57-20EA-7A61-F6CA973F64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8367" y="1901952"/>
            <a:ext cx="9772357" cy="4127627"/>
          </a:xfrm>
        </p:spPr>
        <p:txBody>
          <a:bodyPr/>
          <a:lstStyle/>
          <a:p>
            <a:r>
              <a:rPr lang="en-US" dirty="0"/>
              <a:t>The goal is to move every disk from the first peg(source) to the second peg(destination) while having the third peg as a spare/auxiliary/temporary.</a:t>
            </a:r>
          </a:p>
          <a:p>
            <a:endParaRPr lang="en-US" dirty="0"/>
          </a:p>
          <a:p>
            <a:r>
              <a:rPr lang="en-US" dirty="0"/>
              <a:t>Move only one disk at a time</a:t>
            </a:r>
          </a:p>
          <a:p>
            <a:r>
              <a:rPr lang="en-US" dirty="0"/>
              <a:t>Move only the top disk from a stack</a:t>
            </a:r>
          </a:p>
          <a:p>
            <a:r>
              <a:rPr lang="en-US" dirty="0"/>
              <a:t>Never place a larger disk on top of a smaller disk</a:t>
            </a:r>
          </a:p>
        </p:txBody>
      </p:sp>
    </p:spTree>
    <p:extLst>
      <p:ext uri="{BB962C8B-B14F-4D97-AF65-F5344CB8AC3E}">
        <p14:creationId xmlns:p14="http://schemas.microsoft.com/office/powerpoint/2010/main" val="7826730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7F8F1-C27E-CBF6-12EF-28B408395B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work on the logic for this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704182-6F51-7721-84C4-AD90F8359C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do we move everything from source peg to destination peg?</a:t>
            </a:r>
          </a:p>
          <a:p>
            <a:r>
              <a:rPr lang="en-US" dirty="0"/>
              <a:t>If you can somehow move all but one disk from source peg to spare peg, we can move the remaining disk from source to destination.</a:t>
            </a:r>
          </a:p>
          <a:p>
            <a:r>
              <a:rPr lang="en-US" dirty="0"/>
              <a:t>Now whatever is left on the spare peg, we can move it to the destination peg.</a:t>
            </a:r>
          </a:p>
          <a:p>
            <a:pPr lvl="1"/>
            <a:r>
              <a:rPr lang="en-US" dirty="0"/>
              <a:t>… but how? By repeating the same steps again…</a:t>
            </a:r>
          </a:p>
          <a:p>
            <a:pPr lvl="1"/>
            <a:r>
              <a:rPr lang="en-US" dirty="0"/>
              <a:t>Now the </a:t>
            </a:r>
            <a:r>
              <a:rPr lang="en-US" b="1" dirty="0"/>
              <a:t>spare</a:t>
            </a:r>
            <a:r>
              <a:rPr lang="en-US" dirty="0"/>
              <a:t> is the </a:t>
            </a:r>
            <a:r>
              <a:rPr lang="en-US" i="1" u="sng" dirty="0"/>
              <a:t>new source</a:t>
            </a:r>
            <a:r>
              <a:rPr lang="en-US" dirty="0"/>
              <a:t> and </a:t>
            </a:r>
            <a:r>
              <a:rPr lang="en-US" b="1" dirty="0"/>
              <a:t>destination</a:t>
            </a:r>
            <a:r>
              <a:rPr lang="en-US" dirty="0"/>
              <a:t> is still the </a:t>
            </a:r>
            <a:r>
              <a:rPr lang="en-US" b="1" dirty="0"/>
              <a:t>destination</a:t>
            </a:r>
            <a:r>
              <a:rPr lang="en-US" dirty="0"/>
              <a:t>, and </a:t>
            </a:r>
            <a:r>
              <a:rPr lang="en-US" b="1" dirty="0"/>
              <a:t>source</a:t>
            </a:r>
            <a:r>
              <a:rPr lang="en-US" dirty="0"/>
              <a:t> is the </a:t>
            </a:r>
            <a:r>
              <a:rPr lang="en-US" i="1" u="sng" dirty="0"/>
              <a:t>new spare</a:t>
            </a:r>
            <a:r>
              <a:rPr lang="en-US" dirty="0"/>
              <a:t>.</a:t>
            </a:r>
          </a:p>
          <a:p>
            <a:pPr lvl="1"/>
            <a:endParaRPr lang="en-US" dirty="0"/>
          </a:p>
          <a:p>
            <a:r>
              <a:rPr lang="en-US" dirty="0"/>
              <a:t>We have to keep repeating this until everything is on the destination peg.</a:t>
            </a:r>
          </a:p>
        </p:txBody>
      </p:sp>
    </p:spTree>
    <p:extLst>
      <p:ext uri="{BB962C8B-B14F-4D97-AF65-F5344CB8AC3E}">
        <p14:creationId xmlns:p14="http://schemas.microsoft.com/office/powerpoint/2010/main" val="2484020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988C7-06C7-9F08-8C77-777EDD4D4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F9D56C-7EB1-4612-C59D-1306DCAD07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 n be the number of disks that we want to move from source peg to destination peg using the spare peg. Then:</a:t>
            </a:r>
          </a:p>
          <a:p>
            <a:pPr marL="502920" indent="-457200">
              <a:buFont typeface="+mj-lt"/>
              <a:buAutoNum type="arabicPeriod"/>
            </a:pPr>
            <a:r>
              <a:rPr lang="en-US" dirty="0"/>
              <a:t>Move n-1 disks from </a:t>
            </a:r>
            <a:r>
              <a:rPr lang="en-US" b="1" dirty="0"/>
              <a:t>source</a:t>
            </a:r>
            <a:r>
              <a:rPr lang="en-US" dirty="0"/>
              <a:t> to </a:t>
            </a:r>
            <a:r>
              <a:rPr lang="en-US" b="1" dirty="0"/>
              <a:t>spare</a:t>
            </a:r>
            <a:r>
              <a:rPr lang="en-US" dirty="0"/>
              <a:t>, using </a:t>
            </a:r>
            <a:r>
              <a:rPr lang="en-US" b="1" dirty="0"/>
              <a:t>destination</a:t>
            </a:r>
            <a:r>
              <a:rPr lang="en-US" dirty="0"/>
              <a:t> as a “</a:t>
            </a:r>
            <a:r>
              <a:rPr lang="en-US" b="1" dirty="0"/>
              <a:t>spare</a:t>
            </a:r>
            <a:r>
              <a:rPr lang="en-US" dirty="0"/>
              <a:t>”</a:t>
            </a:r>
          </a:p>
          <a:p>
            <a:pPr marL="502920" indent="-457200">
              <a:buFont typeface="+mj-lt"/>
              <a:buAutoNum type="arabicPeriod"/>
            </a:pPr>
            <a:r>
              <a:rPr lang="en-US" dirty="0"/>
              <a:t>Move the 1 disk left on </a:t>
            </a:r>
            <a:r>
              <a:rPr lang="en-US" b="1" dirty="0"/>
              <a:t>source</a:t>
            </a:r>
            <a:r>
              <a:rPr lang="en-US" dirty="0"/>
              <a:t> to </a:t>
            </a:r>
            <a:r>
              <a:rPr lang="en-US" b="1" dirty="0"/>
              <a:t>destination</a:t>
            </a:r>
          </a:p>
          <a:p>
            <a:pPr marL="502920" indent="-457200">
              <a:buFont typeface="+mj-lt"/>
              <a:buAutoNum type="arabicPeriod"/>
            </a:pPr>
            <a:r>
              <a:rPr lang="en-US" dirty="0"/>
              <a:t>Move the n-1 disks from </a:t>
            </a:r>
            <a:r>
              <a:rPr lang="en-US" b="1" dirty="0"/>
              <a:t>spare</a:t>
            </a:r>
            <a:r>
              <a:rPr lang="en-US" dirty="0"/>
              <a:t> (acts as source now) to </a:t>
            </a:r>
            <a:r>
              <a:rPr lang="en-US" b="1" dirty="0"/>
              <a:t>destination</a:t>
            </a:r>
            <a:r>
              <a:rPr lang="en-US" dirty="0"/>
              <a:t>, using </a:t>
            </a:r>
            <a:r>
              <a:rPr lang="en-US" b="1" dirty="0"/>
              <a:t>source</a:t>
            </a:r>
            <a:r>
              <a:rPr lang="en-US" dirty="0"/>
              <a:t> (acts as spare now)</a:t>
            </a:r>
          </a:p>
        </p:txBody>
      </p:sp>
    </p:spTree>
    <p:extLst>
      <p:ext uri="{BB962C8B-B14F-4D97-AF65-F5344CB8AC3E}">
        <p14:creationId xmlns:p14="http://schemas.microsoft.com/office/powerpoint/2010/main" val="1666092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79259-8CDF-C39B-CEBC-33EB3F60D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Program This…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7CC846-EBAC-C824-7964-7E15A8EBE4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45720" indent="0">
              <a:buNone/>
            </a:pPr>
            <a:r>
              <a:rPr lang="en-US" dirty="0"/>
              <a:t>void </a:t>
            </a:r>
            <a:r>
              <a:rPr lang="en-US" dirty="0" err="1"/>
              <a:t>hanoi</a:t>
            </a:r>
            <a:r>
              <a:rPr lang="en-US" dirty="0"/>
              <a:t> (int num, char </a:t>
            </a:r>
            <a:r>
              <a:rPr lang="en-US" dirty="0" err="1"/>
              <a:t>src</a:t>
            </a:r>
            <a:r>
              <a:rPr lang="en-US" dirty="0"/>
              <a:t>, char </a:t>
            </a:r>
            <a:r>
              <a:rPr lang="en-US" dirty="0" err="1"/>
              <a:t>dest</a:t>
            </a:r>
            <a:r>
              <a:rPr lang="en-US" dirty="0"/>
              <a:t>, char temp){</a:t>
            </a:r>
          </a:p>
          <a:p>
            <a:pPr marL="45720" indent="0">
              <a:buNone/>
            </a:pPr>
            <a:r>
              <a:rPr lang="en-US" dirty="0"/>
              <a:t>	if (num == 0) {</a:t>
            </a:r>
          </a:p>
          <a:p>
            <a:pPr marL="45720" indent="0">
              <a:buNone/>
            </a:pPr>
            <a:r>
              <a:rPr lang="en-US" dirty="0"/>
              <a:t>		return; </a:t>
            </a:r>
            <a:r>
              <a:rPr lang="en-US"/>
              <a:t>//base case</a:t>
            </a:r>
            <a:endParaRPr lang="en-US" dirty="0"/>
          </a:p>
          <a:p>
            <a:pPr marL="45720" indent="0">
              <a:buNone/>
            </a:pPr>
            <a:r>
              <a:rPr lang="en-US" dirty="0"/>
              <a:t>	} else {</a:t>
            </a:r>
          </a:p>
          <a:p>
            <a:pPr marL="45720" indent="0">
              <a:buNone/>
            </a:pPr>
            <a:r>
              <a:rPr lang="en-US" dirty="0"/>
              <a:t>		</a:t>
            </a:r>
            <a:r>
              <a:rPr lang="en-US" dirty="0" err="1"/>
              <a:t>hanoi</a:t>
            </a:r>
            <a:r>
              <a:rPr lang="en-US" dirty="0"/>
              <a:t>(num-1, </a:t>
            </a:r>
            <a:r>
              <a:rPr lang="en-US" dirty="0" err="1"/>
              <a:t>src</a:t>
            </a:r>
            <a:r>
              <a:rPr lang="en-US" dirty="0"/>
              <a:t>, temp, </a:t>
            </a:r>
            <a:r>
              <a:rPr lang="en-US" dirty="0" err="1"/>
              <a:t>dest</a:t>
            </a:r>
            <a:r>
              <a:rPr lang="en-US" dirty="0"/>
              <a:t>);</a:t>
            </a:r>
          </a:p>
          <a:p>
            <a:pPr marL="45720" indent="0">
              <a:buNone/>
            </a:pPr>
            <a:r>
              <a:rPr lang="en-US" dirty="0"/>
              <a:t>		</a:t>
            </a:r>
            <a:r>
              <a:rPr lang="en-US" dirty="0" err="1"/>
              <a:t>printf</a:t>
            </a:r>
            <a:r>
              <a:rPr lang="en-US" dirty="0"/>
              <a:t> ("Move disk %d from %c to %c\n", num, </a:t>
            </a:r>
            <a:r>
              <a:rPr lang="en-US" dirty="0" err="1"/>
              <a:t>src</a:t>
            </a:r>
            <a:r>
              <a:rPr lang="en-US" dirty="0"/>
              <a:t>, </a:t>
            </a:r>
            <a:r>
              <a:rPr lang="en-US" dirty="0" err="1"/>
              <a:t>dest</a:t>
            </a:r>
            <a:r>
              <a:rPr lang="en-US" dirty="0"/>
              <a:t>);</a:t>
            </a:r>
          </a:p>
          <a:p>
            <a:pPr marL="45720" indent="0">
              <a:buNone/>
            </a:pPr>
            <a:r>
              <a:rPr lang="en-US" dirty="0"/>
              <a:t>		</a:t>
            </a:r>
            <a:r>
              <a:rPr lang="en-US" dirty="0" err="1"/>
              <a:t>hanoi</a:t>
            </a:r>
            <a:r>
              <a:rPr lang="en-US" dirty="0"/>
              <a:t>(num-1, </a:t>
            </a:r>
            <a:r>
              <a:rPr lang="en-US" dirty="0" err="1"/>
              <a:t>dest</a:t>
            </a:r>
            <a:r>
              <a:rPr lang="en-US" dirty="0"/>
              <a:t>, temp, </a:t>
            </a:r>
            <a:r>
              <a:rPr lang="en-US" dirty="0" err="1"/>
              <a:t>src</a:t>
            </a:r>
            <a:r>
              <a:rPr lang="en-US" dirty="0"/>
              <a:t>);</a:t>
            </a:r>
          </a:p>
          <a:p>
            <a:pPr marL="45720" indent="0">
              <a:buNone/>
            </a:pPr>
            <a:r>
              <a:rPr lang="en-US" dirty="0"/>
              <a:t>	}</a:t>
            </a:r>
          </a:p>
          <a:p>
            <a:pPr marL="4572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64338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360FBC-BB0C-D96C-0827-58264F929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1C4C0-88E0-893C-DA31-EBBFB2DB5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Fin.</a:t>
            </a:r>
          </a:p>
        </p:txBody>
      </p:sp>
    </p:spTree>
    <p:extLst>
      <p:ext uri="{BB962C8B-B14F-4D97-AF65-F5344CB8AC3E}">
        <p14:creationId xmlns:p14="http://schemas.microsoft.com/office/powerpoint/2010/main" val="2156281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Bubbles design template">
  <a:themeElements>
    <a:clrScheme name="Violet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alpha val="80000"/>
              </a:schemeClr>
            </a:gs>
            <a:gs pos="0">
              <a:schemeClr val="phClr">
                <a:lumMod val="40000"/>
                <a:lumOff val="60000"/>
                <a:alpha val="80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lumMod val="20000"/>
                <a:lumOff val="80000"/>
                <a:alpha val="59000"/>
              </a:schemeClr>
            </a:gs>
            <a:gs pos="40000">
              <a:schemeClr val="phClr">
                <a:lumMod val="20000"/>
                <a:lumOff val="80000"/>
                <a:alpha val="66000"/>
              </a:schemeClr>
            </a:gs>
            <a:gs pos="100000">
              <a:schemeClr val="phClr">
                <a:lumMod val="40000"/>
                <a:lumOff val="60000"/>
              </a:schemeClr>
            </a:gs>
          </a:gsLst>
          <a:path path="circle">
            <a:fillToRect l="50000" t="-80000" r="50000" b="180000"/>
          </a:path>
        </a:gradFill>
      </a:bgFillStyleLst>
    </a:fmtScheme>
  </a:themeElements>
  <a:objectDefaults>
    <a:spDef>
      <a:spPr/>
      <a:bodyPr rtlCol="0" anchor="ctr"/>
      <a:lstStyle>
        <a:defPPr algn="ctr">
          <a:defRPr dirty="0"/>
        </a:defPPr>
      </a:lstStyle>
      <a:style>
        <a:lnRef idx="0">
          <a:schemeClr val="accent2"/>
        </a:lnRef>
        <a:fillRef idx="3">
          <a:schemeClr val="accent2"/>
        </a:fillRef>
        <a:effectRef idx="3">
          <a:schemeClr val="accent2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  <a:ln>
          <a:solidFill>
            <a:schemeClr val="bg2"/>
          </a:solidFill>
        </a:ln>
      </a:spPr>
      <a:bodyPr wrap="square" rtlCol="0" anchor="ctr" anchorCtr="1">
        <a:spAutoFit/>
      </a:bodyPr>
      <a:lstStyle>
        <a:defPPr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Bubbles design slides.potx" id="{791C1007-8C16-4095-A382-97B1C9AA36B9}" vid="{20473F13-1D64-4A4A-9CE1-7C3468AE82BE}"/>
    </a:ext>
  </a:extLst>
</a:theme>
</file>

<file path=ppt/theme/theme2.xml><?xml version="1.0" encoding="utf-8"?>
<a:theme xmlns:a="http://schemas.openxmlformats.org/drawingml/2006/main" name="Office Theme">
  <a:themeElements>
    <a:clrScheme name="Violet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Violet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Bubbles design slides</Template>
  <TotalTime>625</TotalTime>
  <Words>1373</Words>
  <Application>Microsoft Office PowerPoint</Application>
  <PresentationFormat>Widescreen</PresentationFormat>
  <Paragraphs>176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Century Gothic</vt:lpstr>
      <vt:lpstr>Consolas</vt:lpstr>
      <vt:lpstr>Courier New</vt:lpstr>
      <vt:lpstr>Wingdings</vt:lpstr>
      <vt:lpstr>Bubbles design template</vt:lpstr>
      <vt:lpstr>Programming Fundamentals</vt:lpstr>
      <vt:lpstr>Nested Function Calls</vt:lpstr>
      <vt:lpstr>How is it handled behind the scenes?</vt:lpstr>
      <vt:lpstr>What’s a Stack?</vt:lpstr>
      <vt:lpstr>Where is the call stack?</vt:lpstr>
      <vt:lpstr>Memory Layout of a C Program</vt:lpstr>
      <vt:lpstr>Memory Layout of a C Program</vt:lpstr>
      <vt:lpstr>Recursion</vt:lpstr>
      <vt:lpstr>Example:</vt:lpstr>
      <vt:lpstr>Factorials contd…</vt:lpstr>
      <vt:lpstr>Function for Factorial</vt:lpstr>
      <vt:lpstr>Now let’s see how the stack works for this</vt:lpstr>
      <vt:lpstr>Try something simple for yourselves:</vt:lpstr>
      <vt:lpstr>Getting the nth Term in the Sequence</vt:lpstr>
      <vt:lpstr>Let’s print the sequence recursively</vt:lpstr>
      <vt:lpstr>Now one of the Classic Problems… Towers of Hanoi</vt:lpstr>
      <vt:lpstr>Rules for the Game</vt:lpstr>
      <vt:lpstr>Let’s work on the logic for this</vt:lpstr>
      <vt:lpstr>Logic:</vt:lpstr>
      <vt:lpstr>Let’s Program This…</vt:lpstr>
      <vt:lpstr>Fin.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Abeeha Sattar</dc:creator>
  <cp:lastModifiedBy>Abeeha Sattar</cp:lastModifiedBy>
  <cp:revision>70</cp:revision>
  <dcterms:created xsi:type="dcterms:W3CDTF">2025-08-15T04:59:41Z</dcterms:created>
  <dcterms:modified xsi:type="dcterms:W3CDTF">2025-11-13T07:14:41Z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Order">
    <vt:r8>74069200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</Properties>
</file>