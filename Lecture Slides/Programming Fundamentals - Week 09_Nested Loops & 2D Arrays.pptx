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3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10/23/2025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10/23/2025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10/23/2025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10/23/2025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10/23/2025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10/23/2025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10/23/2025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10/23/2025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ackerearth.com/practice/algorithms/sorting/bubble-sort/visualize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resource.com/c-programming-exercises/array/index.php" TargetMode="External"/><Relationship Id="rId2" Type="http://schemas.openxmlformats.org/officeDocument/2006/relationships/hyperlink" Target="https://www.geeksforgeeks.org/dsa/problem-solving-array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cludehelp.com/c-programs/c-programs-two-dimensional-array-or-matrix-programs.aspx" TargetMode="External"/><Relationship Id="rId4" Type="http://schemas.openxmlformats.org/officeDocument/2006/relationships/hyperlink" Target="https://www.programiz.com/c-programming/examples/add-matrix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Fundamentals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6437-E12E-88EF-D9C4-90F5E13F6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F4CDA-9529-A3AE-2278-FF5E824A6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331794"/>
          </a:xfrm>
        </p:spPr>
        <p:txBody>
          <a:bodyPr>
            <a:normAutofit/>
          </a:bodyPr>
          <a:lstStyle/>
          <a:p>
            <a:r>
              <a:rPr lang="en-US" dirty="0"/>
              <a:t>It’s loops but… Nested… o:</a:t>
            </a:r>
          </a:p>
          <a:p>
            <a:r>
              <a:rPr lang="en-US" dirty="0"/>
              <a:t>So, how does it work?</a:t>
            </a:r>
          </a:p>
          <a:p>
            <a:r>
              <a:rPr lang="en-US" dirty="0"/>
              <a:t>Consider this:</a:t>
            </a:r>
          </a:p>
          <a:p>
            <a:pPr marL="4572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for(int 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 = 0; 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 &lt; 5; 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++) {</a:t>
            </a:r>
          </a:p>
          <a:p>
            <a:pPr marL="4572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printf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("Outer loop! Iteration # %d:\n", 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);</a:t>
            </a:r>
          </a:p>
          <a:p>
            <a:pPr marL="4572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for (int j = 0; j &lt; 5; 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j++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) {</a:t>
            </a:r>
          </a:p>
          <a:p>
            <a:pPr marL="4572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printf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("\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tInner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 loop! Iteration # %d\n", j);</a:t>
            </a:r>
          </a:p>
          <a:p>
            <a:pPr marL="4572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}</a:t>
            </a:r>
          </a:p>
          <a:p>
            <a:pPr marL="4572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120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2D6A0-1E69-C973-64A2-87B346C3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one of your practice problems?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641E8-0347-7FF6-5D16-FE3925592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by ascending or descending order.</a:t>
            </a:r>
          </a:p>
          <a:p>
            <a:r>
              <a:rPr lang="en-US" dirty="0"/>
              <a:t>You need nested loops to solve that problem!</a:t>
            </a:r>
          </a:p>
          <a:p>
            <a:endParaRPr lang="en-US" dirty="0"/>
          </a:p>
          <a:p>
            <a:r>
              <a:rPr lang="en-US" dirty="0"/>
              <a:t>Let’s first discuss the logic and then try it out!</a:t>
            </a:r>
          </a:p>
          <a:p>
            <a:endParaRPr lang="en-US" dirty="0"/>
          </a:p>
          <a:p>
            <a:r>
              <a:rPr lang="en-US" dirty="0"/>
              <a:t>Have a look at this cool visualizer!</a:t>
            </a:r>
          </a:p>
          <a:p>
            <a:r>
              <a:rPr lang="en-US" dirty="0">
                <a:hlinkClick r:id="rId2"/>
              </a:rPr>
              <a:t>https://www.hackerearth.com/practice/algorithms/sorting/bubble-sort/visualize/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607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7563-F901-91FB-980B-E3950158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67360"/>
            <a:ext cx="10050780" cy="912366"/>
          </a:xfrm>
        </p:spPr>
        <p:txBody>
          <a:bodyPr/>
          <a:lstStyle/>
          <a:p>
            <a:r>
              <a:rPr lang="en-US" dirty="0"/>
              <a:t>Stars… Patterns… The numbers…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37B29-2BA8-6655-0962-5E6BF7A17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379726"/>
            <a:ext cx="6457950" cy="4649853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/>
              <a:t>For all the following, prompt user for input for lengths etc.:</a:t>
            </a:r>
          </a:p>
          <a:p>
            <a:r>
              <a:rPr lang="en-US" dirty="0"/>
              <a:t>Draw a right-angle triangle using asterisks on your console.</a:t>
            </a:r>
          </a:p>
          <a:p>
            <a:r>
              <a:rPr lang="en-US" dirty="0"/>
              <a:t>Draw an isosceles triangle using asterisks on your console.</a:t>
            </a:r>
          </a:p>
          <a:p>
            <a:r>
              <a:rPr lang="en-US" dirty="0"/>
              <a:t>Draw a diamond (ask the user how many lines the diamond should take – should be an odd number and greater than or equal to 3)</a:t>
            </a:r>
          </a:p>
          <a:p>
            <a:r>
              <a:rPr lang="en-US" dirty="0"/>
              <a:t>Modify the diamond so that each line prints the line number instead of stars. (it’s pretty easy)</a:t>
            </a:r>
          </a:p>
          <a:p>
            <a:endParaRPr lang="en-US" dirty="0"/>
          </a:p>
        </p:txBody>
      </p:sp>
      <p:pic>
        <p:nvPicPr>
          <p:cNvPr id="1026" name="Picture 2" descr="call of duty black ops - What do the numbers mean, Mason? - Arqade">
            <a:extLst>
              <a:ext uri="{FF2B5EF4-FFF2-40B4-BE49-F238E27FC236}">
                <a16:creationId xmlns:a16="http://schemas.microsoft.com/office/drawing/2014/main" id="{FB647067-0860-4A3A-A09C-3C350060C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050" y="2252090"/>
            <a:ext cx="4762500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Triangle 3">
            <a:extLst>
              <a:ext uri="{FF2B5EF4-FFF2-40B4-BE49-F238E27FC236}">
                <a16:creationId xmlns:a16="http://schemas.microsoft.com/office/drawing/2014/main" id="{DED1CAB6-26D6-615B-9C3C-0441E070C749}"/>
              </a:ext>
            </a:extLst>
          </p:cNvPr>
          <p:cNvSpPr/>
          <p:nvPr/>
        </p:nvSpPr>
        <p:spPr>
          <a:xfrm>
            <a:off x="3024554" y="2532185"/>
            <a:ext cx="334108" cy="369277"/>
          </a:xfrm>
          <a:prstGeom prst="rtTriangle">
            <a:avLst/>
          </a:prstGeom>
          <a:solidFill>
            <a:srgbClr val="00206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C4CD7DCB-3B46-0549-09F5-2B21FD66FF2E}"/>
              </a:ext>
            </a:extLst>
          </p:cNvPr>
          <p:cNvSpPr/>
          <p:nvPr/>
        </p:nvSpPr>
        <p:spPr>
          <a:xfrm rot="5400000">
            <a:off x="3527913" y="2532185"/>
            <a:ext cx="334108" cy="369277"/>
          </a:xfrm>
          <a:prstGeom prst="rtTriangle">
            <a:avLst/>
          </a:prstGeom>
          <a:solidFill>
            <a:srgbClr val="00206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EB81DD9D-B7BB-4320-6F25-10954777B941}"/>
              </a:ext>
            </a:extLst>
          </p:cNvPr>
          <p:cNvSpPr/>
          <p:nvPr/>
        </p:nvSpPr>
        <p:spPr>
          <a:xfrm rot="10800000">
            <a:off x="4029075" y="2532184"/>
            <a:ext cx="334108" cy="369277"/>
          </a:xfrm>
          <a:prstGeom prst="rtTriangle">
            <a:avLst/>
          </a:prstGeom>
          <a:solidFill>
            <a:srgbClr val="00206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9778A12C-B617-EC4D-3524-649010F87FD3}"/>
              </a:ext>
            </a:extLst>
          </p:cNvPr>
          <p:cNvSpPr/>
          <p:nvPr/>
        </p:nvSpPr>
        <p:spPr>
          <a:xfrm rot="16200000">
            <a:off x="4530237" y="2532183"/>
            <a:ext cx="334108" cy="369277"/>
          </a:xfrm>
          <a:prstGeom prst="rtTriangle">
            <a:avLst/>
          </a:prstGeom>
          <a:solidFill>
            <a:srgbClr val="00206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AD8FF78-3D61-EB3C-0881-2145746F001D}"/>
              </a:ext>
            </a:extLst>
          </p:cNvPr>
          <p:cNvSpPr/>
          <p:nvPr/>
        </p:nvSpPr>
        <p:spPr>
          <a:xfrm>
            <a:off x="2409092" y="3261946"/>
            <a:ext cx="246185" cy="386862"/>
          </a:xfrm>
          <a:prstGeom prst="triangle">
            <a:avLst/>
          </a:prstGeom>
          <a:solidFill>
            <a:srgbClr val="00206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4C3AAB22-1F28-E211-9FB0-676CA7A8BC62}"/>
              </a:ext>
            </a:extLst>
          </p:cNvPr>
          <p:cNvSpPr/>
          <p:nvPr/>
        </p:nvSpPr>
        <p:spPr>
          <a:xfrm>
            <a:off x="2836984" y="3261946"/>
            <a:ext cx="1042622" cy="386862"/>
          </a:xfrm>
          <a:prstGeom prst="triangle">
            <a:avLst/>
          </a:prstGeom>
          <a:solidFill>
            <a:srgbClr val="00206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0935987-0C52-C136-458E-7B8021A9F5B3}"/>
              </a:ext>
            </a:extLst>
          </p:cNvPr>
          <p:cNvSpPr/>
          <p:nvPr/>
        </p:nvSpPr>
        <p:spPr>
          <a:xfrm rot="5400000">
            <a:off x="4196129" y="3261946"/>
            <a:ext cx="246185" cy="386862"/>
          </a:xfrm>
          <a:prstGeom prst="triangle">
            <a:avLst/>
          </a:prstGeom>
          <a:solidFill>
            <a:srgbClr val="00206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5DA80CF3-7E0C-1550-5CBE-74687128C836}"/>
              </a:ext>
            </a:extLst>
          </p:cNvPr>
          <p:cNvSpPr/>
          <p:nvPr/>
        </p:nvSpPr>
        <p:spPr>
          <a:xfrm>
            <a:off x="6159012" y="4325814"/>
            <a:ext cx="290146" cy="298939"/>
          </a:xfrm>
          <a:prstGeom prst="diamond">
            <a:avLst/>
          </a:prstGeom>
          <a:solidFill>
            <a:srgbClr val="00206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6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869A-153F-2435-D212-567351AE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E9551-DD31-7B37-8AF0-FF080B024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matrices that you did in your math classes!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Mastering 2D Arrays in C++: A Comprehensive Guide | DigitalOcean">
            <a:extLst>
              <a:ext uri="{FF2B5EF4-FFF2-40B4-BE49-F238E27FC236}">
                <a16:creationId xmlns:a16="http://schemas.microsoft.com/office/drawing/2014/main" id="{271EA8C5-3E34-8C8F-2C35-52F6B3B45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256790"/>
            <a:ext cx="655320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28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76FF5-149A-66B9-AA6B-85782546E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how do we do it in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8A5B9-3FBA-4402-F5C8-002C1B509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one dimensional arrays, we used one pair of square brackets.</a:t>
            </a:r>
          </a:p>
          <a:p>
            <a:r>
              <a:rPr lang="en-US" dirty="0"/>
              <a:t>For two dimensional, we will use two pairs! Like so…</a:t>
            </a:r>
          </a:p>
          <a:p>
            <a:r>
              <a:rPr lang="en-US" dirty="0"/>
              <a:t>int array[10][10]; </a:t>
            </a:r>
          </a:p>
          <a:p>
            <a:r>
              <a:rPr lang="en-US" dirty="0"/>
              <a:t>This will make a 10x10 array.</a:t>
            </a:r>
          </a:p>
          <a:p>
            <a:r>
              <a:rPr lang="en-US" dirty="0"/>
              <a:t>The first one is number of rows, and the second one is the number of columns.</a:t>
            </a:r>
          </a:p>
        </p:txBody>
      </p:sp>
    </p:spTree>
    <p:extLst>
      <p:ext uri="{BB962C8B-B14F-4D97-AF65-F5344CB8AC3E}">
        <p14:creationId xmlns:p14="http://schemas.microsoft.com/office/powerpoint/2010/main" val="171910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4D44-5E0D-1429-E322-F8DFCD705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78F6-4CA1-6EC2-5AAC-C686AD368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access the indices individually by using their index numbers:</a:t>
            </a:r>
          </a:p>
          <a:p>
            <a:pPr lvl="1"/>
            <a:r>
              <a:rPr lang="en-US" dirty="0"/>
              <a:t>Array[0][0] – will get us the value at 0 row 0 column</a:t>
            </a:r>
          </a:p>
          <a:p>
            <a:pPr lvl="1"/>
            <a:r>
              <a:rPr lang="en-US" dirty="0"/>
              <a:t>Array[1][4] – will get us the value at 1 row 4 column</a:t>
            </a:r>
          </a:p>
          <a:p>
            <a:r>
              <a:rPr lang="en-US" dirty="0"/>
              <a:t>Like with 1D arrays, we can use loops to iterate through a 2D array. However, now we need nested loops!</a:t>
            </a:r>
          </a:p>
          <a:p>
            <a:pPr lvl="1"/>
            <a:r>
              <a:rPr lang="en-US" dirty="0"/>
              <a:t>Usually:</a:t>
            </a:r>
          </a:p>
          <a:p>
            <a:pPr lvl="2"/>
            <a:r>
              <a:rPr lang="en-US" dirty="0"/>
              <a:t>Outer loop handles the rows </a:t>
            </a:r>
          </a:p>
          <a:p>
            <a:pPr lvl="2"/>
            <a:r>
              <a:rPr lang="en-US" dirty="0"/>
              <a:t>Inner loop handles the columns</a:t>
            </a:r>
          </a:p>
        </p:txBody>
      </p:sp>
    </p:spTree>
    <p:extLst>
      <p:ext uri="{BB962C8B-B14F-4D97-AF65-F5344CB8AC3E}">
        <p14:creationId xmlns:p14="http://schemas.microsoft.com/office/powerpoint/2010/main" val="37428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2806B-A201-BFC5-E992-F2247B31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have a look!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D775F-3A0F-D094-D900-348BB5E78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for(int </a:t>
            </a:r>
            <a:r>
              <a:rPr lang="en-US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 = 0; </a:t>
            </a:r>
            <a:r>
              <a:rPr lang="en-US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 &lt; 5; </a:t>
            </a:r>
            <a:r>
              <a:rPr lang="en-US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++) {</a:t>
            </a:r>
          </a:p>
          <a:p>
            <a:pPr marL="45720" indent="0">
              <a:buNone/>
            </a:pP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      for (int j = 0; j &lt; 5; </a:t>
            </a:r>
            <a:r>
              <a:rPr lang="en-US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j++</a:t>
            </a: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) {</a:t>
            </a:r>
          </a:p>
          <a:p>
            <a:pPr marL="45720" indent="0">
              <a:buNone/>
            </a:pP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    </a:t>
            </a:r>
            <a:r>
              <a:rPr lang="en-US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("%d ", array[</a:t>
            </a:r>
            <a:r>
              <a:rPr lang="en-US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][j]);</a:t>
            </a:r>
          </a:p>
          <a:p>
            <a:pPr marL="45720" indent="0">
              <a:buNone/>
            </a:pP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      }</a:t>
            </a:r>
          </a:p>
          <a:p>
            <a:pPr marL="45720" indent="0">
              <a:buNone/>
            </a:pP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	</a:t>
            </a:r>
            <a:r>
              <a:rPr lang="en-US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printf</a:t>
            </a:r>
            <a:r>
              <a:rPr lang="en-US" b="1">
                <a:solidFill>
                  <a:srgbClr val="002060"/>
                </a:solidFill>
                <a:latin typeface="Consolas" panose="020B0609020204030204" pitchFamily="49" charset="0"/>
              </a:rPr>
              <a:t>(“\n");</a:t>
            </a:r>
            <a:endParaRPr lang="en-US" b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15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F0945-1852-B287-A56D-FF20BC0A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Try and Solving these yourself before looking at the solution :D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F0DD8-130B-740D-027D-A1C5B9389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https://www.geeksforgeeks.org/dsa/problem-solving-arrays/</a:t>
            </a:r>
            <a:endParaRPr lang="en-US" dirty="0"/>
          </a:p>
          <a:p>
            <a:r>
              <a:rPr lang="en-US" dirty="0">
                <a:hlinkClick r:id="rId3"/>
              </a:rPr>
              <a:t>https://www.w3resource.com/c-programming-exercises/array/index.php</a:t>
            </a:r>
            <a:endParaRPr lang="en-US" dirty="0"/>
          </a:p>
          <a:p>
            <a:r>
              <a:rPr lang="en-US" dirty="0">
                <a:hlinkClick r:id="rId4"/>
              </a:rPr>
              <a:t>https://www.programiz.com/c-programming/examples/add-matrix</a:t>
            </a:r>
            <a:endParaRPr lang="en-US" dirty="0"/>
          </a:p>
          <a:p>
            <a:pPr lvl="1"/>
            <a:r>
              <a:rPr lang="en-US" dirty="0"/>
              <a:t>See on the left-hand side for more examples </a:t>
            </a:r>
          </a:p>
          <a:p>
            <a:r>
              <a:rPr lang="en-US" dirty="0">
                <a:hlinkClick r:id="rId5"/>
              </a:rPr>
              <a:t>https://www.includehelp.com/c-programs/c-programs-two-dimensional-array-or-matrix-programs</a:t>
            </a:r>
            <a:r>
              <a:rPr lang="en-US">
                <a:hlinkClick r:id="rId5"/>
              </a:rPr>
              <a:t>.aspx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75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715B3E-B233-9A0E-8FF1-9C10C4FF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Fin~</a:t>
            </a:r>
          </a:p>
        </p:txBody>
      </p:sp>
    </p:spTree>
    <p:extLst>
      <p:ext uri="{BB962C8B-B14F-4D97-AF65-F5344CB8AC3E}">
        <p14:creationId xmlns:p14="http://schemas.microsoft.com/office/powerpoint/2010/main" val="351083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1530</TotalTime>
  <Words>528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Century Gothic</vt:lpstr>
      <vt:lpstr>Consolas</vt:lpstr>
      <vt:lpstr>Courier New</vt:lpstr>
      <vt:lpstr>Bubbles design template</vt:lpstr>
      <vt:lpstr>Programming Fundamentals</vt:lpstr>
      <vt:lpstr>Nested Loops</vt:lpstr>
      <vt:lpstr>Remember one of your practice problems?</vt:lpstr>
      <vt:lpstr>Stars… Patterns… The numbers…</vt:lpstr>
      <vt:lpstr>2-D Arrays</vt:lpstr>
      <vt:lpstr>So, how do we do it in code?</vt:lpstr>
      <vt:lpstr>Accessing Elements</vt:lpstr>
      <vt:lpstr>Let’s have a look!</vt:lpstr>
      <vt:lpstr> Try and Solving these yourself before looking at the solution :D</vt:lpstr>
      <vt:lpstr>Fin~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60</cp:revision>
  <dcterms:created xsi:type="dcterms:W3CDTF">2025-08-20T22:46:44Z</dcterms:created>
  <dcterms:modified xsi:type="dcterms:W3CDTF">2025-10-23T06:45:09Z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